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</p:sldIdLst>
  <p:sldSz cx="12192000" cy="6858000"/>
  <p:notesSz cx="12192000" cy="6858000"/>
  <p:embeddedFontLst>
    <p:embeddedFont>
      <p:font typeface="等线" panose="02010600030101010101" pitchFamily="2" charset="-122"/>
      <p:regular r:id="rId13"/>
      <p:bold r:id="rId14"/>
    </p:embeddedFont>
    <p:embeddedFont>
      <p:font typeface="黑体" panose="02010609060101010101" pitchFamily="49" charset="-122"/>
      <p:regular r:id="rId15"/>
    </p:embeddedFont>
    <p:embeddedFont>
      <p:font typeface="黑体" panose="02010609060101010101" pitchFamily="49" charset="-122"/>
      <p:regular r:id="rId1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58"/>
    <p:restoredTop sz="70960"/>
  </p:normalViewPr>
  <p:slideViewPr>
    <p:cSldViewPr snapToGrid="0" snapToObjects="1">
      <p:cViewPr varScale="1">
        <p:scale>
          <a:sx n="78" d="100"/>
          <a:sy n="78" d="100"/>
        </p:scale>
        <p:origin x="16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60A69E-AF8F-7A42-86BA-5931A1E0C0C7}" type="datetimeFigureOut">
              <a:rPr kumimoji="1" lang="zh-CN" altLang="en-US" smtClean="0"/>
              <a:t>2026/10/8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41C6D8-470B-824E-A240-C1294F74914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1262582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zh-CN" dirty="0"/>
              <a:t>我们面对的是长程对话——一个人和助手聊了几十上百轮，跨了几个月甚至更久。这类对话有三个很硬的痛点。</a:t>
            </a:r>
            <a:endParaRPr lang="en-US" altLang="zh-CN" dirty="0"/>
          </a:p>
          <a:p>
            <a:endParaRPr lang="zh-CN" altLang="zh-CN" dirty="0"/>
          </a:p>
          <a:p>
            <a:r>
              <a:rPr lang="zh-CN" altLang="zh-CN" dirty="0"/>
              <a:t>第一，</a:t>
            </a:r>
            <a:r>
              <a:rPr lang="zh-CN" altLang="zh-CN" b="1" dirty="0"/>
              <a:t>状态在持续变化</a:t>
            </a:r>
            <a:r>
              <a:rPr lang="zh-CN" altLang="zh-CN" dirty="0"/>
              <a:t>。比如用户一开始说"我在准备申请"，后来变成"我拿到 offer 了"，再过一阵变成"我已经入职了"。同一个人、同一件事，但有效状态一直在更新。</a:t>
            </a:r>
            <a:endParaRPr lang="en-US" altLang="zh-CN" dirty="0"/>
          </a:p>
          <a:p>
            <a:endParaRPr lang="zh-CN" altLang="zh-CN" dirty="0"/>
          </a:p>
          <a:p>
            <a:r>
              <a:rPr lang="zh-CN" altLang="zh-CN" dirty="0"/>
              <a:t>第二，</a:t>
            </a:r>
            <a:r>
              <a:rPr lang="zh-CN" altLang="zh-CN" b="1" dirty="0"/>
              <a:t>新旧状态很难区分</a:t>
            </a:r>
            <a:r>
              <a:rPr lang="zh-CN" altLang="zh-CN" dirty="0"/>
              <a:t>。向量检索靠的是语义相似度，而"我在准备申请"和"我在某公司上班"在语义上其实离得很近，所以系统很容易把当前状态和已经失效的历史状态同时捞出来，甚至捞出来的正好是旧的那一条。</a:t>
            </a:r>
            <a:endParaRPr lang="en-US" altLang="zh-CN" dirty="0"/>
          </a:p>
          <a:p>
            <a:endParaRPr lang="zh-CN" altLang="zh-CN" dirty="0"/>
          </a:p>
          <a:p>
            <a:r>
              <a:rPr lang="zh-CN" altLang="zh-CN" dirty="0"/>
              <a:t>第三，也是最麻烦的：</a:t>
            </a:r>
            <a:r>
              <a:rPr lang="zh-CN" altLang="zh-CN" b="1" dirty="0"/>
              <a:t>错误是隐蔽的</a:t>
            </a:r>
            <a:r>
              <a:rPr lang="zh-CN" altLang="zh-CN" dirty="0"/>
              <a:t>。系统拿着一条过期状态去回答，答案读起来非常通顺、非常合理，你不去翻原始对话根本发现不了它是错的。这类错误不会报错，只会悄悄把结论带偏。</a:t>
            </a:r>
          </a:p>
          <a:p>
            <a:endParaRPr lang="en-US" altLang="zh-CN" dirty="0"/>
          </a:p>
          <a:p>
            <a:r>
              <a:rPr lang="zh-CN" altLang="zh-CN" dirty="0"/>
              <a:t>所以我们要做的是：基于 LoCoMo 这个长程对话数据集，构建一套能自己判断"哪条记忆现在还有效"的问答系统。</a:t>
            </a:r>
            <a:endParaRPr lang="en-US" altLang="zh-CN" dirty="0"/>
          </a:p>
          <a:p>
            <a:endParaRPr lang="zh-CN" altLang="zh-CN" dirty="0"/>
          </a:p>
          <a:p>
            <a:r>
              <a:rPr lang="zh-CN" altLang="zh-CN" dirty="0"/>
              <a:t>关键在于，</a:t>
            </a:r>
            <a:r>
              <a:rPr lang="zh-CN" altLang="zh-CN" b="1" dirty="0"/>
              <a:t>在生成答案之前</a:t>
            </a:r>
            <a:r>
              <a:rPr lang="zh-CN" altLang="zh-CN" dirty="0"/>
              <a:t>先判断记忆之间的保留、更新替代与冲突关系，把失效的过滤掉，再拿有效记忆去回答，并且在网页上把整个判断过程展示出来。</a:t>
            </a:r>
          </a:p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41C6D8-470B-824E-A240-C1294F749147}" type="slidenum">
              <a:rPr kumimoji="1" lang="zh-CN" altLang="en-US" smtClean="0"/>
              <a:t>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9189896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zh-CN" dirty="0"/>
              <a:t>基于刚才的问题，我们定了一个愿景，以及五件明确要做的事。</a:t>
            </a:r>
            <a:endParaRPr lang="en-US" altLang="zh-CN" dirty="0"/>
          </a:p>
          <a:p>
            <a:endParaRPr lang="zh-CN" altLang="zh-CN" dirty="0"/>
          </a:p>
          <a:p>
            <a:r>
              <a:rPr lang="zh-CN" altLang="zh-CN" b="1" dirty="0"/>
              <a:t>愿景</a:t>
            </a:r>
            <a:r>
              <a:rPr lang="zh-CN" altLang="zh-CN" dirty="0"/>
              <a:t>一句话：做一个可解释的长程对话记忆管理原型，把"当前有效的记忆"这件事变得可以搜索、可以判断、可以展示，并且用数据量化——记忆更新这件事，到底给问答质量带来多少提升。</a:t>
            </a:r>
          </a:p>
          <a:p>
            <a:r>
              <a:rPr lang="zh-CN" altLang="zh-CN" dirty="0"/>
              <a:t>范围上，我们划了五块。</a:t>
            </a:r>
            <a:endParaRPr lang="en-US" altLang="zh-CN" dirty="0"/>
          </a:p>
          <a:p>
            <a:endParaRPr lang="zh-CN" altLang="zh-CN" dirty="0"/>
          </a:p>
          <a:p>
            <a:r>
              <a:rPr lang="zh-CN" altLang="zh-CN" b="1" dirty="0"/>
              <a:t>第一块，结构化记忆构建。</a:t>
            </a:r>
            <a:r>
              <a:rPr lang="zh-CN" altLang="zh-CN" dirty="0"/>
              <a:t> 把原始对话里的关键信息抽出来，抽成人物、事件、时间、状态这类结构化字段，导出成 JSON。这里有一条硬约束：每一条记忆都必须能追溯到原始对话的具体轮次。也就是说，系统说出任何一句话，我们都能点回去看它出自哪一轮。</a:t>
            </a:r>
            <a:endParaRPr lang="en-US" altLang="zh-CN" dirty="0"/>
          </a:p>
          <a:p>
            <a:endParaRPr lang="zh-CN" altLang="zh-CN" dirty="0"/>
          </a:p>
          <a:p>
            <a:r>
              <a:rPr lang="zh-CN" altLang="zh-CN" b="1" dirty="0"/>
              <a:t>第二块，动态状态解析。</a:t>
            </a:r>
            <a:r>
              <a:rPr lang="zh-CN" altLang="zh-CN" dirty="0"/>
              <a:t> 这是整个项目的核心。对记忆两两判断关系，分三种：RETAIN，保留；UPDATE，也就是被新信息取代；CONFLICT，互相冲突。判断完之后，锁定当前仍然有效的那部分记忆。</a:t>
            </a:r>
            <a:endParaRPr lang="en-US" altLang="zh-CN" dirty="0"/>
          </a:p>
          <a:p>
            <a:endParaRPr lang="zh-CN" altLang="zh-CN" dirty="0"/>
          </a:p>
          <a:p>
            <a:r>
              <a:rPr lang="zh-CN" altLang="zh-CN" b="1" dirty="0"/>
              <a:t>第三块，有效检索与问答。</a:t>
            </a:r>
            <a:r>
              <a:rPr lang="zh-CN" altLang="zh-CN" dirty="0"/>
              <a:t> 我们不可能对所有记忆两两比较，那太慢了。所以先用多路检索挑出候选记忆，再做状态解析过滤，最后才调用 DeepSeek 的 API 生成答案。</a:t>
            </a:r>
            <a:endParaRPr lang="en-US" altLang="zh-CN" dirty="0"/>
          </a:p>
          <a:p>
            <a:endParaRPr lang="zh-CN" altLang="zh-CN" dirty="0"/>
          </a:p>
          <a:p>
            <a:r>
              <a:rPr lang="zh-CN" altLang="zh-CN" b="1" dirty="0"/>
              <a:t>第四块，Web 演化可视化。</a:t>
            </a:r>
            <a:r>
              <a:rPr lang="zh-CN" altLang="zh-CN" dirty="0"/>
              <a:t> 做一个轻量网页，把结构化记忆、原始证据，以及状态是怎么一步步演化的，都展示出来。</a:t>
            </a:r>
            <a:endParaRPr lang="en-US" altLang="zh-CN" dirty="0"/>
          </a:p>
          <a:p>
            <a:endParaRPr lang="zh-CN" altLang="zh-CN" dirty="0"/>
          </a:p>
          <a:p>
            <a:r>
              <a:rPr lang="zh-CN" altLang="zh-CN" b="1" dirty="0"/>
              <a:t>第五块，系统评测与基线对比。</a:t>
            </a:r>
            <a:r>
              <a:rPr lang="zh-CN" altLang="zh-CN" dirty="0"/>
              <a:t> 我们用三个指标做严格评测，并且和两个基准对照：一个是把全文直接喂给模型，另一个是常规的向量 RAG。我们最终要证明的是，我们的方案在这两个基准之上确实有增益，而不是"感觉更好"。</a:t>
            </a:r>
          </a:p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41C6D8-470B-824E-A240-C1294F749147}" type="slidenum">
              <a:rPr kumimoji="1" lang="zh-CN" altLang="en-US" smtClean="0"/>
              <a:t>4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783621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zh-CN" b="1" dirty="0"/>
              <a:t>前端</a:t>
            </a:r>
            <a:r>
              <a:rPr lang="zh-CN" altLang="zh-CN" dirty="0"/>
              <a:t>是 Vue3 加 TypeScript，用 Vite 构建，图表用 ECharts。可视化这一块，我们的重点是</a:t>
            </a:r>
            <a:r>
              <a:rPr lang="zh-CN" altLang="zh-CN" b="1" dirty="0"/>
              <a:t>把状态演化画清楚</a:t>
            </a:r>
            <a:r>
              <a:rPr lang="zh-CN" altLang="zh-CN" dirty="0"/>
              <a:t>——不只是把答案显示出来，而是让"为什么是这条记忆生效"一眼能看懂。</a:t>
            </a:r>
            <a:endParaRPr lang="en-US" altLang="zh-CN" dirty="0"/>
          </a:p>
          <a:p>
            <a:endParaRPr lang="zh-CN" altLang="zh-CN" dirty="0"/>
          </a:p>
          <a:p>
            <a:r>
              <a:rPr lang="zh-CN" altLang="zh-CN" b="1" dirty="0"/>
              <a:t>后端</a:t>
            </a:r>
            <a:r>
              <a:rPr lang="zh-CN" altLang="zh-CN" dirty="0"/>
              <a:t>用 Python 实现，数据存储用 SQLite，用来存问答记录和评测结果。</a:t>
            </a:r>
            <a:endParaRPr lang="en-US" altLang="zh-CN" dirty="0"/>
          </a:p>
          <a:p>
            <a:endParaRPr lang="zh-CN" altLang="zh-CN" dirty="0"/>
          </a:p>
          <a:p>
            <a:r>
              <a:rPr lang="zh-CN" altLang="zh-CN" b="1" dirty="0"/>
              <a:t>工程规范</a:t>
            </a:r>
            <a:r>
              <a:rPr lang="zh-CN" altLang="zh-CN" dirty="0"/>
              <a:t>上，代码统一放在 GitHub 协作，走 GitHub Flow 的分支流程；测试用 pytest；提交前用 pre-commit 做自动检查，把格式问题和明显的低级错误拦在本地，不带到仓库里。</a:t>
            </a:r>
          </a:p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41C6D8-470B-824E-A240-C1294F749147}" type="slidenum">
              <a:rPr kumimoji="1" lang="zh-CN" altLang="en-US" smtClean="0"/>
              <a:t>5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308792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zh-CN" dirty="0"/>
              <a:t>时间上，从 10 月 9 号到 11 月 9 号，我们分四个阶段。判断标准很明确：</a:t>
            </a:r>
            <a:r>
              <a:rPr lang="zh-CN" altLang="zh-CN" b="1" dirty="0"/>
              <a:t>每个阶段结束时，都必须有一个能跑起来的东西</a:t>
            </a:r>
            <a:r>
              <a:rPr lang="zh-CN" altLang="zh-CN" dirty="0"/>
              <a:t>，而不是只有文档。</a:t>
            </a:r>
            <a:endParaRPr lang="en-US" altLang="zh-CN" dirty="0"/>
          </a:p>
          <a:p>
            <a:endParaRPr lang="zh-CN" altLang="zh-CN" dirty="0"/>
          </a:p>
          <a:p>
            <a:r>
              <a:rPr lang="zh-CN" altLang="zh-CN" b="1" dirty="0"/>
              <a:t>第一阶段，MVP</a:t>
            </a:r>
            <a:r>
              <a:rPr lang="zh-CN" altLang="zh-CN" dirty="0"/>
              <a:t>，10 月 9 号到 17 号，对应里程碑 1 和 2。目标是打通数据这一端：完成 LoCoMo 数据读取，跑通结构化记忆抽取管道，产出可回溯轮次的 Memory JSON，同时把 BM25 与向量的混合检索、用 RRF 融合跑通。这一阶段的验收标准是——形成命令行下的最小闭环：给一段对话和一个问题，它能跑完流程、给出答案。</a:t>
            </a:r>
            <a:endParaRPr lang="en-US" altLang="zh-CN" dirty="0"/>
          </a:p>
          <a:p>
            <a:endParaRPr lang="zh-CN" altLang="zh-CN" dirty="0"/>
          </a:p>
          <a:p>
            <a:r>
              <a:rPr lang="zh-CN" altLang="zh-CN" b="1" dirty="0"/>
              <a:t>第二阶段，V1.0</a:t>
            </a:r>
            <a:r>
              <a:rPr lang="zh-CN" altLang="zh-CN" dirty="0"/>
              <a:t>，10 月 18 号到 24 号，对应里程碑 3 和 4。这一阶段接上核心算法：实现 RETAIN / UPDATE / CONFLICT 的关系判定，接入 DeepSeek API，把问答全链路端到端跑通；同时提交需求规格说明书，以及中期设计、编码、测试材料。</a:t>
            </a:r>
            <a:endParaRPr lang="en-US" altLang="zh-CN" dirty="0"/>
          </a:p>
          <a:p>
            <a:endParaRPr lang="zh-CN" altLang="zh-CN" dirty="0"/>
          </a:p>
          <a:p>
            <a:r>
              <a:rPr lang="zh-CN" altLang="zh-CN" b="1" dirty="0"/>
              <a:t>第三阶段，V2.0</a:t>
            </a:r>
            <a:r>
              <a:rPr lang="zh-CN" altLang="zh-CN" dirty="0"/>
              <a:t>，10 月 25 号到 31 号，做增强和可视化：上线 Web 界面，支持记忆浏览、证据回看、状态演化；混合检索按 Recall@K 做调优；完成 QA F1、Recall@K、状态更新准确率三项评测，并与两个基线同表对照。</a:t>
            </a:r>
            <a:endParaRPr lang="en-US" altLang="zh-CN" dirty="0"/>
          </a:p>
          <a:p>
            <a:endParaRPr lang="zh-CN" altLang="zh-CN" dirty="0"/>
          </a:p>
          <a:p>
            <a:r>
              <a:rPr lang="zh-CN" altLang="zh-CN" b="1" dirty="0"/>
              <a:t>第四阶段，V3.0</a:t>
            </a:r>
            <a:r>
              <a:rPr lang="zh-CN" altLang="zh-CN" dirty="0"/>
              <a:t>，11 月 1 号到 9 号，也就是最后的里程碑 5。这一阶段不再加功能，只做三件事：在独立测试集上完成最终评测，冻结功能、集中修缺陷，定稿最终报告与技术文档。</a:t>
            </a:r>
          </a:p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41C6D8-470B-824E-A240-C1294F749147}" type="slidenum">
              <a:rPr kumimoji="1" lang="zh-CN" altLang="en-US" smtClean="0"/>
              <a:t>6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8438524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zh-CN" dirty="0"/>
              <a:t>我们五个人，分工原则是</a:t>
            </a:r>
            <a:r>
              <a:rPr lang="zh-CN" altLang="zh-CN" b="1" dirty="0"/>
              <a:t>一块完整职责对应一个人</a:t>
            </a:r>
            <a:r>
              <a:rPr lang="zh-CN" altLang="zh-CN" dirty="0"/>
              <a:t>，而不是把工作量平均切。</a:t>
            </a:r>
            <a:endParaRPr lang="en-US" altLang="zh-CN" dirty="0"/>
          </a:p>
          <a:p>
            <a:endParaRPr lang="zh-CN" altLang="zh-CN" dirty="0"/>
          </a:p>
          <a:p>
            <a:r>
              <a:rPr lang="zh-CN" altLang="zh-CN" dirty="0"/>
              <a:t>我，陈易，负责项目管理与集成架构：计划与追踪、仓库与权限、架构决策、集成与评测接口，以及演示环境。</a:t>
            </a:r>
            <a:endParaRPr lang="en-US" altLang="zh-CN" dirty="0"/>
          </a:p>
          <a:p>
            <a:endParaRPr lang="zh-CN" altLang="zh-CN" dirty="0"/>
          </a:p>
          <a:p>
            <a:r>
              <a:rPr lang="zh-CN" altLang="zh-CN" dirty="0"/>
              <a:t>鲁瑞特负责数据、记忆与检索基础设施：记忆结构设计、结构化抽取、JSON 导出，以及检索接口。</a:t>
            </a:r>
            <a:endParaRPr lang="en-US" altLang="zh-CN" dirty="0"/>
          </a:p>
          <a:p>
            <a:endParaRPr lang="zh-CN" altLang="zh-CN" dirty="0"/>
          </a:p>
          <a:p>
            <a:r>
              <a:rPr lang="zh-CN" altLang="zh-CN" dirty="0"/>
              <a:t>于国庆负责动态状态解析，这是我们的关键路径：关系判定、有效记忆选择，以及 prompt 与答案生成。</a:t>
            </a:r>
            <a:endParaRPr lang="en-US" altLang="zh-CN" dirty="0"/>
          </a:p>
          <a:p>
            <a:endParaRPr lang="zh-CN" altLang="zh-CN" dirty="0"/>
          </a:p>
          <a:p>
            <a:r>
              <a:rPr lang="zh-CN" altLang="zh-CN" dirty="0"/>
              <a:t>许子萌负责 Web 与可视化：记忆与证据视图、状态演化展示，以及演示素材。</a:t>
            </a:r>
            <a:endParaRPr lang="en-US" altLang="zh-CN" dirty="0"/>
          </a:p>
          <a:p>
            <a:endParaRPr lang="zh-CN" altLang="zh-CN" dirty="0"/>
          </a:p>
          <a:p>
            <a:r>
              <a:rPr lang="zh-CN" altLang="zh-CN" dirty="0"/>
              <a:t>张崇洋负责评测与文档：三指标评测、对照实验、文档定稿，以及 slides 排版。</a:t>
            </a:r>
            <a:endParaRPr lang="en-US" altLang="zh-CN" dirty="0"/>
          </a:p>
          <a:p>
            <a:endParaRPr lang="zh-CN" altLang="zh-CN" dirty="0"/>
          </a:p>
          <a:p>
            <a:r>
              <a:rPr lang="zh-CN" altLang="zh-CN" dirty="0"/>
              <a:t>这里强调一点，关键路径上的成员只做核心算法、不承担辅助工作。这是我们后面应对风险的一条明确策略。</a:t>
            </a:r>
          </a:p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41C6D8-470B-824E-A240-C1294F749147}" type="slidenum">
              <a:rPr kumimoji="1" lang="zh-CN" altLang="en-US" smtClean="0"/>
              <a:t>7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366062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zh-CN" b="1" dirty="0"/>
              <a:t>第一，代码管理与版本控制。</a:t>
            </a:r>
            <a:r>
              <a:rPr lang="zh-CN" altLang="zh-CN" dirty="0"/>
              <a:t> 代码统一托管在 GitHub，严格遵守 Conventional Commit 的提交格式；分支策略是主分支随时保持可发布，遵循 GitHub Flow——所有改动都走分支加 PR；开发测试完成后发起 PR，</a:t>
            </a:r>
            <a:r>
              <a:rPr lang="zh-CN" altLang="zh-CN" b="1" dirty="0"/>
              <a:t>至少一名成员 Code Review 之后</a:t>
            </a:r>
            <a:r>
              <a:rPr lang="zh-CN" altLang="zh-CN" dirty="0"/>
              <a:t>才能合入主分支。</a:t>
            </a:r>
            <a:endParaRPr lang="en-US" altLang="zh-CN" dirty="0"/>
          </a:p>
          <a:p>
            <a:endParaRPr lang="zh-CN" altLang="zh-CN" dirty="0"/>
          </a:p>
          <a:p>
            <a:r>
              <a:rPr lang="zh-CN" altLang="zh-CN" b="1" dirty="0"/>
              <a:t>第二，接口与文档。</a:t>
            </a:r>
            <a:r>
              <a:rPr lang="zh-CN" altLang="zh-CN" dirty="0"/>
              <a:t> 我们坚持"接口契约先行"：Python 接口严格按 docs/interfaces.md 里定好的定义来，把 Web 层和算法层解耦。好处是前端和算法可以并行开发，不用等对方写完。文档方面，需求规格说明书、设计文档和实验日志统一沉淀到知识库。</a:t>
            </a:r>
            <a:endParaRPr lang="en-US" altLang="zh-CN" dirty="0"/>
          </a:p>
          <a:p>
            <a:endParaRPr lang="zh-CN" altLang="zh-CN" dirty="0"/>
          </a:p>
          <a:p>
            <a:r>
              <a:rPr lang="zh-CN" altLang="zh-CN" b="1" dirty="0"/>
              <a:t>第三，日常沟通与进度同步。</a:t>
            </a:r>
            <a:r>
              <a:rPr lang="zh-CN" altLang="zh-CN" dirty="0"/>
              <a:t> 日常高频沟通在微信群，遇到阻塞问题即时反馈，不攒着；每周固定一次例会，同步进展并做接口联调；Bug 反馈和功能需求统一走 GitHub Issues，每条都指定负责人。</a:t>
            </a:r>
          </a:p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41C6D8-470B-824E-A240-C1294F749147}" type="slidenum">
              <a:rPr kumimoji="1" lang="zh-CN" altLang="en-US" smtClean="0"/>
              <a:t>8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046047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zh-CN" b="1" dirty="0"/>
              <a:t>风险一，状态关系判定的效果不达预期。</a:t>
            </a:r>
            <a:r>
              <a:rPr lang="zh-CN" altLang="zh-CN" dirty="0"/>
              <a:t> 这是整个项目最关键、也最不确定的一环。应对方式是：关键路径成员只做核心算法、不承担辅助工作；策略上先跑通机制，再调优效果，不在一开始就死磕指标。</a:t>
            </a:r>
            <a:endParaRPr lang="en-US" altLang="zh-CN" dirty="0"/>
          </a:p>
          <a:p>
            <a:endParaRPr lang="zh-CN" altLang="zh-CN" dirty="0"/>
          </a:p>
          <a:p>
            <a:r>
              <a:rPr lang="zh-CN" altLang="zh-CN" b="1" dirty="0"/>
              <a:t>风险二，检索召回不足会放大下游错误。</a:t>
            </a:r>
            <a:r>
              <a:rPr lang="zh-CN" altLang="zh-CN" dirty="0"/>
              <a:t> 如果第一步就没捞出正确的记忆，后面算法再好也没用。应对方式是设计多路检索并做去重合并，同时用 Recall@K 单独监控检索环节——把问题定位在检索层，而不是等最终答案错了再去猜。</a:t>
            </a:r>
            <a:endParaRPr lang="en-US" altLang="zh-CN" dirty="0"/>
          </a:p>
          <a:p>
            <a:endParaRPr lang="zh-CN" altLang="zh-CN" dirty="0"/>
          </a:p>
          <a:p>
            <a:r>
              <a:rPr lang="zh-CN" altLang="zh-CN" b="1" dirty="0"/>
              <a:t>风险三，六周内要完成五个里程碑，时间紧。</a:t>
            </a:r>
            <a:r>
              <a:rPr lang="zh-CN" altLang="zh-CN" dirty="0"/>
              <a:t> 应对是每个里程碑做两轮迭代，并预留独立缓冲；功能上优先保证端到端跑通。</a:t>
            </a:r>
            <a:endParaRPr lang="en-US" altLang="zh-CN" dirty="0"/>
          </a:p>
          <a:p>
            <a:endParaRPr lang="zh-CN" altLang="zh-CN" dirty="0"/>
          </a:p>
          <a:p>
            <a:r>
              <a:rPr lang="zh-CN" altLang="zh-CN" b="1" dirty="0"/>
              <a:t>风险四，课程评测所用对话不公开。</a:t>
            </a:r>
            <a:r>
              <a:rPr lang="zh-CN" altLang="zh-CN" dirty="0"/>
              <a:t> 这条既是约束，也是保护。应对方式是：严格不使用 gold evidence 和标准答案，所有规则保持通用，不针对某几道题写死答案。这样才能保证方案在真正评测时仍然成立。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41C6D8-470B-824E-A240-C1294F749147}" type="slidenum">
              <a:rPr kumimoji="1" lang="zh-CN" altLang="en-US" smtClean="0"/>
              <a:t>9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064894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e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381000" y="0"/>
            <a:ext cx="11430000" cy="762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b1"/>
          <p:cNvSpPr txBox="1"/>
          <p:nvPr/>
        </p:nvSpPr>
        <p:spPr>
          <a:xfrm>
            <a:off x="381000" y="2006600"/>
            <a:ext cx="8890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320"/>
              </a:lnSpc>
            </a:pPr>
            <a:r>
              <a:rPr lang="en-US" sz="1200" kern="0" spc="250" noProof="1">
                <a:solidFill>
                  <a:srgbClr val="007ACC"/>
                </a:solidFill>
                <a:latin typeface="SimHei" panose="02010609060101010101" pitchFamily="49" charset="-122"/>
                <a:ea typeface="SimHei" panose="02010609060101010101" pitchFamily="49" charset="-122"/>
                <a:cs typeface="宋体" charset="0"/>
              </a:rPr>
              <a:t>PROJECT PROPOSAL · 课程项目开题</a:t>
            </a:r>
            <a:endParaRPr lang="en-US" sz="1200" noProof="1">
              <a:latin typeface="SimHei" panose="02010609060101010101" pitchFamily="49" charset="-122"/>
              <a:ea typeface="SimHei" panose="02010609060101010101" pitchFamily="49" charset="-122"/>
              <a:cs typeface="宋体" charset="0"/>
            </a:endParaRPr>
          </a:p>
        </p:txBody>
      </p:sp>
      <p:sp>
        <p:nvSpPr>
          <p:cNvPr id="4" name="b2"/>
          <p:cNvSpPr txBox="1"/>
          <p:nvPr/>
        </p:nvSpPr>
        <p:spPr>
          <a:xfrm>
            <a:off x="381000" y="2387600"/>
            <a:ext cx="9652000" cy="1168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4915"/>
              </a:lnSpc>
            </a:pPr>
            <a:r>
              <a:rPr lang="en-US" sz="3600" b="1" noProof="1">
                <a:solidFill>
                  <a:srgbClr val="001142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基于长程对话的结构化记忆与</a:t>
            </a:r>
            <a:endParaRPr lang="en-US" sz="3600" noProof="1">
              <a:latin typeface="SimHei" panose="02010609060101010101" pitchFamily="49" charset="-122"/>
              <a:ea typeface="SimHei" panose="02010609060101010101" pitchFamily="49" charset="-122"/>
            </a:endParaRPr>
          </a:p>
          <a:p>
            <a:pPr algn="l">
              <a:lnSpc>
                <a:spcPts val="4915"/>
              </a:lnSpc>
            </a:pPr>
            <a:r>
              <a:rPr lang="en-US" sz="3600" b="1" noProof="1">
                <a:solidFill>
                  <a:srgbClr val="001142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动态状态解析大模型问答系统</a:t>
            </a:r>
            <a:endParaRPr lang="en-US" sz="3600" noProof="1">
              <a:latin typeface="SimHei" panose="02010609060101010101" pitchFamily="49" charset="-122"/>
              <a:ea typeface="SimHei" panose="02010609060101010101" pitchFamily="49" charset="-122"/>
            </a:endParaRPr>
          </a:p>
        </p:txBody>
      </p:sp>
      <p:sp>
        <p:nvSpPr>
          <p:cNvPr id="5" name="b2rule"/>
          <p:cNvSpPr/>
          <p:nvPr/>
        </p:nvSpPr>
        <p:spPr>
          <a:xfrm>
            <a:off x="381000" y="3683000"/>
            <a:ext cx="7620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b3"/>
          <p:cNvSpPr txBox="1"/>
          <p:nvPr/>
        </p:nvSpPr>
        <p:spPr>
          <a:xfrm>
            <a:off x="381000" y="3886200"/>
            <a:ext cx="96520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800"/>
              </a:lnSpc>
            </a:pPr>
            <a:r>
              <a:rPr lang="en-US" sz="1600" noProof="1">
                <a:solidFill>
                  <a:srgbClr val="001142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解决历史状态失效与过期召回，实现精准可靠的长程多轮问答</a:t>
            </a:r>
            <a:endParaRPr lang="en-US" sz="1600" noProof="1">
              <a:latin typeface="SimHei" panose="02010609060101010101" pitchFamily="49" charset="-122"/>
              <a:ea typeface="SimHei" panose="02010609060101010101" pitchFamily="49" charset="-122"/>
            </a:endParaRPr>
          </a:p>
        </p:txBody>
      </p:sp>
      <p:sp>
        <p:nvSpPr>
          <p:cNvPr id="7" name="metaline"/>
          <p:cNvSpPr/>
          <p:nvPr/>
        </p:nvSpPr>
        <p:spPr>
          <a:xfrm>
            <a:off x="609600" y="4978400"/>
            <a:ext cx="10972800" cy="12700"/>
          </a:xfrm>
          <a:prstGeom prst="rect">
            <a:avLst/>
          </a:prstGeom>
          <a:solidFill>
            <a:srgbClr val="D6F1FF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vrule1"/>
          <p:cNvSpPr/>
          <p:nvPr/>
        </p:nvSpPr>
        <p:spPr>
          <a:xfrm>
            <a:off x="3352800" y="5181600"/>
            <a:ext cx="12700" cy="1117600"/>
          </a:xfrm>
          <a:prstGeom prst="rect">
            <a:avLst/>
          </a:prstGeom>
          <a:solidFill>
            <a:srgbClr val="C2E6FF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vrule2"/>
          <p:cNvSpPr/>
          <p:nvPr/>
        </p:nvSpPr>
        <p:spPr>
          <a:xfrm>
            <a:off x="6096000" y="5181600"/>
            <a:ext cx="12700" cy="1117600"/>
          </a:xfrm>
          <a:prstGeom prst="rect">
            <a:avLst/>
          </a:prstGeom>
          <a:solidFill>
            <a:srgbClr val="C2E6FF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vrule3"/>
          <p:cNvSpPr/>
          <p:nvPr/>
        </p:nvSpPr>
        <p:spPr>
          <a:xfrm>
            <a:off x="8839200" y="5181600"/>
            <a:ext cx="12700" cy="1117600"/>
          </a:xfrm>
          <a:prstGeom prst="rect">
            <a:avLst/>
          </a:prstGeom>
          <a:solidFill>
            <a:srgbClr val="C2E6FF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m1lab"/>
          <p:cNvSpPr txBox="1"/>
          <p:nvPr/>
        </p:nvSpPr>
        <p:spPr>
          <a:xfrm>
            <a:off x="609600" y="5156200"/>
            <a:ext cx="2540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080"/>
              </a:lnSpc>
            </a:pPr>
            <a:r>
              <a:rPr lang="en-US" sz="1000" kern="0" spc="150" noProof="1">
                <a:solidFill>
                  <a:srgbClr val="007ACC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TEAM</a:t>
            </a:r>
            <a:endParaRPr lang="en-US" sz="1000" noProof="1">
              <a:latin typeface="SimHei" panose="02010609060101010101" pitchFamily="49" charset="-122"/>
              <a:ea typeface="SimHei" panose="02010609060101010101" pitchFamily="49" charset="-122"/>
            </a:endParaRPr>
          </a:p>
        </p:txBody>
      </p:sp>
      <p:sp>
        <p:nvSpPr>
          <p:cNvPr id="12" name="m1"/>
          <p:cNvSpPr txBox="1"/>
          <p:nvPr/>
        </p:nvSpPr>
        <p:spPr>
          <a:xfrm>
            <a:off x="609600" y="5435600"/>
            <a:ext cx="25400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1980"/>
              </a:lnSpc>
            </a:pPr>
            <a:r>
              <a:rPr lang="en-US" altLang="zh-CN" sz="1600" noProof="1">
                <a:latin typeface="SimHei" panose="02010609060101010101" pitchFamily="49" charset="-122"/>
                <a:ea typeface="SimHei" panose="02010609060101010101" pitchFamily="49" charset="-122"/>
                <a:cs typeface="宋体" charset="0"/>
              </a:rPr>
              <a:t>6767</a:t>
            </a:r>
            <a:r>
              <a:rPr lang="zh-CN" altLang="en-US" sz="1600" noProof="1">
                <a:latin typeface="SimHei" panose="02010609060101010101" pitchFamily="49" charset="-122"/>
                <a:ea typeface="SimHei" panose="02010609060101010101" pitchFamily="49" charset="-122"/>
                <a:cs typeface="宋体" charset="0"/>
              </a:rPr>
              <a:t>组</a:t>
            </a:r>
            <a:endParaRPr lang="en-US" sz="1600" noProof="1">
              <a:latin typeface="SimHei" panose="02010609060101010101" pitchFamily="49" charset="-122"/>
              <a:ea typeface="SimHei" panose="02010609060101010101" pitchFamily="49" charset="-122"/>
              <a:cs typeface="宋体" charset="0"/>
            </a:endParaRPr>
          </a:p>
        </p:txBody>
      </p:sp>
      <p:sp>
        <p:nvSpPr>
          <p:cNvPr id="19" name="pageno"/>
          <p:cNvSpPr txBox="1"/>
          <p:nvPr/>
        </p:nvSpPr>
        <p:spPr>
          <a:xfrm>
            <a:off x="381000" y="6477000"/>
            <a:ext cx="762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080"/>
              </a:lnSpc>
            </a:pPr>
            <a:r>
              <a:rPr lang="en-US" sz="1000" noProof="1">
                <a:solidFill>
                  <a:srgbClr val="007ACC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01</a:t>
            </a:r>
            <a:endParaRPr lang="en-US" sz="1000" noProof="1">
              <a:latin typeface="SimHei" panose="02010609060101010101" pitchFamily="49" charset="-122"/>
              <a:ea typeface="SimHei" panose="02010609060101010101" pitchFamily="49" charset="-122"/>
            </a:endParaRPr>
          </a:p>
        </p:txBody>
      </p:sp>
      <p:sp>
        <p:nvSpPr>
          <p:cNvPr id="20" name="m1lab">
            <a:extLst>
              <a:ext uri="{FF2B5EF4-FFF2-40B4-BE49-F238E27FC236}">
                <a16:creationId xmlns:a16="http://schemas.microsoft.com/office/drawing/2014/main" id="{FB150616-0869-C5B1-B9CE-DC43EF4EF914}"/>
              </a:ext>
            </a:extLst>
          </p:cNvPr>
          <p:cNvSpPr txBox="1"/>
          <p:nvPr/>
        </p:nvSpPr>
        <p:spPr>
          <a:xfrm>
            <a:off x="3460750" y="5156200"/>
            <a:ext cx="2540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080"/>
              </a:lnSpc>
            </a:pPr>
            <a:r>
              <a:rPr lang="en-US" sz="1000" kern="0" spc="150" noProof="1">
                <a:solidFill>
                  <a:srgbClr val="007ACC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MEMBER</a:t>
            </a:r>
            <a:endParaRPr lang="en-US" sz="1000" noProof="1">
              <a:latin typeface="SimHei" panose="02010609060101010101" pitchFamily="49" charset="-122"/>
              <a:ea typeface="SimHei" panose="02010609060101010101" pitchFamily="49" charset="-122"/>
            </a:endParaRPr>
          </a:p>
        </p:txBody>
      </p:sp>
      <p:sp>
        <p:nvSpPr>
          <p:cNvPr id="21" name="m1">
            <a:extLst>
              <a:ext uri="{FF2B5EF4-FFF2-40B4-BE49-F238E27FC236}">
                <a16:creationId xmlns:a16="http://schemas.microsoft.com/office/drawing/2014/main" id="{26C4E8EA-1ADB-C107-8A42-DF3554008607}"/>
              </a:ext>
            </a:extLst>
          </p:cNvPr>
          <p:cNvSpPr txBox="1"/>
          <p:nvPr/>
        </p:nvSpPr>
        <p:spPr>
          <a:xfrm>
            <a:off x="3460750" y="5435600"/>
            <a:ext cx="25400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1980"/>
              </a:lnSpc>
            </a:pPr>
            <a:r>
              <a:rPr lang="en-US" sz="1600" noProof="1">
                <a:latin typeface="SimHei" panose="02010609060101010101" pitchFamily="49" charset="-122"/>
                <a:ea typeface="SimHei" panose="02010609060101010101" pitchFamily="49" charset="-122"/>
                <a:cs typeface="宋体" charset="0"/>
              </a:rPr>
              <a:t>陈易</a:t>
            </a:r>
            <a:r>
              <a:rPr lang="zh-CN" altLang="en-US" sz="1600" noProof="1">
                <a:latin typeface="SimHei" panose="02010609060101010101" pitchFamily="49" charset="-122"/>
                <a:ea typeface="SimHei" panose="02010609060101010101" pitchFamily="49" charset="-122"/>
                <a:cs typeface="宋体" charset="0"/>
              </a:rPr>
              <a:t> 许子萌 鲁瑞特 张崇洋 于国庆</a:t>
            </a:r>
            <a:endParaRPr lang="en-US" sz="1600" noProof="1">
              <a:latin typeface="SimHei" panose="02010609060101010101" pitchFamily="49" charset="-122"/>
              <a:ea typeface="SimHei" panose="02010609060101010101" pitchFamily="49" charset="-122"/>
              <a:cs typeface="宋体" charset="0"/>
            </a:endParaRPr>
          </a:p>
        </p:txBody>
      </p:sp>
      <p:sp>
        <p:nvSpPr>
          <p:cNvPr id="22" name="m1lab">
            <a:extLst>
              <a:ext uri="{FF2B5EF4-FFF2-40B4-BE49-F238E27FC236}">
                <a16:creationId xmlns:a16="http://schemas.microsoft.com/office/drawing/2014/main" id="{8B710BEE-2E39-D8BF-7993-794D6B05B05D}"/>
              </a:ext>
            </a:extLst>
          </p:cNvPr>
          <p:cNvSpPr txBox="1"/>
          <p:nvPr/>
        </p:nvSpPr>
        <p:spPr>
          <a:xfrm>
            <a:off x="6203950" y="5156200"/>
            <a:ext cx="2540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080"/>
              </a:lnSpc>
            </a:pPr>
            <a:r>
              <a:rPr lang="en-US" sz="1000" kern="0" spc="150" noProof="1">
                <a:solidFill>
                  <a:srgbClr val="007ACC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DATE</a:t>
            </a:r>
            <a:endParaRPr lang="en-US" sz="1000" noProof="1">
              <a:latin typeface="SimHei" panose="02010609060101010101" pitchFamily="49" charset="-122"/>
              <a:ea typeface="SimHei" panose="02010609060101010101" pitchFamily="49" charset="-122"/>
            </a:endParaRPr>
          </a:p>
        </p:txBody>
      </p:sp>
      <p:sp>
        <p:nvSpPr>
          <p:cNvPr id="23" name="m1">
            <a:extLst>
              <a:ext uri="{FF2B5EF4-FFF2-40B4-BE49-F238E27FC236}">
                <a16:creationId xmlns:a16="http://schemas.microsoft.com/office/drawing/2014/main" id="{CA262619-970F-7429-E586-40F51C40669A}"/>
              </a:ext>
            </a:extLst>
          </p:cNvPr>
          <p:cNvSpPr txBox="1"/>
          <p:nvPr/>
        </p:nvSpPr>
        <p:spPr>
          <a:xfrm>
            <a:off x="6203950" y="5435600"/>
            <a:ext cx="25400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1980"/>
              </a:lnSpc>
            </a:pPr>
            <a:r>
              <a:rPr lang="en-US" altLang="zh-CN" sz="1600" noProof="1">
                <a:latin typeface="SimHei" panose="02010609060101010101" pitchFamily="49" charset="-122"/>
                <a:ea typeface="SimHei" panose="02010609060101010101" pitchFamily="49" charset="-122"/>
                <a:cs typeface="宋体" charset="0"/>
              </a:rPr>
              <a:t>2026/10/09</a:t>
            </a:r>
            <a:endParaRPr lang="en-US" sz="1600" noProof="1">
              <a:latin typeface="SimHei" panose="02010609060101010101" pitchFamily="49" charset="-122"/>
              <a:ea typeface="SimHei" panose="02010609060101010101" pitchFamily="49" charset="-122"/>
              <a:cs typeface="宋体" charset="0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B1C90AB5-239A-FE98-AB18-D80307D58FC8}"/>
              </a:ext>
            </a:extLst>
          </p:cNvPr>
          <p:cNvSpPr txBox="1"/>
          <p:nvPr/>
        </p:nvSpPr>
        <p:spPr>
          <a:xfrm>
            <a:off x="8947150" y="5401123"/>
            <a:ext cx="1633220" cy="319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80"/>
              </a:lnSpc>
            </a:pPr>
            <a:r>
              <a:rPr lang="zh-CN" altLang="en-US" sz="1600" noProof="1">
                <a:latin typeface="SimHei" panose="02010609060101010101" pitchFamily="49" charset="-122"/>
                <a:ea typeface="SimHei" panose="02010609060101010101" pitchFamily="49" charset="-122"/>
                <a:cs typeface="宋体" charset="0"/>
              </a:rPr>
              <a:t>汇报人：陈易</a:t>
            </a:r>
            <a:endParaRPr lang="en-US" altLang="zh-CN" sz="1600" noProof="1">
              <a:latin typeface="SimHei" panose="02010609060101010101" pitchFamily="49" charset="-122"/>
              <a:ea typeface="SimHei" panose="02010609060101010101" pitchFamily="49" charset="-122"/>
              <a:cs typeface="宋体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il"/>
          <p:cNvSpPr txBox="1"/>
          <p:nvPr/>
        </p:nvSpPr>
        <p:spPr>
          <a:xfrm>
            <a:off x="508000" y="254000"/>
            <a:ext cx="2794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080"/>
              </a:lnSpc>
            </a:pPr>
            <a:r>
              <a:rPr lang="en-US" sz="1050" kern="0" spc="100" noProof="1">
                <a:solidFill>
                  <a:srgbClr val="007ACC"/>
                </a:solidFill>
                <a:latin typeface="SimHei" panose="02010609060101010101" pitchFamily="49" charset="-122"/>
                <a:ea typeface="SimHei" panose="02010609060101010101" pitchFamily="49" charset="-122"/>
                <a:cs typeface="宋体" charset="0"/>
              </a:rPr>
              <a:t>00 · 目录导航</a:t>
            </a:r>
            <a:endParaRPr lang="en-US" sz="1050" noProof="1">
              <a:latin typeface="SimHei" panose="02010609060101010101" pitchFamily="49" charset="-122"/>
              <a:ea typeface="SimHei" panose="02010609060101010101" pitchFamily="49" charset="-122"/>
              <a:cs typeface="宋体" charset="0"/>
            </a:endParaRPr>
          </a:p>
        </p:txBody>
      </p:sp>
      <p:sp>
        <p:nvSpPr>
          <p:cNvPr id="3" name="b1"/>
          <p:cNvSpPr txBox="1"/>
          <p:nvPr/>
        </p:nvSpPr>
        <p:spPr>
          <a:xfrm>
            <a:off x="508000" y="965200"/>
            <a:ext cx="3810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320"/>
              </a:lnSpc>
            </a:pPr>
            <a:r>
              <a:rPr lang="en-US" sz="1400" kern="0" spc="300" noProof="1">
                <a:solidFill>
                  <a:srgbClr val="007ACC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CONTENTS</a:t>
            </a:r>
            <a:endParaRPr lang="en-US" sz="1400" noProof="1">
              <a:latin typeface="SimHei" panose="02010609060101010101" pitchFamily="49" charset="-122"/>
              <a:ea typeface="SimHei" panose="02010609060101010101" pitchFamily="49" charset="-122"/>
            </a:endParaRPr>
          </a:p>
        </p:txBody>
      </p:sp>
      <p:sp>
        <p:nvSpPr>
          <p:cNvPr id="4" name="b2"/>
          <p:cNvSpPr txBox="1"/>
          <p:nvPr/>
        </p:nvSpPr>
        <p:spPr>
          <a:xfrm>
            <a:off x="508000" y="1244600"/>
            <a:ext cx="8890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2400"/>
              </a:lnSpc>
            </a:pPr>
            <a:r>
              <a:rPr lang="en-US" sz="2800" b="1" noProof="1">
                <a:solidFill>
                  <a:srgbClr val="001142"/>
                </a:solidFill>
                <a:latin typeface="SimHei" panose="02010609060101010101" pitchFamily="49" charset="-122"/>
                <a:ea typeface="SimHei" panose="02010609060101010101" pitchFamily="49" charset="-122"/>
                <a:cs typeface="宋体" charset="0"/>
              </a:rPr>
              <a:t>汇报目录</a:t>
            </a:r>
            <a:endParaRPr lang="en-US" sz="2800" noProof="1">
              <a:latin typeface="SimHei" panose="02010609060101010101" pitchFamily="49" charset="-122"/>
              <a:ea typeface="SimHei" panose="02010609060101010101" pitchFamily="49" charset="-122"/>
              <a:cs typeface="宋体" charset="0"/>
            </a:endParaRPr>
          </a:p>
        </p:txBody>
      </p:sp>
      <p:sp>
        <p:nvSpPr>
          <p:cNvPr id="5" name="card1"/>
          <p:cNvSpPr/>
          <p:nvPr/>
        </p:nvSpPr>
        <p:spPr>
          <a:xfrm>
            <a:off x="508000" y="2032000"/>
            <a:ext cx="5461000" cy="203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2E6FF"/>
            </a:solidFill>
          </a:ln>
          <a:effectLst>
            <a:outerShdw blurRad="101600" dist="25400" dir="5400000" algn="bl" rotWithShape="0">
              <a:srgbClr val="001142">
                <a:alpha val="7843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6" name="card1bar"/>
          <p:cNvSpPr/>
          <p:nvPr/>
        </p:nvSpPr>
        <p:spPr>
          <a:xfrm>
            <a:off x="508000" y="2032000"/>
            <a:ext cx="50800" cy="20320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b3"/>
          <p:cNvSpPr txBox="1"/>
          <p:nvPr/>
        </p:nvSpPr>
        <p:spPr>
          <a:xfrm>
            <a:off x="736600" y="2032000"/>
            <a:ext cx="1016000" cy="203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ts val="3360"/>
              </a:lnSpc>
            </a:pPr>
            <a:r>
              <a:rPr lang="en-US" sz="3600" b="1" noProof="1">
                <a:solidFill>
                  <a:srgbClr val="007ACC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01</a:t>
            </a:r>
            <a:endParaRPr lang="en-US" sz="3600" noProof="1">
              <a:latin typeface="SimHei" panose="02010609060101010101" pitchFamily="49" charset="-122"/>
              <a:ea typeface="SimHei" panose="02010609060101010101" pitchFamily="49" charset="-122"/>
            </a:endParaRPr>
          </a:p>
        </p:txBody>
      </p:sp>
      <p:sp>
        <p:nvSpPr>
          <p:cNvPr id="8" name="b4"/>
          <p:cNvSpPr txBox="1"/>
          <p:nvPr/>
        </p:nvSpPr>
        <p:spPr>
          <a:xfrm>
            <a:off x="1905000" y="2824305"/>
            <a:ext cx="3810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680"/>
              </a:lnSpc>
            </a:pPr>
            <a:r>
              <a:rPr lang="en-US" b="1" noProof="1">
                <a:solidFill>
                  <a:srgbClr val="001142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问题背景与目标范围</a:t>
            </a:r>
            <a:endParaRPr lang="en-US" b="1" noProof="1">
              <a:latin typeface="SimHei" panose="02010609060101010101" pitchFamily="49" charset="-122"/>
              <a:ea typeface="SimHei" panose="02010609060101010101" pitchFamily="49" charset="-122"/>
            </a:endParaRPr>
          </a:p>
        </p:txBody>
      </p:sp>
      <p:sp>
        <p:nvSpPr>
          <p:cNvPr id="9" name="b5"/>
          <p:cNvSpPr txBox="1"/>
          <p:nvPr/>
        </p:nvSpPr>
        <p:spPr>
          <a:xfrm>
            <a:off x="1905000" y="2971800"/>
            <a:ext cx="381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1920"/>
              </a:lnSpc>
            </a:pPr>
            <a:endParaRPr lang="en-US" sz="1100" noProof="1">
              <a:latin typeface="SimHei" panose="02010609060101010101" pitchFamily="49" charset="-122"/>
              <a:ea typeface="SimHei" panose="02010609060101010101" pitchFamily="49" charset="-122"/>
            </a:endParaRPr>
          </a:p>
        </p:txBody>
      </p:sp>
      <p:sp>
        <p:nvSpPr>
          <p:cNvPr id="10" name="card2"/>
          <p:cNvSpPr/>
          <p:nvPr/>
        </p:nvSpPr>
        <p:spPr>
          <a:xfrm>
            <a:off x="6223000" y="2032000"/>
            <a:ext cx="5461000" cy="203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2E6FF"/>
            </a:solidFill>
          </a:ln>
          <a:effectLst>
            <a:outerShdw blurRad="101600" dist="25400" dir="5400000" algn="bl" rotWithShape="0">
              <a:srgbClr val="001142">
                <a:alpha val="7843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1" name="card2bar"/>
          <p:cNvSpPr/>
          <p:nvPr/>
        </p:nvSpPr>
        <p:spPr>
          <a:xfrm>
            <a:off x="6223000" y="2032000"/>
            <a:ext cx="50800" cy="20320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b6"/>
          <p:cNvSpPr txBox="1"/>
          <p:nvPr/>
        </p:nvSpPr>
        <p:spPr>
          <a:xfrm>
            <a:off x="6451600" y="2032000"/>
            <a:ext cx="1016000" cy="203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ts val="3360"/>
              </a:lnSpc>
            </a:pPr>
            <a:r>
              <a:rPr lang="en-US" sz="3600" b="1" noProof="1">
                <a:solidFill>
                  <a:srgbClr val="007ACC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02</a:t>
            </a:r>
            <a:endParaRPr lang="en-US" sz="3600" noProof="1">
              <a:latin typeface="SimHei" panose="02010609060101010101" pitchFamily="49" charset="-122"/>
              <a:ea typeface="SimHei" panose="02010609060101010101" pitchFamily="49" charset="-122"/>
            </a:endParaRPr>
          </a:p>
        </p:txBody>
      </p:sp>
      <p:sp>
        <p:nvSpPr>
          <p:cNvPr id="13" name="b7"/>
          <p:cNvSpPr txBox="1"/>
          <p:nvPr/>
        </p:nvSpPr>
        <p:spPr>
          <a:xfrm>
            <a:off x="7620000" y="2824305"/>
            <a:ext cx="3810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680"/>
              </a:lnSpc>
            </a:pPr>
            <a:r>
              <a:rPr lang="en-US" b="1" noProof="1">
                <a:solidFill>
                  <a:srgbClr val="001142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技术方案与系统架构</a:t>
            </a:r>
            <a:endParaRPr lang="en-US" noProof="1">
              <a:latin typeface="SimHei" panose="02010609060101010101" pitchFamily="49" charset="-122"/>
              <a:ea typeface="SimHei" panose="02010609060101010101" pitchFamily="49" charset="-122"/>
            </a:endParaRPr>
          </a:p>
        </p:txBody>
      </p:sp>
      <p:sp>
        <p:nvSpPr>
          <p:cNvPr id="15" name="card3"/>
          <p:cNvSpPr/>
          <p:nvPr/>
        </p:nvSpPr>
        <p:spPr>
          <a:xfrm>
            <a:off x="508000" y="4318000"/>
            <a:ext cx="5461000" cy="203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2E6FF"/>
            </a:solidFill>
          </a:ln>
          <a:effectLst>
            <a:outerShdw blurRad="101600" dist="25400" dir="5400000" algn="bl" rotWithShape="0">
              <a:srgbClr val="001142">
                <a:alpha val="7843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6" name="card3bar"/>
          <p:cNvSpPr/>
          <p:nvPr/>
        </p:nvSpPr>
        <p:spPr>
          <a:xfrm>
            <a:off x="508000" y="4318000"/>
            <a:ext cx="50800" cy="20320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b9"/>
          <p:cNvSpPr txBox="1"/>
          <p:nvPr/>
        </p:nvSpPr>
        <p:spPr>
          <a:xfrm>
            <a:off x="736600" y="4318000"/>
            <a:ext cx="1016000" cy="203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ts val="3360"/>
              </a:lnSpc>
            </a:pPr>
            <a:r>
              <a:rPr lang="en-US" sz="3600" b="1" noProof="1">
                <a:solidFill>
                  <a:srgbClr val="007ACC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03</a:t>
            </a:r>
            <a:endParaRPr lang="en-US" sz="3600" noProof="1">
              <a:latin typeface="SimHei" panose="02010609060101010101" pitchFamily="49" charset="-122"/>
              <a:ea typeface="SimHei" panose="02010609060101010101" pitchFamily="49" charset="-122"/>
            </a:endParaRPr>
          </a:p>
        </p:txBody>
      </p:sp>
      <p:sp>
        <p:nvSpPr>
          <p:cNvPr id="18" name="b10"/>
          <p:cNvSpPr txBox="1"/>
          <p:nvPr/>
        </p:nvSpPr>
        <p:spPr>
          <a:xfrm>
            <a:off x="1905000" y="5130800"/>
            <a:ext cx="3810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680"/>
              </a:lnSpc>
            </a:pPr>
            <a:r>
              <a:rPr lang="en-US" b="1" noProof="1">
                <a:solidFill>
                  <a:srgbClr val="001142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评测体系与功能路线</a:t>
            </a:r>
            <a:endParaRPr lang="en-US" noProof="1">
              <a:latin typeface="SimHei" panose="02010609060101010101" pitchFamily="49" charset="-122"/>
              <a:ea typeface="SimHei" panose="02010609060101010101" pitchFamily="49" charset="-122"/>
            </a:endParaRPr>
          </a:p>
        </p:txBody>
      </p:sp>
      <p:sp>
        <p:nvSpPr>
          <p:cNvPr id="19" name="b11"/>
          <p:cNvSpPr txBox="1"/>
          <p:nvPr/>
        </p:nvSpPr>
        <p:spPr>
          <a:xfrm>
            <a:off x="1905000" y="5257800"/>
            <a:ext cx="381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1920"/>
              </a:lnSpc>
            </a:pPr>
            <a:endParaRPr lang="en-US" sz="1100" noProof="1">
              <a:latin typeface="SimHei" panose="02010609060101010101" pitchFamily="49" charset="-122"/>
              <a:ea typeface="SimHei" panose="02010609060101010101" pitchFamily="49" charset="-122"/>
              <a:cs typeface="宋体" charset="0"/>
            </a:endParaRPr>
          </a:p>
        </p:txBody>
      </p:sp>
      <p:sp>
        <p:nvSpPr>
          <p:cNvPr id="20" name="card4"/>
          <p:cNvSpPr/>
          <p:nvPr/>
        </p:nvSpPr>
        <p:spPr>
          <a:xfrm>
            <a:off x="6223000" y="4318000"/>
            <a:ext cx="5461000" cy="203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2E6FF"/>
            </a:solidFill>
          </a:ln>
          <a:effectLst>
            <a:outerShdw blurRad="101600" dist="25400" dir="5400000" algn="bl" rotWithShape="0">
              <a:srgbClr val="001142">
                <a:alpha val="7843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1" name="card4bar"/>
          <p:cNvSpPr/>
          <p:nvPr/>
        </p:nvSpPr>
        <p:spPr>
          <a:xfrm>
            <a:off x="6223000" y="4318000"/>
            <a:ext cx="50800" cy="20320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b12"/>
          <p:cNvSpPr txBox="1"/>
          <p:nvPr/>
        </p:nvSpPr>
        <p:spPr>
          <a:xfrm>
            <a:off x="6451600" y="4318000"/>
            <a:ext cx="1016000" cy="203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ts val="3360"/>
              </a:lnSpc>
            </a:pPr>
            <a:r>
              <a:rPr lang="en-US" sz="3600" b="1" noProof="1">
                <a:solidFill>
                  <a:srgbClr val="007ACC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04</a:t>
            </a:r>
            <a:endParaRPr lang="en-US" sz="3600" noProof="1">
              <a:latin typeface="SimHei" panose="02010609060101010101" pitchFamily="49" charset="-122"/>
              <a:ea typeface="SimHei" panose="02010609060101010101" pitchFamily="49" charset="-122"/>
            </a:endParaRPr>
          </a:p>
        </p:txBody>
      </p:sp>
      <p:sp>
        <p:nvSpPr>
          <p:cNvPr id="23" name="b13"/>
          <p:cNvSpPr txBox="1"/>
          <p:nvPr/>
        </p:nvSpPr>
        <p:spPr>
          <a:xfrm>
            <a:off x="7620000" y="5130800"/>
            <a:ext cx="3810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680"/>
              </a:lnSpc>
            </a:pPr>
            <a:r>
              <a:rPr lang="en-US" b="1" noProof="1">
                <a:solidFill>
                  <a:srgbClr val="001142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团队分工与协作保障</a:t>
            </a:r>
            <a:endParaRPr lang="en-US" b="1" noProof="1">
              <a:latin typeface="SimHei" panose="02010609060101010101" pitchFamily="49" charset="-122"/>
              <a:ea typeface="SimHei" panose="02010609060101010101" pitchFamily="49" charset="-122"/>
            </a:endParaRPr>
          </a:p>
        </p:txBody>
      </p:sp>
      <p:sp>
        <p:nvSpPr>
          <p:cNvPr id="24" name="b14"/>
          <p:cNvSpPr txBox="1"/>
          <p:nvPr/>
        </p:nvSpPr>
        <p:spPr>
          <a:xfrm>
            <a:off x="7620000" y="5257800"/>
            <a:ext cx="381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1920"/>
              </a:lnSpc>
            </a:pPr>
            <a:endParaRPr lang="en-US" sz="1100" noProof="1">
              <a:latin typeface="SimHei" panose="02010609060101010101" pitchFamily="49" charset="-122"/>
              <a:ea typeface="SimHei" panose="02010609060101010101" pitchFamily="49" charset="-122"/>
              <a:cs typeface="宋体" charset="0"/>
            </a:endParaRPr>
          </a:p>
        </p:txBody>
      </p:sp>
      <p:sp>
        <p:nvSpPr>
          <p:cNvPr id="25" name="pageno"/>
          <p:cNvSpPr txBox="1"/>
          <p:nvPr/>
        </p:nvSpPr>
        <p:spPr>
          <a:xfrm>
            <a:off x="381000" y="6477000"/>
            <a:ext cx="762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080"/>
              </a:lnSpc>
            </a:pPr>
            <a:r>
              <a:rPr lang="en-US" sz="1050" noProof="1">
                <a:solidFill>
                  <a:srgbClr val="007ACC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02</a:t>
            </a:r>
            <a:endParaRPr lang="en-US" sz="1050" noProof="1">
              <a:latin typeface="SimHei" panose="02010609060101010101" pitchFamily="49" charset="-122"/>
              <a:ea typeface="SimHei" panose="02010609060101010101" pitchFamily="49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381000" y="0"/>
            <a:ext cx="11430000" cy="762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rail"/>
          <p:cNvSpPr txBox="1"/>
          <p:nvPr/>
        </p:nvSpPr>
        <p:spPr>
          <a:xfrm>
            <a:off x="381000" y="254000"/>
            <a:ext cx="2794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080"/>
              </a:lnSpc>
            </a:pPr>
            <a:r>
              <a:rPr lang="en-US" sz="1100" kern="0" spc="100" noProof="1">
                <a:solidFill>
                  <a:srgbClr val="007ACC"/>
                </a:solidFill>
                <a:latin typeface="SimHei" panose="02010609060101010101" pitchFamily="49" charset="-122"/>
                <a:ea typeface="SimHei" panose="02010609060101010101" pitchFamily="49" charset="-122"/>
                <a:cs typeface="宋体" charset="0"/>
              </a:rPr>
              <a:t>01 · 问题背景与痛点</a:t>
            </a:r>
            <a:endParaRPr lang="en-US" sz="1100" noProof="1">
              <a:latin typeface="SimHei" panose="02010609060101010101" pitchFamily="49" charset="-122"/>
              <a:ea typeface="SimHei" panose="02010609060101010101" pitchFamily="49" charset="-122"/>
              <a:cs typeface="宋体" charset="0"/>
            </a:endParaRPr>
          </a:p>
        </p:txBody>
      </p:sp>
      <p:sp>
        <p:nvSpPr>
          <p:cNvPr id="4" name="b2"/>
          <p:cNvSpPr txBox="1"/>
          <p:nvPr/>
        </p:nvSpPr>
        <p:spPr>
          <a:xfrm>
            <a:off x="381000" y="705240"/>
            <a:ext cx="11430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2400"/>
              </a:lnSpc>
            </a:pPr>
            <a:r>
              <a:rPr lang="en-US" sz="3200" b="1" noProof="1">
                <a:solidFill>
                  <a:srgbClr val="001142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长程对话历史状态持续演化，</a:t>
            </a:r>
            <a:r>
              <a:rPr lang="en-US" sz="3200" b="1" noProof="1">
                <a:solidFill>
                  <a:srgbClr val="007ACC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普通向量检索极易引发过期失效</a:t>
            </a:r>
            <a:endParaRPr lang="en-US" sz="3200" b="1" noProof="1">
              <a:latin typeface="SimHei" panose="02010609060101010101" pitchFamily="49" charset="-122"/>
              <a:ea typeface="SimHei" panose="02010609060101010101" pitchFamily="49" charset="-122"/>
            </a:endParaRPr>
          </a:p>
        </p:txBody>
      </p:sp>
      <p:sp>
        <p:nvSpPr>
          <p:cNvPr id="5" name="b3"/>
          <p:cNvSpPr txBox="1"/>
          <p:nvPr/>
        </p:nvSpPr>
        <p:spPr>
          <a:xfrm>
            <a:off x="992702" y="1498600"/>
            <a:ext cx="58420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560"/>
              </a:lnSpc>
            </a:pPr>
            <a:r>
              <a:rPr lang="en-US" b="1" noProof="1">
                <a:solidFill>
                  <a:srgbClr val="007ACC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长程对话的三大核心痛点</a:t>
            </a:r>
            <a:endParaRPr lang="en-US" b="1" noProof="1">
              <a:latin typeface="SimHei" panose="02010609060101010101" pitchFamily="49" charset="-122"/>
              <a:ea typeface="SimHei" panose="02010609060101010101" pitchFamily="49" charset="-122"/>
            </a:endParaRPr>
          </a:p>
        </p:txBody>
      </p:sp>
      <p:sp>
        <p:nvSpPr>
          <p:cNvPr id="6" name="r1"/>
          <p:cNvSpPr/>
          <p:nvPr/>
        </p:nvSpPr>
        <p:spPr>
          <a:xfrm>
            <a:off x="992702" y="1955800"/>
            <a:ext cx="5842000" cy="12700"/>
          </a:xfrm>
          <a:prstGeom prst="rect">
            <a:avLst/>
          </a:prstGeom>
          <a:solidFill>
            <a:srgbClr val="D6F1FF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d1"/>
          <p:cNvSpPr/>
          <p:nvPr/>
        </p:nvSpPr>
        <p:spPr>
          <a:xfrm>
            <a:off x="992702" y="2286000"/>
            <a:ext cx="101600" cy="101600"/>
          </a:xfrm>
          <a:prstGeom prst="ellipse">
            <a:avLst/>
          </a:prstGeom>
          <a:solidFill>
            <a:srgbClr val="007ACC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b4"/>
          <p:cNvSpPr txBox="1"/>
          <p:nvPr/>
        </p:nvSpPr>
        <p:spPr>
          <a:xfrm>
            <a:off x="1221302" y="2133600"/>
            <a:ext cx="5613400" cy="939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2110"/>
              </a:lnSpc>
            </a:pPr>
            <a:r>
              <a:rPr lang="en-US" sz="1600" b="1" noProof="1">
                <a:solidFill>
                  <a:srgbClr val="001142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状态持续变化</a:t>
            </a:r>
            <a:r>
              <a:rPr lang="en-US" sz="1600" noProof="1">
                <a:solidFill>
                  <a:srgbClr val="000000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：多会话间用户工作、居住、计划与偏好持续更新（如从准备申请到通过面试）</a:t>
            </a:r>
            <a:endParaRPr lang="en-US" sz="1600" noProof="1">
              <a:latin typeface="SimHei" panose="02010609060101010101" pitchFamily="49" charset="-122"/>
              <a:ea typeface="SimHei" panose="02010609060101010101" pitchFamily="49" charset="-122"/>
            </a:endParaRPr>
          </a:p>
        </p:txBody>
      </p:sp>
      <p:sp>
        <p:nvSpPr>
          <p:cNvPr id="9" name="r2"/>
          <p:cNvSpPr/>
          <p:nvPr/>
        </p:nvSpPr>
        <p:spPr>
          <a:xfrm>
            <a:off x="992702" y="3200400"/>
            <a:ext cx="5842000" cy="12700"/>
          </a:xfrm>
          <a:prstGeom prst="rect">
            <a:avLst/>
          </a:prstGeom>
          <a:solidFill>
            <a:srgbClr val="D6F1FF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d2"/>
          <p:cNvSpPr/>
          <p:nvPr/>
        </p:nvSpPr>
        <p:spPr>
          <a:xfrm>
            <a:off x="992702" y="3530600"/>
            <a:ext cx="101600" cy="101600"/>
          </a:xfrm>
          <a:prstGeom prst="ellipse">
            <a:avLst/>
          </a:prstGeom>
          <a:solidFill>
            <a:srgbClr val="007ACC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b5"/>
          <p:cNvSpPr txBox="1"/>
          <p:nvPr/>
        </p:nvSpPr>
        <p:spPr>
          <a:xfrm>
            <a:off x="1221302" y="3378200"/>
            <a:ext cx="5613400" cy="939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2110"/>
              </a:lnSpc>
            </a:pPr>
            <a:r>
              <a:rPr lang="en-US" sz="1600" b="1" noProof="1">
                <a:solidFill>
                  <a:srgbClr val="001142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新旧难以区分</a:t>
            </a:r>
            <a:r>
              <a:rPr lang="en-US" sz="1600" noProof="1">
                <a:solidFill>
                  <a:srgbClr val="000000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：向量检索按语义相似度召回，同时取出当前状态与已失效历史状态</a:t>
            </a:r>
            <a:endParaRPr lang="en-US" sz="1600" noProof="1">
              <a:latin typeface="SimHei" panose="02010609060101010101" pitchFamily="49" charset="-122"/>
              <a:ea typeface="SimHei" panose="02010609060101010101" pitchFamily="49" charset="-122"/>
            </a:endParaRPr>
          </a:p>
        </p:txBody>
      </p:sp>
      <p:sp>
        <p:nvSpPr>
          <p:cNvPr id="12" name="r3"/>
          <p:cNvSpPr/>
          <p:nvPr/>
        </p:nvSpPr>
        <p:spPr>
          <a:xfrm>
            <a:off x="992702" y="4445000"/>
            <a:ext cx="5842000" cy="12700"/>
          </a:xfrm>
          <a:prstGeom prst="rect">
            <a:avLst/>
          </a:prstGeom>
          <a:solidFill>
            <a:srgbClr val="D6F1FF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d3"/>
          <p:cNvSpPr/>
          <p:nvPr/>
        </p:nvSpPr>
        <p:spPr>
          <a:xfrm>
            <a:off x="992702" y="4775200"/>
            <a:ext cx="101600" cy="101600"/>
          </a:xfrm>
          <a:prstGeom prst="ellipse">
            <a:avLst/>
          </a:prstGeom>
          <a:solidFill>
            <a:srgbClr val="007ACC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b6"/>
          <p:cNvSpPr txBox="1"/>
          <p:nvPr/>
        </p:nvSpPr>
        <p:spPr>
          <a:xfrm>
            <a:off x="1221302" y="4622800"/>
            <a:ext cx="5613400" cy="939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2110"/>
              </a:lnSpc>
            </a:pPr>
            <a:r>
              <a:rPr lang="en-US" sz="1600" b="1" noProof="1">
                <a:solidFill>
                  <a:srgbClr val="001142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决策隐蔽出错</a:t>
            </a:r>
            <a:r>
              <a:rPr lang="en-US" sz="1600" noProof="1">
                <a:solidFill>
                  <a:srgbClr val="000000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：基于过期状态生成错误答案，错误往往隐蔽难以直接察觉</a:t>
            </a:r>
            <a:endParaRPr lang="en-US" sz="1600" noProof="1">
              <a:latin typeface="SimHei" panose="02010609060101010101" pitchFamily="49" charset="-122"/>
              <a:ea typeface="SimHei" panose="02010609060101010101" pitchFamily="49" charset="-122"/>
            </a:endParaRPr>
          </a:p>
        </p:txBody>
      </p:sp>
      <p:sp>
        <p:nvSpPr>
          <p:cNvPr id="27" name="pageno"/>
          <p:cNvSpPr txBox="1"/>
          <p:nvPr/>
        </p:nvSpPr>
        <p:spPr>
          <a:xfrm>
            <a:off x="381000" y="6477000"/>
            <a:ext cx="762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080"/>
              </a:lnSpc>
            </a:pPr>
            <a:r>
              <a:rPr lang="en-US" sz="1100" noProof="1">
                <a:solidFill>
                  <a:srgbClr val="007ACC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03</a:t>
            </a:r>
            <a:endParaRPr lang="en-US" sz="1100" noProof="1">
              <a:latin typeface="SimHei" panose="02010609060101010101" pitchFamily="49" charset="-122"/>
              <a:ea typeface="SimHei" panose="02010609060101010101" pitchFamily="49" charset="-122"/>
            </a:endParaRPr>
          </a:p>
        </p:txBody>
      </p:sp>
      <p:sp>
        <p:nvSpPr>
          <p:cNvPr id="28" name="b3">
            <a:extLst>
              <a:ext uri="{FF2B5EF4-FFF2-40B4-BE49-F238E27FC236}">
                <a16:creationId xmlns:a16="http://schemas.microsoft.com/office/drawing/2014/main" id="{ACD8FA01-7D64-338E-9C02-AF111845E07B}"/>
              </a:ext>
            </a:extLst>
          </p:cNvPr>
          <p:cNvSpPr txBox="1"/>
          <p:nvPr/>
        </p:nvSpPr>
        <p:spPr>
          <a:xfrm>
            <a:off x="7255816" y="1917700"/>
            <a:ext cx="4795345" cy="322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r>
              <a:rPr lang="en-US" altLang="zh-CN" b="1" dirty="0">
                <a:solidFill>
                  <a:schemeClr val="tx1">
                    <a:lumMod val="65000"/>
                    <a:lumOff val="35000"/>
                  </a:schemeClr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    </a:t>
            </a:r>
            <a:r>
              <a:rPr lang="zh-CN" altLang="zh-CN" b="1" dirty="0">
                <a:solidFill>
                  <a:schemeClr val="tx1">
                    <a:lumMod val="65000"/>
                    <a:lumOff val="35000"/>
                  </a:schemeClr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本项目基于 LoCoMo 数据，开发一个支持结构化记忆构建、查询驱动的动态状态解析、有效记忆检索与可视化的 Web 应用。</a:t>
            </a:r>
            <a:endParaRPr lang="en-US" altLang="zh-CN" b="1" dirty="0">
              <a:solidFill>
                <a:schemeClr val="tx1">
                  <a:lumMod val="65000"/>
                  <a:lumOff val="35000"/>
                </a:schemeClr>
              </a:solidFill>
              <a:latin typeface="SimHei" panose="02010609060101010101" pitchFamily="49" charset="-122"/>
              <a:ea typeface="SimHei" panose="02010609060101010101" pitchFamily="49" charset="-122"/>
            </a:endParaRPr>
          </a:p>
          <a:p>
            <a:r>
              <a:rPr lang="en-US" altLang="zh-CN" b="1" dirty="0">
                <a:solidFill>
                  <a:schemeClr val="tx1">
                    <a:lumMod val="65000"/>
                    <a:lumOff val="35000"/>
                  </a:schemeClr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    </a:t>
            </a:r>
            <a:r>
              <a:rPr lang="zh-CN" altLang="zh-CN" b="1" dirty="0">
                <a:solidFill>
                  <a:schemeClr val="tx1">
                    <a:lumMod val="65000"/>
                    <a:lumOff val="35000"/>
                  </a:schemeClr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系统在回答问题前先判断历史记忆之间的保留、更新替代与冲突关系，确定当前仍然有效的记忆，再据此生成答案，并在网页端展示记忆、原始证据与状态演化过程。</a:t>
            </a:r>
            <a:endParaRPr lang="en-US" b="1" noProof="1">
              <a:solidFill>
                <a:schemeClr val="tx1">
                  <a:lumMod val="65000"/>
                  <a:lumOff val="35000"/>
                </a:schemeClr>
              </a:solidFill>
              <a:latin typeface="SimHei" panose="02010609060101010101" pitchFamily="49" charset="-122"/>
              <a:ea typeface="SimHei" panose="02010609060101010101" pitchFamily="49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381000" y="0"/>
            <a:ext cx="11430000" cy="762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" name="rail"/>
          <p:cNvSpPr txBox="1"/>
          <p:nvPr/>
        </p:nvSpPr>
        <p:spPr>
          <a:xfrm>
            <a:off x="381000" y="254000"/>
            <a:ext cx="2794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080"/>
              </a:lnSpc>
            </a:pPr>
            <a:r>
              <a:rPr lang="en-US" sz="1050" kern="0" spc="100" noProof="1">
                <a:solidFill>
                  <a:srgbClr val="007ACC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01 · 愿景与范围</a:t>
            </a:r>
            <a:endParaRPr lang="en-US" sz="1050" noProof="1">
              <a:latin typeface="黑体" panose="02010609060101010101" pitchFamily="49" charset="-122"/>
              <a:ea typeface="黑体" panose="02010609060101010101" pitchFamily="49" charset="-122"/>
              <a:cs typeface="宋体" charset="0"/>
            </a:endParaRPr>
          </a:p>
        </p:txBody>
      </p:sp>
      <p:sp>
        <p:nvSpPr>
          <p:cNvPr id="5" name="inCard"/>
          <p:cNvSpPr/>
          <p:nvPr/>
        </p:nvSpPr>
        <p:spPr>
          <a:xfrm>
            <a:off x="1563152" y="2407923"/>
            <a:ext cx="8583536" cy="4196077"/>
          </a:xfrm>
          <a:prstGeom prst="rect">
            <a:avLst/>
          </a:prstGeom>
          <a:solidFill>
            <a:srgbClr val="FFFFFF"/>
          </a:solidFill>
          <a:ln w="12700">
            <a:solidFill>
              <a:srgbClr val="007ACC"/>
            </a:solidFill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6" name="inHead"/>
          <p:cNvSpPr/>
          <p:nvPr/>
        </p:nvSpPr>
        <p:spPr>
          <a:xfrm>
            <a:off x="1563152" y="2407923"/>
            <a:ext cx="8583536" cy="4318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7" name="b3"/>
          <p:cNvSpPr txBox="1"/>
          <p:nvPr/>
        </p:nvSpPr>
        <p:spPr>
          <a:xfrm>
            <a:off x="1796715" y="2407923"/>
            <a:ext cx="8024456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560"/>
              </a:lnSpc>
            </a:pPr>
            <a:r>
              <a:rPr lang="en-US" sz="1600" b="1" noProof="1">
                <a:solidFill>
                  <a:srgbClr val="FFFFFF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In Scope</a:t>
            </a:r>
            <a:endParaRPr lang="en-US" sz="1600" b="1" noProof="1">
              <a:latin typeface="黑体" panose="02010609060101010101" pitchFamily="49" charset="-122"/>
              <a:ea typeface="黑体" panose="02010609060101010101" pitchFamily="49" charset="-122"/>
              <a:cs typeface="宋体" charset="0"/>
            </a:endParaRPr>
          </a:p>
        </p:txBody>
      </p:sp>
      <p:sp>
        <p:nvSpPr>
          <p:cNvPr id="8" name="s1"/>
          <p:cNvSpPr/>
          <p:nvPr/>
        </p:nvSpPr>
        <p:spPr>
          <a:xfrm>
            <a:off x="1714528" y="3119123"/>
            <a:ext cx="115105" cy="889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9" name="b4"/>
          <p:cNvSpPr txBox="1"/>
          <p:nvPr/>
        </p:nvSpPr>
        <p:spPr>
          <a:xfrm>
            <a:off x="1917469" y="3017347"/>
            <a:ext cx="7958681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2110"/>
              </a:lnSpc>
            </a:pPr>
            <a:r>
              <a:rPr lang="en-US" sz="1400" b="1" noProof="1">
                <a:solidFill>
                  <a:srgbClr val="001142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结构化记忆构建</a:t>
            </a:r>
            <a:r>
              <a:rPr lang="en-US" sz="1400" noProof="1">
                <a:solidFill>
                  <a:srgbClr val="0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：抽取人物、事件、时间、状态导出为 JSON，严格保留原始对话轮次出处</a:t>
            </a:r>
            <a:endParaRPr lang="en-US" sz="1400" noProof="1">
              <a:latin typeface="黑体" panose="02010609060101010101" pitchFamily="49" charset="-122"/>
              <a:ea typeface="黑体" panose="02010609060101010101" pitchFamily="49" charset="-122"/>
              <a:cs typeface="宋体" charset="0"/>
            </a:endParaRPr>
          </a:p>
        </p:txBody>
      </p:sp>
      <p:sp>
        <p:nvSpPr>
          <p:cNvPr id="10" name="isep1"/>
          <p:cNvSpPr/>
          <p:nvPr/>
        </p:nvSpPr>
        <p:spPr>
          <a:xfrm>
            <a:off x="1848098" y="3349825"/>
            <a:ext cx="7958681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1" name="s2"/>
          <p:cNvSpPr/>
          <p:nvPr/>
        </p:nvSpPr>
        <p:spPr>
          <a:xfrm>
            <a:off x="1714528" y="3660580"/>
            <a:ext cx="115105" cy="889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2" name="b5"/>
          <p:cNvSpPr txBox="1"/>
          <p:nvPr/>
        </p:nvSpPr>
        <p:spPr>
          <a:xfrm>
            <a:off x="1917469" y="3558804"/>
            <a:ext cx="7958681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2110"/>
              </a:lnSpc>
            </a:pPr>
            <a:r>
              <a:rPr lang="en-US" sz="1400" b="1" noProof="1">
                <a:solidFill>
                  <a:srgbClr val="001142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动态状态解析</a:t>
            </a:r>
            <a:r>
              <a:rPr lang="en-US" sz="1400" noProof="1">
                <a:solidFill>
                  <a:srgbClr val="0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：判定记忆间 RETAIN / UPDATE(SUPERSEDE) / CONFLICT 关系，锁定有效记忆</a:t>
            </a:r>
            <a:endParaRPr lang="en-US" sz="1400" noProof="1">
              <a:latin typeface="黑体" panose="02010609060101010101" pitchFamily="49" charset="-122"/>
              <a:ea typeface="黑体" panose="02010609060101010101" pitchFamily="49" charset="-122"/>
              <a:cs typeface="宋体" charset="0"/>
            </a:endParaRPr>
          </a:p>
        </p:txBody>
      </p:sp>
      <p:sp>
        <p:nvSpPr>
          <p:cNvPr id="13" name="isep2"/>
          <p:cNvSpPr/>
          <p:nvPr/>
        </p:nvSpPr>
        <p:spPr>
          <a:xfrm>
            <a:off x="1848098" y="4137225"/>
            <a:ext cx="7958681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4" name="s3"/>
          <p:cNvSpPr/>
          <p:nvPr/>
        </p:nvSpPr>
        <p:spPr>
          <a:xfrm>
            <a:off x="1714528" y="4447980"/>
            <a:ext cx="115105" cy="889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5" name="b6"/>
          <p:cNvSpPr txBox="1"/>
          <p:nvPr/>
        </p:nvSpPr>
        <p:spPr>
          <a:xfrm>
            <a:off x="1917469" y="4346204"/>
            <a:ext cx="7958681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2110"/>
              </a:lnSpc>
            </a:pPr>
            <a:r>
              <a:rPr lang="en-US" sz="1400" b="1" noProof="1">
                <a:solidFill>
                  <a:srgbClr val="001142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有效检索与问答</a:t>
            </a:r>
            <a:r>
              <a:rPr lang="en-US" sz="1400" noProof="1">
                <a:solidFill>
                  <a:srgbClr val="0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：多路检索候选记忆 → 状态解析过滤 → 调用 DeepSeek API 生成最终答案</a:t>
            </a:r>
            <a:endParaRPr lang="en-US" sz="1400" noProof="1">
              <a:latin typeface="黑体" panose="02010609060101010101" pitchFamily="49" charset="-122"/>
              <a:ea typeface="黑体" panose="02010609060101010101" pitchFamily="49" charset="-122"/>
              <a:cs typeface="宋体" charset="0"/>
            </a:endParaRPr>
          </a:p>
        </p:txBody>
      </p:sp>
      <p:sp>
        <p:nvSpPr>
          <p:cNvPr id="16" name="isep3"/>
          <p:cNvSpPr/>
          <p:nvPr/>
        </p:nvSpPr>
        <p:spPr>
          <a:xfrm>
            <a:off x="1848098" y="4924625"/>
            <a:ext cx="7958681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7" name="s4"/>
          <p:cNvSpPr/>
          <p:nvPr/>
        </p:nvSpPr>
        <p:spPr>
          <a:xfrm>
            <a:off x="1714528" y="5235380"/>
            <a:ext cx="115105" cy="889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8" name="b7"/>
          <p:cNvSpPr txBox="1"/>
          <p:nvPr/>
        </p:nvSpPr>
        <p:spPr>
          <a:xfrm>
            <a:off x="1917469" y="5133604"/>
            <a:ext cx="7958681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2110"/>
              </a:lnSpc>
            </a:pPr>
            <a:r>
              <a:rPr lang="en-US" sz="1400" b="1" noProof="1">
                <a:solidFill>
                  <a:srgbClr val="001142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Web 演化可视化</a:t>
            </a:r>
            <a:r>
              <a:rPr lang="en-US" sz="1400" noProof="1">
                <a:solidFill>
                  <a:srgbClr val="0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：开发轻量 Web 界面展示结构化 Memory、原始证据与状态演化全过程</a:t>
            </a:r>
            <a:endParaRPr lang="en-US" sz="1400" noProof="1">
              <a:latin typeface="黑体" panose="02010609060101010101" pitchFamily="49" charset="-122"/>
              <a:ea typeface="黑体" panose="02010609060101010101" pitchFamily="49" charset="-122"/>
              <a:cs typeface="宋体" charset="0"/>
            </a:endParaRPr>
          </a:p>
        </p:txBody>
      </p:sp>
      <p:sp>
        <p:nvSpPr>
          <p:cNvPr id="19" name="isep4"/>
          <p:cNvSpPr/>
          <p:nvPr/>
        </p:nvSpPr>
        <p:spPr>
          <a:xfrm>
            <a:off x="1848098" y="5712025"/>
            <a:ext cx="7958681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0" name="s5"/>
          <p:cNvSpPr/>
          <p:nvPr/>
        </p:nvSpPr>
        <p:spPr>
          <a:xfrm>
            <a:off x="1714528" y="6022780"/>
            <a:ext cx="115105" cy="889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1" name="b8"/>
          <p:cNvSpPr txBox="1"/>
          <p:nvPr/>
        </p:nvSpPr>
        <p:spPr>
          <a:xfrm>
            <a:off x="1917469" y="5921004"/>
            <a:ext cx="7958681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2110"/>
              </a:lnSpc>
            </a:pPr>
            <a:r>
              <a:rPr lang="en-US" sz="1400" b="1" noProof="1">
                <a:solidFill>
                  <a:srgbClr val="001142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系统评测与基线对比</a:t>
            </a:r>
            <a:r>
              <a:rPr lang="en-US" sz="1400" noProof="1">
                <a:solidFill>
                  <a:srgbClr val="0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：三指标严格评测，与 Full Text、Vector RAG 两种基准全面对照</a:t>
            </a:r>
            <a:endParaRPr lang="en-US" sz="1400" noProof="1">
              <a:latin typeface="黑体" panose="02010609060101010101" pitchFamily="49" charset="-122"/>
              <a:ea typeface="黑体" panose="02010609060101010101" pitchFamily="49" charset="-122"/>
              <a:cs typeface="宋体" charset="0"/>
            </a:endParaRPr>
          </a:p>
        </p:txBody>
      </p:sp>
      <p:sp>
        <p:nvSpPr>
          <p:cNvPr id="22" name="outCard"/>
          <p:cNvSpPr/>
          <p:nvPr/>
        </p:nvSpPr>
        <p:spPr>
          <a:xfrm>
            <a:off x="1563152" y="1044550"/>
            <a:ext cx="8583536" cy="110350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3" name="outHead"/>
          <p:cNvSpPr/>
          <p:nvPr/>
        </p:nvSpPr>
        <p:spPr>
          <a:xfrm>
            <a:off x="1563152" y="609600"/>
            <a:ext cx="8583536" cy="433809"/>
          </a:xfrm>
          <a:prstGeom prst="rect">
            <a:avLst/>
          </a:prstGeom>
          <a:solidFill>
            <a:srgbClr val="001142"/>
          </a:solidFill>
          <a:ln>
            <a:noFill/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4" name="b9"/>
          <p:cNvSpPr txBox="1"/>
          <p:nvPr/>
        </p:nvSpPr>
        <p:spPr>
          <a:xfrm>
            <a:off x="1766351" y="609600"/>
            <a:ext cx="7826861" cy="43380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560"/>
              </a:lnSpc>
            </a:pPr>
            <a:r>
              <a:rPr lang="en-US" sz="1600" b="1" noProof="1">
                <a:solidFill>
                  <a:srgbClr val="FFFFFF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Vision</a:t>
            </a:r>
            <a:endParaRPr lang="en-US" sz="1600" noProof="1">
              <a:latin typeface="黑体" panose="02010609060101010101" pitchFamily="49" charset="-122"/>
              <a:ea typeface="黑体" panose="02010609060101010101" pitchFamily="49" charset="-122"/>
              <a:cs typeface="宋体" charset="0"/>
            </a:endParaRPr>
          </a:p>
        </p:txBody>
      </p:sp>
      <p:sp>
        <p:nvSpPr>
          <p:cNvPr id="25" name="s6"/>
          <p:cNvSpPr/>
          <p:nvPr/>
        </p:nvSpPr>
        <p:spPr>
          <a:xfrm>
            <a:off x="1669715" y="1404917"/>
            <a:ext cx="127000" cy="89314"/>
          </a:xfrm>
          <a:prstGeom prst="rect">
            <a:avLst/>
          </a:prstGeom>
          <a:solidFill>
            <a:srgbClr val="001142"/>
          </a:solidFill>
          <a:ln>
            <a:noFill/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6" name="b10"/>
          <p:cNvSpPr txBox="1"/>
          <p:nvPr/>
        </p:nvSpPr>
        <p:spPr>
          <a:xfrm>
            <a:off x="1881073" y="1321792"/>
            <a:ext cx="7684984" cy="5613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2110"/>
              </a:lnSpc>
            </a:pPr>
            <a:r>
              <a:rPr lang="zh-CN" altLang="en-US" sz="1400" b="1" noProof="1">
                <a:solidFill>
                  <a:srgbClr val="001142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  可解释的长程对话记忆管理原型，把“当前有效的记忆”显示搜索、判断并展示，同时量化记忆更新对问答质量的增益</a:t>
            </a:r>
            <a:endParaRPr lang="en-US" sz="1400" noProof="1">
              <a:latin typeface="黑体" panose="02010609060101010101" pitchFamily="49" charset="-122"/>
              <a:ea typeface="黑体" panose="02010609060101010101" pitchFamily="49" charset="-122"/>
              <a:cs typeface="宋体" charset="0"/>
            </a:endParaRPr>
          </a:p>
        </p:txBody>
      </p:sp>
      <p:sp>
        <p:nvSpPr>
          <p:cNvPr id="33" name="pageno"/>
          <p:cNvSpPr txBox="1"/>
          <p:nvPr/>
        </p:nvSpPr>
        <p:spPr>
          <a:xfrm>
            <a:off x="381000" y="6477000"/>
            <a:ext cx="762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080"/>
              </a:lnSpc>
            </a:pPr>
            <a:r>
              <a:rPr lang="en-US" sz="1050" noProof="1">
                <a:solidFill>
                  <a:srgbClr val="007ACC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04</a:t>
            </a:r>
            <a:endParaRPr lang="en-US" sz="1050" noProof="1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381000" y="0"/>
            <a:ext cx="11430000" cy="762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" name="rail"/>
          <p:cNvSpPr txBox="1"/>
          <p:nvPr/>
        </p:nvSpPr>
        <p:spPr>
          <a:xfrm>
            <a:off x="589105" y="900560"/>
            <a:ext cx="2794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080"/>
              </a:lnSpc>
            </a:pPr>
            <a:r>
              <a:rPr lang="en-US" kern="0" spc="100" noProof="1">
                <a:solidFill>
                  <a:srgbClr val="007ACC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02 · </a:t>
            </a:r>
            <a:r>
              <a:rPr lang="zh-CN" altLang="en-US" kern="0" spc="100" noProof="1">
                <a:solidFill>
                  <a:srgbClr val="007ACC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技术栈</a:t>
            </a:r>
            <a:endParaRPr lang="en-US" noProof="1">
              <a:latin typeface="黑体" panose="02010609060101010101" pitchFamily="49" charset="-122"/>
              <a:ea typeface="黑体" panose="02010609060101010101" pitchFamily="49" charset="-122"/>
              <a:cs typeface="宋体" charset="0"/>
            </a:endParaRPr>
          </a:p>
        </p:txBody>
      </p:sp>
      <p:sp>
        <p:nvSpPr>
          <p:cNvPr id="40" name="pageno"/>
          <p:cNvSpPr txBox="1"/>
          <p:nvPr/>
        </p:nvSpPr>
        <p:spPr>
          <a:xfrm>
            <a:off x="381000" y="6477000"/>
            <a:ext cx="762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080"/>
              </a:lnSpc>
            </a:pPr>
            <a:r>
              <a:rPr lang="en-US" sz="1050" noProof="1">
                <a:solidFill>
                  <a:srgbClr val="007ACC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05</a:t>
            </a:r>
            <a:endParaRPr lang="en-US" sz="1050" noProof="1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47" name="图片 46" descr="vue 3 中获取自定义属性的方法与示例">
            <a:extLst>
              <a:ext uri="{FF2B5EF4-FFF2-40B4-BE49-F238E27FC236}">
                <a16:creationId xmlns:a16="http://schemas.microsoft.com/office/drawing/2014/main" id="{7F7D3EB9-4B92-21E2-3F5D-ED0F2A184E3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57" t="18086" r="56794" b="11984"/>
          <a:stretch>
            <a:fillRect/>
          </a:stretch>
        </p:blipFill>
        <p:spPr>
          <a:xfrm>
            <a:off x="1143000" y="1869062"/>
            <a:ext cx="1071785" cy="985755"/>
          </a:xfrm>
          <a:prstGeom prst="rect">
            <a:avLst/>
          </a:prstGeom>
        </p:spPr>
      </p:pic>
      <p:pic>
        <p:nvPicPr>
          <p:cNvPr id="48" name="图片 47" descr="typescript 类 vs. es6 类:深入对比与最佳实践">
            <a:extLst>
              <a:ext uri="{FF2B5EF4-FFF2-40B4-BE49-F238E27FC236}">
                <a16:creationId xmlns:a16="http://schemas.microsoft.com/office/drawing/2014/main" id="{C43C69C6-F411-8BA7-BAFC-5953905DC57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7279" b="21569"/>
          <a:stretch>
            <a:fillRect/>
          </a:stretch>
        </p:blipFill>
        <p:spPr>
          <a:xfrm>
            <a:off x="2837541" y="1966542"/>
            <a:ext cx="2353252" cy="845511"/>
          </a:xfrm>
          <a:prstGeom prst="rect">
            <a:avLst/>
          </a:prstGeom>
        </p:spPr>
      </p:pic>
      <p:pic>
        <p:nvPicPr>
          <p:cNvPr id="53" name="图片 52" descr="android sqlite">
            <a:extLst>
              <a:ext uri="{FF2B5EF4-FFF2-40B4-BE49-F238E27FC236}">
                <a16:creationId xmlns:a16="http://schemas.microsoft.com/office/drawing/2014/main" id="{F441F802-463B-4497-C1FC-3AFDFBA0167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3258" b="17575"/>
          <a:stretch>
            <a:fillRect/>
          </a:stretch>
        </p:blipFill>
        <p:spPr>
          <a:xfrm>
            <a:off x="2837541" y="3520903"/>
            <a:ext cx="2290121" cy="1055997"/>
          </a:xfrm>
          <a:prstGeom prst="rect">
            <a:avLst/>
          </a:prstGeom>
        </p:spPr>
      </p:pic>
      <p:pic>
        <p:nvPicPr>
          <p:cNvPr id="54" name="图片 53" descr="git速查手册 git与版本控制">
            <a:extLst>
              <a:ext uri="{FF2B5EF4-FFF2-40B4-BE49-F238E27FC236}">
                <a16:creationId xmlns:a16="http://schemas.microsoft.com/office/drawing/2014/main" id="{AE31E225-A3FA-3B26-B4B7-1A2BE06A3F8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8400" t="21323" r="9621" b="20956"/>
          <a:stretch>
            <a:fillRect/>
          </a:stretch>
        </p:blipFill>
        <p:spPr>
          <a:xfrm>
            <a:off x="2532631" y="5183156"/>
            <a:ext cx="2502188" cy="1098351"/>
          </a:xfrm>
          <a:prstGeom prst="rect">
            <a:avLst/>
          </a:prstGeom>
        </p:spPr>
      </p:pic>
      <p:pic>
        <p:nvPicPr>
          <p:cNvPr id="57" name="图片 56" descr="如何运行python程序">
            <a:extLst>
              <a:ext uri="{FF2B5EF4-FFF2-40B4-BE49-F238E27FC236}">
                <a16:creationId xmlns:a16="http://schemas.microsoft.com/office/drawing/2014/main" id="{380DD6F8-9373-E441-2E3B-90581A0D281B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" t="19363" r="71561" b="28976"/>
          <a:stretch>
            <a:fillRect/>
          </a:stretch>
        </p:blipFill>
        <p:spPr>
          <a:xfrm>
            <a:off x="1143000" y="3429000"/>
            <a:ext cx="1105518" cy="1255138"/>
          </a:xfrm>
          <a:prstGeom prst="rect">
            <a:avLst/>
          </a:prstGeom>
        </p:spPr>
      </p:pic>
      <p:sp>
        <p:nvSpPr>
          <p:cNvPr id="61" name="r1">
            <a:extLst>
              <a:ext uri="{FF2B5EF4-FFF2-40B4-BE49-F238E27FC236}">
                <a16:creationId xmlns:a16="http://schemas.microsoft.com/office/drawing/2014/main" id="{8FF47CF7-7DA0-83AE-5A1C-194ADB513D8F}"/>
              </a:ext>
            </a:extLst>
          </p:cNvPr>
          <p:cNvSpPr/>
          <p:nvPr/>
        </p:nvSpPr>
        <p:spPr>
          <a:xfrm>
            <a:off x="5928354" y="1323777"/>
            <a:ext cx="5842000" cy="12700"/>
          </a:xfrm>
          <a:prstGeom prst="rect">
            <a:avLst/>
          </a:prstGeom>
          <a:solidFill>
            <a:srgbClr val="D6F1FF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d1">
            <a:extLst>
              <a:ext uri="{FF2B5EF4-FFF2-40B4-BE49-F238E27FC236}">
                <a16:creationId xmlns:a16="http://schemas.microsoft.com/office/drawing/2014/main" id="{07B0944F-0609-4B46-AF59-D04D58A91099}"/>
              </a:ext>
            </a:extLst>
          </p:cNvPr>
          <p:cNvSpPr/>
          <p:nvPr/>
        </p:nvSpPr>
        <p:spPr>
          <a:xfrm>
            <a:off x="5928354" y="1653977"/>
            <a:ext cx="101600" cy="101600"/>
          </a:xfrm>
          <a:prstGeom prst="ellipse">
            <a:avLst/>
          </a:prstGeom>
          <a:solidFill>
            <a:srgbClr val="007ACC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b4">
            <a:extLst>
              <a:ext uri="{FF2B5EF4-FFF2-40B4-BE49-F238E27FC236}">
                <a16:creationId xmlns:a16="http://schemas.microsoft.com/office/drawing/2014/main" id="{9D1DDBE3-8629-AA02-0A24-CF9A6C740486}"/>
              </a:ext>
            </a:extLst>
          </p:cNvPr>
          <p:cNvSpPr txBox="1"/>
          <p:nvPr/>
        </p:nvSpPr>
        <p:spPr>
          <a:xfrm>
            <a:off x="6156954" y="1501577"/>
            <a:ext cx="5613400" cy="939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ts val="2110"/>
              </a:lnSpc>
            </a:pPr>
            <a:r>
              <a:rPr lang="zh-CN" altLang="en-US" sz="2000" b="1" noProof="1">
                <a:solidFill>
                  <a:srgbClr val="001142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前端</a:t>
            </a:r>
            <a:r>
              <a:rPr lang="en-US" altLang="zh-CN" sz="2000" b="1" noProof="1">
                <a:solidFill>
                  <a:srgbClr val="000000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：Vue3 + TypeScript + Vite</a:t>
            </a:r>
            <a:r>
              <a:rPr lang="zh-CN" altLang="en-US" sz="2000" b="1" noProof="1">
                <a:solidFill>
                  <a:srgbClr val="000000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， 图表用</a:t>
            </a:r>
            <a:r>
              <a:rPr lang="en-US" altLang="zh-CN" sz="2000" b="1" noProof="1">
                <a:solidFill>
                  <a:srgbClr val="000000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EChart</a:t>
            </a:r>
          </a:p>
        </p:txBody>
      </p:sp>
      <p:sp>
        <p:nvSpPr>
          <p:cNvPr id="67" name="r2">
            <a:extLst>
              <a:ext uri="{FF2B5EF4-FFF2-40B4-BE49-F238E27FC236}">
                <a16:creationId xmlns:a16="http://schemas.microsoft.com/office/drawing/2014/main" id="{5620EAB2-7EAA-BB4F-BCFE-CFB9BA5BE6E5}"/>
              </a:ext>
            </a:extLst>
          </p:cNvPr>
          <p:cNvSpPr/>
          <p:nvPr/>
        </p:nvSpPr>
        <p:spPr>
          <a:xfrm>
            <a:off x="5928354" y="2568377"/>
            <a:ext cx="5842000" cy="12700"/>
          </a:xfrm>
          <a:prstGeom prst="rect">
            <a:avLst/>
          </a:prstGeom>
          <a:solidFill>
            <a:srgbClr val="D6F1FF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d2">
            <a:extLst>
              <a:ext uri="{FF2B5EF4-FFF2-40B4-BE49-F238E27FC236}">
                <a16:creationId xmlns:a16="http://schemas.microsoft.com/office/drawing/2014/main" id="{8D826CE9-26C0-2209-CE8E-6F89B692B990}"/>
              </a:ext>
            </a:extLst>
          </p:cNvPr>
          <p:cNvSpPr/>
          <p:nvPr/>
        </p:nvSpPr>
        <p:spPr>
          <a:xfrm>
            <a:off x="5928354" y="2898577"/>
            <a:ext cx="101600" cy="101600"/>
          </a:xfrm>
          <a:prstGeom prst="ellipse">
            <a:avLst/>
          </a:prstGeom>
          <a:solidFill>
            <a:srgbClr val="007ACC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b5">
            <a:extLst>
              <a:ext uri="{FF2B5EF4-FFF2-40B4-BE49-F238E27FC236}">
                <a16:creationId xmlns:a16="http://schemas.microsoft.com/office/drawing/2014/main" id="{D3DE8392-4CAE-1ACB-EFE4-544A12393C2B}"/>
              </a:ext>
            </a:extLst>
          </p:cNvPr>
          <p:cNvSpPr txBox="1"/>
          <p:nvPr/>
        </p:nvSpPr>
        <p:spPr>
          <a:xfrm>
            <a:off x="6156954" y="2816027"/>
            <a:ext cx="5613400" cy="939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ts val="2110"/>
              </a:lnSpc>
            </a:pPr>
            <a:r>
              <a:rPr lang="zh-CN" altLang="en-US" sz="2000" b="1" noProof="1">
                <a:solidFill>
                  <a:srgbClr val="001142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后端</a:t>
            </a:r>
            <a:r>
              <a:rPr lang="en-US" altLang="zh-CN" sz="2000" b="1" noProof="1">
                <a:solidFill>
                  <a:srgbClr val="000000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：Python</a:t>
            </a:r>
          </a:p>
        </p:txBody>
      </p:sp>
      <p:sp>
        <p:nvSpPr>
          <p:cNvPr id="73" name="r3">
            <a:extLst>
              <a:ext uri="{FF2B5EF4-FFF2-40B4-BE49-F238E27FC236}">
                <a16:creationId xmlns:a16="http://schemas.microsoft.com/office/drawing/2014/main" id="{6FDF022C-0870-3275-CD27-0E4BFA7484D5}"/>
              </a:ext>
            </a:extLst>
          </p:cNvPr>
          <p:cNvSpPr/>
          <p:nvPr/>
        </p:nvSpPr>
        <p:spPr>
          <a:xfrm>
            <a:off x="5928354" y="3661906"/>
            <a:ext cx="5842000" cy="12700"/>
          </a:xfrm>
          <a:prstGeom prst="rect">
            <a:avLst/>
          </a:prstGeom>
          <a:solidFill>
            <a:srgbClr val="D6F1FF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d3">
            <a:extLst>
              <a:ext uri="{FF2B5EF4-FFF2-40B4-BE49-F238E27FC236}">
                <a16:creationId xmlns:a16="http://schemas.microsoft.com/office/drawing/2014/main" id="{DE51658C-95F0-CBFA-5FAF-1015B410ED77}"/>
              </a:ext>
            </a:extLst>
          </p:cNvPr>
          <p:cNvSpPr/>
          <p:nvPr/>
        </p:nvSpPr>
        <p:spPr>
          <a:xfrm>
            <a:off x="5928354" y="3965873"/>
            <a:ext cx="101600" cy="101600"/>
          </a:xfrm>
          <a:prstGeom prst="ellipse">
            <a:avLst/>
          </a:prstGeom>
          <a:solidFill>
            <a:srgbClr val="007ACC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b6">
            <a:extLst>
              <a:ext uri="{FF2B5EF4-FFF2-40B4-BE49-F238E27FC236}">
                <a16:creationId xmlns:a16="http://schemas.microsoft.com/office/drawing/2014/main" id="{0AACE4B4-386F-45D8-1AD9-74D2EDBA5A17}"/>
              </a:ext>
            </a:extLst>
          </p:cNvPr>
          <p:cNvSpPr txBox="1"/>
          <p:nvPr/>
        </p:nvSpPr>
        <p:spPr>
          <a:xfrm>
            <a:off x="6156954" y="3870623"/>
            <a:ext cx="5613400" cy="939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ts val="2110"/>
              </a:lnSpc>
            </a:pPr>
            <a:r>
              <a:rPr lang="zh-CN" altLang="en-US" sz="2000" b="1" noProof="1">
                <a:solidFill>
                  <a:srgbClr val="001142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后端数据存储</a:t>
            </a:r>
            <a:r>
              <a:rPr lang="en-US" altLang="zh-CN" sz="2000" b="1" noProof="1">
                <a:solidFill>
                  <a:srgbClr val="000000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：SQLite</a:t>
            </a:r>
            <a:r>
              <a:rPr lang="zh-CN" altLang="en-US" sz="2000" b="1" noProof="1">
                <a:solidFill>
                  <a:srgbClr val="000000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存储问答与评测记录</a:t>
            </a:r>
            <a:endParaRPr lang="en-US" altLang="zh-CN" sz="2000" b="1" noProof="1">
              <a:solidFill>
                <a:srgbClr val="000000"/>
              </a:solidFill>
              <a:latin typeface="SimHei" panose="02010609060101010101" pitchFamily="49" charset="-122"/>
              <a:ea typeface="SimHei" panose="02010609060101010101" pitchFamily="49" charset="-122"/>
            </a:endParaRPr>
          </a:p>
        </p:txBody>
      </p:sp>
      <p:sp>
        <p:nvSpPr>
          <p:cNvPr id="78" name="r3">
            <a:extLst>
              <a:ext uri="{FF2B5EF4-FFF2-40B4-BE49-F238E27FC236}">
                <a16:creationId xmlns:a16="http://schemas.microsoft.com/office/drawing/2014/main" id="{01098983-711B-C2F0-B9ED-A4B141BA0F8B}"/>
              </a:ext>
            </a:extLst>
          </p:cNvPr>
          <p:cNvSpPr/>
          <p:nvPr/>
        </p:nvSpPr>
        <p:spPr>
          <a:xfrm>
            <a:off x="5928354" y="4718865"/>
            <a:ext cx="5842000" cy="12700"/>
          </a:xfrm>
          <a:prstGeom prst="rect">
            <a:avLst/>
          </a:prstGeom>
          <a:solidFill>
            <a:srgbClr val="D6F1FF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d3">
            <a:extLst>
              <a:ext uri="{FF2B5EF4-FFF2-40B4-BE49-F238E27FC236}">
                <a16:creationId xmlns:a16="http://schemas.microsoft.com/office/drawing/2014/main" id="{79B7056E-47BD-7F89-5092-CBEBCDAD5377}"/>
              </a:ext>
            </a:extLst>
          </p:cNvPr>
          <p:cNvSpPr/>
          <p:nvPr/>
        </p:nvSpPr>
        <p:spPr>
          <a:xfrm>
            <a:off x="5928354" y="5049065"/>
            <a:ext cx="101600" cy="101600"/>
          </a:xfrm>
          <a:prstGeom prst="ellipse">
            <a:avLst/>
          </a:prstGeom>
          <a:solidFill>
            <a:srgbClr val="007ACC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b6">
            <a:extLst>
              <a:ext uri="{FF2B5EF4-FFF2-40B4-BE49-F238E27FC236}">
                <a16:creationId xmlns:a16="http://schemas.microsoft.com/office/drawing/2014/main" id="{B5690E91-AA1B-8918-441E-CBAEB0873A8C}"/>
              </a:ext>
            </a:extLst>
          </p:cNvPr>
          <p:cNvSpPr txBox="1"/>
          <p:nvPr/>
        </p:nvSpPr>
        <p:spPr>
          <a:xfrm>
            <a:off x="6156954" y="4953815"/>
            <a:ext cx="5613400" cy="939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ts val="2110"/>
              </a:lnSpc>
            </a:pPr>
            <a:r>
              <a:rPr lang="zh-CN" altLang="en-US" sz="2000" b="1" noProof="1">
                <a:solidFill>
                  <a:srgbClr val="001142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工程与规范</a:t>
            </a:r>
            <a:r>
              <a:rPr lang="en-US" altLang="zh-CN" sz="2000" b="1" noProof="1">
                <a:solidFill>
                  <a:srgbClr val="000000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：Git + GitHub Flow</a:t>
            </a:r>
            <a:r>
              <a:rPr lang="zh-CN" altLang="en-US" sz="2000" b="1" noProof="1">
                <a:solidFill>
                  <a:srgbClr val="000000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，</a:t>
            </a:r>
            <a:r>
              <a:rPr lang="en-US" altLang="zh-CN" sz="2000" b="1" noProof="1">
                <a:solidFill>
                  <a:srgbClr val="000000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pytest</a:t>
            </a:r>
            <a:r>
              <a:rPr lang="zh-CN" altLang="en-US" sz="2000" b="1" noProof="1">
                <a:solidFill>
                  <a:srgbClr val="000000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进行测试，</a:t>
            </a:r>
            <a:endParaRPr lang="en-US" altLang="zh-CN" sz="2000" b="1" noProof="1">
              <a:solidFill>
                <a:srgbClr val="000000"/>
              </a:solidFill>
              <a:latin typeface="SimHei" panose="02010609060101010101" pitchFamily="49" charset="-122"/>
              <a:ea typeface="SimHei" panose="02010609060101010101" pitchFamily="49" charset="-122"/>
            </a:endParaRPr>
          </a:p>
          <a:p>
            <a:pPr>
              <a:lnSpc>
                <a:spcPts val="2110"/>
              </a:lnSpc>
            </a:pPr>
            <a:r>
              <a:rPr lang="en-US" altLang="zh-CN" sz="2000" b="1" noProof="1">
                <a:solidFill>
                  <a:srgbClr val="000000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pre-commit</a:t>
            </a:r>
            <a:r>
              <a:rPr lang="zh-CN" altLang="en-US" sz="2000" b="1" noProof="1">
                <a:solidFill>
                  <a:srgbClr val="000000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进行</a:t>
            </a:r>
            <a:r>
              <a:rPr lang="en-US" altLang="zh-CN" sz="2000" b="1" noProof="1">
                <a:solidFill>
                  <a:srgbClr val="000000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git</a:t>
            </a:r>
            <a:r>
              <a:rPr lang="zh-CN" altLang="en-US" sz="2000" b="1" noProof="1">
                <a:solidFill>
                  <a:srgbClr val="000000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审查</a:t>
            </a:r>
            <a:endParaRPr lang="en-US" altLang="zh-CN" sz="2000" b="1" noProof="1">
              <a:solidFill>
                <a:srgbClr val="000000"/>
              </a:solidFill>
              <a:latin typeface="SimHei" panose="02010609060101010101" pitchFamily="49" charset="-122"/>
              <a:ea typeface="SimHei" panose="02010609060101010101" pitchFamily="49" charset="-122"/>
            </a:endParaRPr>
          </a:p>
          <a:p>
            <a:pPr>
              <a:lnSpc>
                <a:spcPts val="2110"/>
              </a:lnSpc>
            </a:pPr>
            <a:endParaRPr lang="en-US" altLang="zh-CN" sz="2000" b="1" noProof="1">
              <a:solidFill>
                <a:srgbClr val="000000"/>
              </a:solidFill>
              <a:latin typeface="SimHei" panose="02010609060101010101" pitchFamily="49" charset="-122"/>
              <a:ea typeface="SimHei" panose="02010609060101010101" pitchFamily="49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381000" y="0"/>
            <a:ext cx="11430000" cy="762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" name="rail"/>
          <p:cNvSpPr txBox="1"/>
          <p:nvPr/>
        </p:nvSpPr>
        <p:spPr>
          <a:xfrm>
            <a:off x="355600" y="604520"/>
            <a:ext cx="2794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080"/>
              </a:lnSpc>
            </a:pPr>
            <a:r>
              <a:rPr lang="en-US" kern="0" spc="100" noProof="1">
                <a:solidFill>
                  <a:srgbClr val="007ACC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03 · 功能路线图</a:t>
            </a:r>
            <a:endParaRPr lang="en-US" noProof="1">
              <a:latin typeface="黑体" panose="02010609060101010101" pitchFamily="49" charset="-122"/>
              <a:ea typeface="黑体" panose="02010609060101010101" pitchFamily="49" charset="-122"/>
              <a:cs typeface="宋体" charset="0"/>
            </a:endParaRPr>
          </a:p>
        </p:txBody>
      </p:sp>
      <p:sp>
        <p:nvSpPr>
          <p:cNvPr id="4" name="b2"/>
          <p:cNvSpPr txBox="1"/>
          <p:nvPr/>
        </p:nvSpPr>
        <p:spPr>
          <a:xfrm>
            <a:off x="355600" y="698500"/>
            <a:ext cx="11430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2400"/>
              </a:lnSpc>
            </a:pPr>
            <a:endParaRPr lang="en-US" sz="2800" noProof="1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track"/>
          <p:cNvSpPr/>
          <p:nvPr/>
        </p:nvSpPr>
        <p:spPr>
          <a:xfrm>
            <a:off x="381000" y="1371600"/>
            <a:ext cx="11430000" cy="38100"/>
          </a:xfrm>
          <a:prstGeom prst="rect">
            <a:avLst/>
          </a:prstGeom>
          <a:solidFill>
            <a:srgbClr val="C2E6FF"/>
          </a:solidFill>
          <a:ln>
            <a:noFill/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6" name="trackdone"/>
          <p:cNvSpPr/>
          <p:nvPr/>
        </p:nvSpPr>
        <p:spPr>
          <a:xfrm>
            <a:off x="381000" y="1371599"/>
            <a:ext cx="1363980" cy="45719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7" name="dot1"/>
          <p:cNvSpPr/>
          <p:nvPr/>
        </p:nvSpPr>
        <p:spPr>
          <a:xfrm>
            <a:off x="1663700" y="1308100"/>
            <a:ext cx="152400" cy="152400"/>
          </a:xfrm>
          <a:prstGeom prst="ellipse">
            <a:avLst/>
          </a:prstGeom>
          <a:solidFill>
            <a:srgbClr val="007ACC"/>
          </a:solidFill>
          <a:ln>
            <a:noFill/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8" name="dot2"/>
          <p:cNvSpPr/>
          <p:nvPr/>
        </p:nvSpPr>
        <p:spPr>
          <a:xfrm>
            <a:off x="4559300" y="1308100"/>
            <a:ext cx="152400" cy="152400"/>
          </a:xfrm>
          <a:prstGeom prst="ellipse">
            <a:avLst/>
          </a:prstGeom>
          <a:solidFill>
            <a:srgbClr val="007ACC"/>
          </a:solidFill>
          <a:ln>
            <a:noFill/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9" name="dot3"/>
          <p:cNvSpPr/>
          <p:nvPr/>
        </p:nvSpPr>
        <p:spPr>
          <a:xfrm>
            <a:off x="7454900" y="1308100"/>
            <a:ext cx="152400" cy="1524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7ACC"/>
            </a:solidFill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0" name="dot4"/>
          <p:cNvSpPr/>
          <p:nvPr/>
        </p:nvSpPr>
        <p:spPr>
          <a:xfrm>
            <a:off x="10350500" y="1308100"/>
            <a:ext cx="152400" cy="1524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7ACC"/>
            </a:solidFill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1" name="card1"/>
          <p:cNvSpPr/>
          <p:nvPr/>
        </p:nvSpPr>
        <p:spPr>
          <a:xfrm>
            <a:off x="381000" y="1651000"/>
            <a:ext cx="2717800" cy="38862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7ACC"/>
            </a:solidFill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2" name="card1head"/>
          <p:cNvSpPr/>
          <p:nvPr/>
        </p:nvSpPr>
        <p:spPr>
          <a:xfrm>
            <a:off x="381000" y="1651000"/>
            <a:ext cx="2717800" cy="4318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3" name="b3"/>
          <p:cNvSpPr txBox="1"/>
          <p:nvPr/>
        </p:nvSpPr>
        <p:spPr>
          <a:xfrm>
            <a:off x="381000" y="1651000"/>
            <a:ext cx="27178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ts val="1560"/>
              </a:lnSpc>
            </a:pPr>
            <a:r>
              <a:rPr lang="en-US" sz="1600" b="1" noProof="1">
                <a:solidFill>
                  <a:srgbClr val="FFFFFF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MVP 最小可行产品</a:t>
            </a:r>
            <a:endParaRPr lang="en-US" sz="1600" noProof="1">
              <a:latin typeface="黑体" panose="02010609060101010101" pitchFamily="49" charset="-122"/>
              <a:ea typeface="黑体" panose="02010609060101010101" pitchFamily="49" charset="-122"/>
              <a:cs typeface="宋体" charset="0"/>
            </a:endParaRPr>
          </a:p>
        </p:txBody>
      </p:sp>
      <p:sp>
        <p:nvSpPr>
          <p:cNvPr id="14" name="card1time"/>
          <p:cNvSpPr/>
          <p:nvPr/>
        </p:nvSpPr>
        <p:spPr>
          <a:xfrm>
            <a:off x="381000" y="2133600"/>
            <a:ext cx="2717800" cy="355600"/>
          </a:xfrm>
          <a:prstGeom prst="rect">
            <a:avLst/>
          </a:prstGeom>
          <a:solidFill>
            <a:srgbClr val="D6F1FF"/>
          </a:solidFill>
          <a:ln>
            <a:noFill/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5" name="b4"/>
          <p:cNvSpPr txBox="1"/>
          <p:nvPr/>
        </p:nvSpPr>
        <p:spPr>
          <a:xfrm>
            <a:off x="381000" y="2133600"/>
            <a:ext cx="27178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ts val="1140"/>
              </a:lnSpc>
            </a:pPr>
            <a:r>
              <a:rPr lang="en-US" sz="1050" b="1" noProof="1">
                <a:solidFill>
                  <a:srgbClr val="001142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10/09–10/17 · 里程碑 1 &amp; 2</a:t>
            </a:r>
            <a:endParaRPr lang="en-US" sz="1050" noProof="1">
              <a:latin typeface="黑体" panose="02010609060101010101" pitchFamily="49" charset="-122"/>
              <a:ea typeface="黑体" panose="02010609060101010101" pitchFamily="49" charset="-122"/>
              <a:cs typeface="宋体" charset="0"/>
            </a:endParaRPr>
          </a:p>
        </p:txBody>
      </p:sp>
      <p:sp>
        <p:nvSpPr>
          <p:cNvPr id="16" name="b5"/>
          <p:cNvSpPr txBox="1"/>
          <p:nvPr/>
        </p:nvSpPr>
        <p:spPr>
          <a:xfrm>
            <a:off x="558800" y="2590800"/>
            <a:ext cx="2362200" cy="274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1920"/>
              </a:lnSpc>
              <a:spcBef>
                <a:spcPts val="10"/>
              </a:spcBef>
              <a:buChar char="•"/>
            </a:pPr>
            <a:r>
              <a:rPr lang="en-US" sz="1600" noProof="1">
                <a:solidFill>
                  <a:srgbClr val="0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完成 LoCoMo 数据读取与结构化记忆抽取管道</a:t>
            </a:r>
            <a:endParaRPr lang="en-US" sz="1600" noProof="1">
              <a:latin typeface="黑体" panose="02010609060101010101" pitchFamily="49" charset="-122"/>
              <a:ea typeface="黑体" panose="02010609060101010101" pitchFamily="49" charset="-122"/>
              <a:cs typeface="宋体" charset="0"/>
            </a:endParaRPr>
          </a:p>
          <a:p>
            <a:pPr algn="l">
              <a:lnSpc>
                <a:spcPts val="1920"/>
              </a:lnSpc>
              <a:spcBef>
                <a:spcPts val="10"/>
              </a:spcBef>
              <a:buChar char="•"/>
            </a:pPr>
            <a:r>
              <a:rPr lang="en-US" sz="1600" noProof="1">
                <a:solidFill>
                  <a:srgbClr val="0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产出可回溯轮次的 Memory JSON</a:t>
            </a:r>
            <a:endParaRPr lang="en-US" sz="1600" noProof="1">
              <a:latin typeface="黑体" panose="02010609060101010101" pitchFamily="49" charset="-122"/>
              <a:ea typeface="黑体" panose="02010609060101010101" pitchFamily="49" charset="-122"/>
              <a:cs typeface="宋体" charset="0"/>
            </a:endParaRPr>
          </a:p>
          <a:p>
            <a:pPr algn="l">
              <a:lnSpc>
                <a:spcPts val="1920"/>
              </a:lnSpc>
              <a:spcBef>
                <a:spcPts val="10"/>
              </a:spcBef>
              <a:buChar char="•"/>
            </a:pPr>
            <a:r>
              <a:rPr lang="en-US" sz="1600" noProof="1">
                <a:solidFill>
                  <a:srgbClr val="0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跑通 BM25 与向量混合检索（RRF）</a:t>
            </a:r>
            <a:endParaRPr lang="en-US" sz="1600" noProof="1">
              <a:latin typeface="黑体" panose="02010609060101010101" pitchFamily="49" charset="-122"/>
              <a:ea typeface="黑体" panose="02010609060101010101" pitchFamily="49" charset="-122"/>
              <a:cs typeface="宋体" charset="0"/>
            </a:endParaRPr>
          </a:p>
          <a:p>
            <a:pPr algn="l">
              <a:lnSpc>
                <a:spcPts val="1920"/>
              </a:lnSpc>
              <a:spcBef>
                <a:spcPts val="10"/>
              </a:spcBef>
              <a:buChar char="•"/>
            </a:pPr>
            <a:r>
              <a:rPr lang="en-US" sz="1600" noProof="1">
                <a:solidFill>
                  <a:srgbClr val="0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形成命令行最小闭环链路</a:t>
            </a:r>
            <a:endParaRPr lang="en-US" sz="1600" noProof="1">
              <a:latin typeface="黑体" panose="02010609060101010101" pitchFamily="49" charset="-122"/>
              <a:ea typeface="黑体" panose="02010609060101010101" pitchFamily="49" charset="-122"/>
              <a:cs typeface="宋体" charset="0"/>
            </a:endParaRPr>
          </a:p>
        </p:txBody>
      </p:sp>
      <p:sp>
        <p:nvSpPr>
          <p:cNvPr id="17" name="card2"/>
          <p:cNvSpPr/>
          <p:nvPr/>
        </p:nvSpPr>
        <p:spPr>
          <a:xfrm>
            <a:off x="3276600" y="1651000"/>
            <a:ext cx="2717800" cy="38862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7ACC"/>
            </a:solidFill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8" name="card2head"/>
          <p:cNvSpPr/>
          <p:nvPr/>
        </p:nvSpPr>
        <p:spPr>
          <a:xfrm>
            <a:off x="3276600" y="1651000"/>
            <a:ext cx="2717800" cy="4318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9" name="b6"/>
          <p:cNvSpPr txBox="1"/>
          <p:nvPr/>
        </p:nvSpPr>
        <p:spPr>
          <a:xfrm>
            <a:off x="3276600" y="1651000"/>
            <a:ext cx="27178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ts val="1560"/>
              </a:lnSpc>
            </a:pPr>
            <a:r>
              <a:rPr lang="en-US" sz="1600" b="1" noProof="1">
                <a:solidFill>
                  <a:srgbClr val="FFFFFF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V1.0 基础问答能力</a:t>
            </a:r>
            <a:endParaRPr lang="en-US" sz="1600" noProof="1">
              <a:latin typeface="黑体" panose="02010609060101010101" pitchFamily="49" charset="-122"/>
              <a:ea typeface="黑体" panose="02010609060101010101" pitchFamily="49" charset="-122"/>
              <a:cs typeface="宋体" charset="0"/>
            </a:endParaRPr>
          </a:p>
        </p:txBody>
      </p:sp>
      <p:sp>
        <p:nvSpPr>
          <p:cNvPr id="20" name="card2time"/>
          <p:cNvSpPr/>
          <p:nvPr/>
        </p:nvSpPr>
        <p:spPr>
          <a:xfrm>
            <a:off x="3276600" y="2133600"/>
            <a:ext cx="2717800" cy="355600"/>
          </a:xfrm>
          <a:prstGeom prst="rect">
            <a:avLst/>
          </a:prstGeom>
          <a:solidFill>
            <a:srgbClr val="D6F1FF"/>
          </a:solidFill>
          <a:ln>
            <a:noFill/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1" name="b7"/>
          <p:cNvSpPr txBox="1"/>
          <p:nvPr/>
        </p:nvSpPr>
        <p:spPr>
          <a:xfrm>
            <a:off x="3276600" y="2133600"/>
            <a:ext cx="27178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ts val="1140"/>
              </a:lnSpc>
            </a:pPr>
            <a:r>
              <a:rPr lang="en-US" sz="1050" b="1" noProof="1">
                <a:solidFill>
                  <a:srgbClr val="001142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10/18–10/24 · 里程碑 3 &amp; 4</a:t>
            </a:r>
            <a:endParaRPr lang="en-US" sz="1050" noProof="1">
              <a:latin typeface="黑体" panose="02010609060101010101" pitchFamily="49" charset="-122"/>
              <a:ea typeface="黑体" panose="02010609060101010101" pitchFamily="49" charset="-122"/>
              <a:cs typeface="宋体" charset="0"/>
            </a:endParaRPr>
          </a:p>
        </p:txBody>
      </p:sp>
      <p:sp>
        <p:nvSpPr>
          <p:cNvPr id="22" name="b8"/>
          <p:cNvSpPr txBox="1"/>
          <p:nvPr/>
        </p:nvSpPr>
        <p:spPr>
          <a:xfrm>
            <a:off x="3454400" y="2590800"/>
            <a:ext cx="2362200" cy="274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1920"/>
              </a:lnSpc>
              <a:spcBef>
                <a:spcPts val="10"/>
              </a:spcBef>
              <a:buChar char="•"/>
            </a:pPr>
            <a:r>
              <a:rPr lang="en-US" sz="1600" noProof="1">
                <a:solidFill>
                  <a:srgbClr val="0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实现 RETAIN / UPDATE / CONFLICT 关系判定</a:t>
            </a:r>
            <a:endParaRPr lang="en-US" sz="1600" noProof="1">
              <a:latin typeface="黑体" panose="02010609060101010101" pitchFamily="49" charset="-122"/>
              <a:ea typeface="黑体" panose="02010609060101010101" pitchFamily="49" charset="-122"/>
              <a:cs typeface="宋体" charset="0"/>
            </a:endParaRPr>
          </a:p>
          <a:p>
            <a:pPr algn="l">
              <a:lnSpc>
                <a:spcPts val="1920"/>
              </a:lnSpc>
              <a:spcBef>
                <a:spcPts val="10"/>
              </a:spcBef>
              <a:buChar char="•"/>
            </a:pPr>
            <a:r>
              <a:rPr lang="en-US" sz="1600" noProof="1">
                <a:solidFill>
                  <a:srgbClr val="0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接入 DeepSeek API 端到端跑通问答全链路</a:t>
            </a:r>
            <a:endParaRPr lang="en-US" sz="1600" noProof="1">
              <a:latin typeface="黑体" panose="02010609060101010101" pitchFamily="49" charset="-122"/>
              <a:ea typeface="黑体" panose="02010609060101010101" pitchFamily="49" charset="-122"/>
              <a:cs typeface="宋体" charset="0"/>
            </a:endParaRPr>
          </a:p>
          <a:p>
            <a:pPr algn="l">
              <a:lnSpc>
                <a:spcPts val="1920"/>
              </a:lnSpc>
              <a:spcBef>
                <a:spcPts val="10"/>
              </a:spcBef>
              <a:buChar char="•"/>
            </a:pPr>
            <a:r>
              <a:rPr lang="en-US" sz="1600" noProof="1">
                <a:solidFill>
                  <a:srgbClr val="0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同步提交需求规格说明书与中期设计、编码、测试材料</a:t>
            </a:r>
            <a:endParaRPr lang="en-US" sz="1600" noProof="1">
              <a:latin typeface="黑体" panose="02010609060101010101" pitchFamily="49" charset="-122"/>
              <a:ea typeface="黑体" panose="02010609060101010101" pitchFamily="49" charset="-122"/>
              <a:cs typeface="宋体" charset="0"/>
            </a:endParaRPr>
          </a:p>
        </p:txBody>
      </p:sp>
      <p:sp>
        <p:nvSpPr>
          <p:cNvPr id="23" name="card3"/>
          <p:cNvSpPr/>
          <p:nvPr/>
        </p:nvSpPr>
        <p:spPr>
          <a:xfrm>
            <a:off x="6172200" y="1651000"/>
            <a:ext cx="2717800" cy="388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2E6FF"/>
            </a:solidFill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4" name="card3head"/>
          <p:cNvSpPr/>
          <p:nvPr/>
        </p:nvSpPr>
        <p:spPr>
          <a:xfrm>
            <a:off x="6172200" y="1651000"/>
            <a:ext cx="2717800" cy="4318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5" name="b9"/>
          <p:cNvSpPr txBox="1"/>
          <p:nvPr/>
        </p:nvSpPr>
        <p:spPr>
          <a:xfrm>
            <a:off x="6172200" y="1651000"/>
            <a:ext cx="27178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ts val="1560"/>
              </a:lnSpc>
            </a:pPr>
            <a:r>
              <a:rPr lang="en-US" sz="1600" b="1" noProof="1">
                <a:solidFill>
                  <a:srgbClr val="FFFFFF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V2.0 高级功能增强</a:t>
            </a:r>
            <a:endParaRPr lang="en-US" sz="1600" noProof="1">
              <a:latin typeface="黑体" panose="02010609060101010101" pitchFamily="49" charset="-122"/>
              <a:ea typeface="黑体" panose="02010609060101010101" pitchFamily="49" charset="-122"/>
              <a:cs typeface="宋体" charset="0"/>
            </a:endParaRPr>
          </a:p>
        </p:txBody>
      </p:sp>
      <p:sp>
        <p:nvSpPr>
          <p:cNvPr id="26" name="card3time"/>
          <p:cNvSpPr/>
          <p:nvPr/>
        </p:nvSpPr>
        <p:spPr>
          <a:xfrm>
            <a:off x="6172200" y="2133600"/>
            <a:ext cx="2717800" cy="355600"/>
          </a:xfrm>
          <a:prstGeom prst="rect">
            <a:avLst/>
          </a:prstGeom>
          <a:solidFill>
            <a:srgbClr val="D6F1FF"/>
          </a:solidFill>
          <a:ln>
            <a:noFill/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7" name="b10"/>
          <p:cNvSpPr txBox="1"/>
          <p:nvPr/>
        </p:nvSpPr>
        <p:spPr>
          <a:xfrm>
            <a:off x="6172200" y="2133600"/>
            <a:ext cx="27178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ts val="1140"/>
              </a:lnSpc>
            </a:pPr>
            <a:r>
              <a:rPr lang="en-US" sz="1050" b="1" noProof="1">
                <a:solidFill>
                  <a:srgbClr val="001142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10/25–10/31 · 调优与可视化</a:t>
            </a:r>
            <a:endParaRPr lang="en-US" sz="1050" noProof="1">
              <a:latin typeface="黑体" panose="02010609060101010101" pitchFamily="49" charset="-122"/>
              <a:ea typeface="黑体" panose="02010609060101010101" pitchFamily="49" charset="-122"/>
              <a:cs typeface="宋体" charset="0"/>
            </a:endParaRPr>
          </a:p>
        </p:txBody>
      </p:sp>
      <p:sp>
        <p:nvSpPr>
          <p:cNvPr id="28" name="b11"/>
          <p:cNvSpPr txBox="1"/>
          <p:nvPr/>
        </p:nvSpPr>
        <p:spPr>
          <a:xfrm>
            <a:off x="6350000" y="2590800"/>
            <a:ext cx="2362200" cy="274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1920"/>
              </a:lnSpc>
              <a:spcBef>
                <a:spcPts val="10"/>
              </a:spcBef>
              <a:buChar char="•"/>
            </a:pPr>
            <a:r>
              <a:rPr lang="en-US" sz="1600" noProof="1">
                <a:solidFill>
                  <a:srgbClr val="0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上线 Web 可视化（记忆浏览/证据回看/状态演化）</a:t>
            </a:r>
            <a:endParaRPr lang="en-US" sz="1600" noProof="1">
              <a:latin typeface="黑体" panose="02010609060101010101" pitchFamily="49" charset="-122"/>
              <a:ea typeface="黑体" panose="02010609060101010101" pitchFamily="49" charset="-122"/>
              <a:cs typeface="宋体" charset="0"/>
            </a:endParaRPr>
          </a:p>
          <a:p>
            <a:pPr algn="l">
              <a:lnSpc>
                <a:spcPts val="1920"/>
              </a:lnSpc>
              <a:spcBef>
                <a:spcPts val="10"/>
              </a:spcBef>
              <a:buChar char="•"/>
            </a:pPr>
            <a:r>
              <a:rPr lang="en-US" sz="1600" noProof="1">
                <a:solidFill>
                  <a:srgbClr val="0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混合检索按 Recall@K 调优</a:t>
            </a:r>
            <a:endParaRPr lang="en-US" sz="1600" noProof="1">
              <a:latin typeface="黑体" panose="02010609060101010101" pitchFamily="49" charset="-122"/>
              <a:ea typeface="黑体" panose="02010609060101010101" pitchFamily="49" charset="-122"/>
              <a:cs typeface="宋体" charset="0"/>
            </a:endParaRPr>
          </a:p>
          <a:p>
            <a:pPr algn="l">
              <a:lnSpc>
                <a:spcPts val="1920"/>
              </a:lnSpc>
              <a:spcBef>
                <a:spcPts val="10"/>
              </a:spcBef>
              <a:buChar char="•"/>
            </a:pPr>
            <a:r>
              <a:rPr lang="en-US" sz="1600" noProof="1">
                <a:solidFill>
                  <a:srgbClr val="0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完成 QA F1、Recall@K、状态更新准确率评测，同表对照双基线</a:t>
            </a:r>
            <a:endParaRPr lang="en-US" sz="1600" noProof="1">
              <a:latin typeface="黑体" panose="02010609060101010101" pitchFamily="49" charset="-122"/>
              <a:ea typeface="黑体" panose="02010609060101010101" pitchFamily="49" charset="-122"/>
              <a:cs typeface="宋体" charset="0"/>
            </a:endParaRPr>
          </a:p>
        </p:txBody>
      </p:sp>
      <p:sp>
        <p:nvSpPr>
          <p:cNvPr id="29" name="card4"/>
          <p:cNvSpPr/>
          <p:nvPr/>
        </p:nvSpPr>
        <p:spPr>
          <a:xfrm>
            <a:off x="9067800" y="1651000"/>
            <a:ext cx="2717800" cy="388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2E6FF"/>
            </a:solidFill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0" name="card4head"/>
          <p:cNvSpPr/>
          <p:nvPr/>
        </p:nvSpPr>
        <p:spPr>
          <a:xfrm>
            <a:off x="9067800" y="1651000"/>
            <a:ext cx="2717800" cy="4318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1" name="b12"/>
          <p:cNvSpPr txBox="1"/>
          <p:nvPr/>
        </p:nvSpPr>
        <p:spPr>
          <a:xfrm>
            <a:off x="9067800" y="1651000"/>
            <a:ext cx="27178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ts val="1560"/>
              </a:lnSpc>
            </a:pPr>
            <a:r>
              <a:rPr lang="en-US" sz="1600" b="1" noProof="1">
                <a:solidFill>
                  <a:srgbClr val="FFFFFF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V3.0 项目交付</a:t>
            </a:r>
            <a:endParaRPr lang="en-US" sz="1600" noProof="1">
              <a:latin typeface="黑体" panose="02010609060101010101" pitchFamily="49" charset="-122"/>
              <a:ea typeface="黑体" panose="02010609060101010101" pitchFamily="49" charset="-122"/>
              <a:cs typeface="宋体" charset="0"/>
            </a:endParaRPr>
          </a:p>
        </p:txBody>
      </p:sp>
      <p:sp>
        <p:nvSpPr>
          <p:cNvPr id="32" name="card4time"/>
          <p:cNvSpPr/>
          <p:nvPr/>
        </p:nvSpPr>
        <p:spPr>
          <a:xfrm>
            <a:off x="9067800" y="2133600"/>
            <a:ext cx="2717800" cy="355600"/>
          </a:xfrm>
          <a:prstGeom prst="rect">
            <a:avLst/>
          </a:prstGeom>
          <a:solidFill>
            <a:srgbClr val="D6F1FF"/>
          </a:solidFill>
          <a:ln>
            <a:noFill/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3" name="b13"/>
          <p:cNvSpPr txBox="1"/>
          <p:nvPr/>
        </p:nvSpPr>
        <p:spPr>
          <a:xfrm>
            <a:off x="9067800" y="2133600"/>
            <a:ext cx="27178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ts val="1140"/>
              </a:lnSpc>
            </a:pPr>
            <a:r>
              <a:rPr lang="en-US" sz="1050" b="1" noProof="1">
                <a:solidFill>
                  <a:srgbClr val="001142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11/01–11/09 · 里程碑 5</a:t>
            </a:r>
            <a:endParaRPr lang="en-US" sz="1050" noProof="1">
              <a:latin typeface="黑体" panose="02010609060101010101" pitchFamily="49" charset="-122"/>
              <a:ea typeface="黑体" panose="02010609060101010101" pitchFamily="49" charset="-122"/>
              <a:cs typeface="宋体" charset="0"/>
            </a:endParaRPr>
          </a:p>
        </p:txBody>
      </p:sp>
      <p:sp>
        <p:nvSpPr>
          <p:cNvPr id="34" name="b14"/>
          <p:cNvSpPr txBox="1"/>
          <p:nvPr/>
        </p:nvSpPr>
        <p:spPr>
          <a:xfrm>
            <a:off x="9245600" y="2590800"/>
            <a:ext cx="2362200" cy="274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1920"/>
              </a:lnSpc>
              <a:spcBef>
                <a:spcPts val="10"/>
              </a:spcBef>
              <a:buChar char="•"/>
            </a:pPr>
            <a:r>
              <a:rPr lang="en-US" sz="1600" noProof="1">
                <a:solidFill>
                  <a:srgbClr val="0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在独立测试集上完成最终评测</a:t>
            </a:r>
            <a:endParaRPr lang="en-US" sz="1600" noProof="1">
              <a:latin typeface="黑体" panose="02010609060101010101" pitchFamily="49" charset="-122"/>
              <a:ea typeface="黑体" panose="02010609060101010101" pitchFamily="49" charset="-122"/>
              <a:cs typeface="宋体" charset="0"/>
            </a:endParaRPr>
          </a:p>
          <a:p>
            <a:pPr algn="l">
              <a:lnSpc>
                <a:spcPts val="1920"/>
              </a:lnSpc>
              <a:spcBef>
                <a:spcPts val="10"/>
              </a:spcBef>
              <a:buChar char="•"/>
            </a:pPr>
            <a:r>
              <a:rPr lang="en-US" sz="1600" noProof="1">
                <a:solidFill>
                  <a:srgbClr val="0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冻结系统功能，专注缺陷修复</a:t>
            </a:r>
            <a:endParaRPr lang="en-US" sz="1600" noProof="1">
              <a:latin typeface="黑体" panose="02010609060101010101" pitchFamily="49" charset="-122"/>
              <a:ea typeface="黑体" panose="02010609060101010101" pitchFamily="49" charset="-122"/>
              <a:cs typeface="宋体" charset="0"/>
            </a:endParaRPr>
          </a:p>
          <a:p>
            <a:pPr algn="l">
              <a:lnSpc>
                <a:spcPts val="1920"/>
              </a:lnSpc>
              <a:spcBef>
                <a:spcPts val="10"/>
              </a:spcBef>
              <a:buChar char="•"/>
            </a:pPr>
            <a:r>
              <a:rPr lang="en-US" sz="1600" noProof="1">
                <a:solidFill>
                  <a:srgbClr val="0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定稿最终报告与技术文档</a:t>
            </a:r>
          </a:p>
        </p:txBody>
      </p:sp>
      <p:sp>
        <p:nvSpPr>
          <p:cNvPr id="35" name="pageno"/>
          <p:cNvSpPr txBox="1"/>
          <p:nvPr/>
        </p:nvSpPr>
        <p:spPr>
          <a:xfrm>
            <a:off x="381000" y="6477000"/>
            <a:ext cx="762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080"/>
              </a:lnSpc>
            </a:pPr>
            <a:r>
              <a:rPr lang="en-US" sz="1050" noProof="1">
                <a:solidFill>
                  <a:srgbClr val="007ACC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06</a:t>
            </a:r>
            <a:endParaRPr lang="en-US" sz="1050" noProof="1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381000" y="0"/>
            <a:ext cx="11430000" cy="762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" name="rail"/>
          <p:cNvSpPr txBox="1"/>
          <p:nvPr/>
        </p:nvSpPr>
        <p:spPr>
          <a:xfrm>
            <a:off x="381000" y="444500"/>
            <a:ext cx="2794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080"/>
              </a:lnSpc>
            </a:pPr>
            <a:r>
              <a:rPr lang="en-US" sz="1200" kern="0" spc="100" noProof="1">
                <a:solidFill>
                  <a:srgbClr val="007ACC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04 · </a:t>
            </a:r>
            <a:r>
              <a:rPr lang="en-US" sz="1600" kern="0" spc="100" noProof="1">
                <a:solidFill>
                  <a:srgbClr val="007ACC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团队分工与计划</a:t>
            </a:r>
            <a:endParaRPr lang="en-US" sz="1200" noProof="1">
              <a:latin typeface="黑体" panose="02010609060101010101" pitchFamily="49" charset="-122"/>
              <a:ea typeface="黑体" panose="02010609060101010101" pitchFamily="49" charset="-122"/>
              <a:cs typeface="宋体" charset="0"/>
            </a:endParaRPr>
          </a:p>
        </p:txBody>
      </p:sp>
      <p:sp>
        <p:nvSpPr>
          <p:cNvPr id="4" name="b2"/>
          <p:cNvSpPr txBox="1"/>
          <p:nvPr/>
        </p:nvSpPr>
        <p:spPr>
          <a:xfrm>
            <a:off x="381000" y="546100"/>
            <a:ext cx="11430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2400"/>
              </a:lnSpc>
            </a:pPr>
            <a:endParaRPr lang="en-US" sz="2800" noProof="1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c1"/>
          <p:cNvSpPr/>
          <p:nvPr/>
        </p:nvSpPr>
        <p:spPr>
          <a:xfrm>
            <a:off x="381000" y="1104900"/>
            <a:ext cx="2159000" cy="4483100"/>
          </a:xfrm>
          <a:prstGeom prst="rect">
            <a:avLst/>
          </a:prstGeom>
          <a:solidFill>
            <a:srgbClr val="FFFFFF"/>
          </a:solidFill>
          <a:ln w="12700">
            <a:solidFill>
              <a:srgbClr val="C2E6FF"/>
            </a:solidFill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6" name="c1bar"/>
          <p:cNvSpPr/>
          <p:nvPr/>
        </p:nvSpPr>
        <p:spPr>
          <a:xfrm>
            <a:off x="381000" y="1066800"/>
            <a:ext cx="21590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7" name="b3"/>
          <p:cNvSpPr txBox="1"/>
          <p:nvPr/>
        </p:nvSpPr>
        <p:spPr>
          <a:xfrm>
            <a:off x="558800" y="1244600"/>
            <a:ext cx="18034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800"/>
              </a:lnSpc>
            </a:pPr>
            <a:r>
              <a:rPr lang="en-US" b="1" noProof="1">
                <a:solidFill>
                  <a:srgbClr val="007ACC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陈易</a:t>
            </a:r>
            <a:endParaRPr lang="en-US" noProof="1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8" name="b4"/>
          <p:cNvSpPr txBox="1"/>
          <p:nvPr/>
        </p:nvSpPr>
        <p:spPr>
          <a:xfrm>
            <a:off x="558800" y="1676400"/>
            <a:ext cx="18034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2110"/>
              </a:lnSpc>
            </a:pPr>
            <a:r>
              <a:rPr lang="en-US" sz="1400" noProof="1">
                <a:solidFill>
                  <a:srgbClr val="001142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项目管理与集成架构</a:t>
            </a:r>
            <a:endParaRPr lang="en-US" sz="1400" noProof="1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9" name="s1"/>
          <p:cNvSpPr/>
          <p:nvPr/>
        </p:nvSpPr>
        <p:spPr>
          <a:xfrm>
            <a:off x="558800" y="2590800"/>
            <a:ext cx="1803400" cy="12700"/>
          </a:xfrm>
          <a:prstGeom prst="rect">
            <a:avLst/>
          </a:prstGeom>
          <a:solidFill>
            <a:srgbClr val="D6F1FF"/>
          </a:solidFill>
          <a:ln>
            <a:noFill/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0" name="b5"/>
          <p:cNvSpPr txBox="1"/>
          <p:nvPr/>
        </p:nvSpPr>
        <p:spPr>
          <a:xfrm>
            <a:off x="558800" y="2743200"/>
            <a:ext cx="1803400" cy="269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1940"/>
              </a:lnSpc>
              <a:spcBef>
                <a:spcPts val="10"/>
              </a:spcBef>
              <a:buChar char="•"/>
            </a:pPr>
            <a:r>
              <a:rPr lang="en-US" noProof="1">
                <a:solidFill>
                  <a:srgbClr val="00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计划与追踪</a:t>
            </a:r>
            <a:endParaRPr lang="en-US" noProof="1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l">
              <a:lnSpc>
                <a:spcPts val="1940"/>
              </a:lnSpc>
              <a:spcBef>
                <a:spcPts val="1400"/>
              </a:spcBef>
              <a:buChar char="•"/>
            </a:pPr>
            <a:r>
              <a:rPr lang="en-US" noProof="1">
                <a:solidFill>
                  <a:srgbClr val="00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仓库与权限</a:t>
            </a:r>
            <a:endParaRPr lang="en-US" noProof="1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l">
              <a:lnSpc>
                <a:spcPts val="1940"/>
              </a:lnSpc>
              <a:spcBef>
                <a:spcPts val="1400"/>
              </a:spcBef>
              <a:buChar char="•"/>
            </a:pPr>
            <a:r>
              <a:rPr lang="en-US" noProof="1">
                <a:solidFill>
                  <a:srgbClr val="00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架构决策</a:t>
            </a:r>
            <a:endParaRPr lang="en-US" noProof="1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l">
              <a:lnSpc>
                <a:spcPts val="1940"/>
              </a:lnSpc>
              <a:spcBef>
                <a:spcPts val="1400"/>
              </a:spcBef>
              <a:buChar char="•"/>
            </a:pPr>
            <a:r>
              <a:rPr lang="en-US" noProof="1">
                <a:solidFill>
                  <a:srgbClr val="00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集成与评测接口</a:t>
            </a:r>
            <a:endParaRPr lang="en-US" noProof="1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l">
              <a:lnSpc>
                <a:spcPts val="1940"/>
              </a:lnSpc>
              <a:spcBef>
                <a:spcPts val="1400"/>
              </a:spcBef>
              <a:buChar char="•"/>
            </a:pPr>
            <a:r>
              <a:rPr lang="en-US" noProof="1">
                <a:solidFill>
                  <a:srgbClr val="00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演示环境</a:t>
            </a:r>
            <a:endParaRPr lang="en-US" noProof="1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1" name="c2"/>
          <p:cNvSpPr/>
          <p:nvPr/>
        </p:nvSpPr>
        <p:spPr>
          <a:xfrm>
            <a:off x="2692400" y="1104900"/>
            <a:ext cx="2159000" cy="4483100"/>
          </a:xfrm>
          <a:prstGeom prst="rect">
            <a:avLst/>
          </a:prstGeom>
          <a:solidFill>
            <a:srgbClr val="FFFFFF"/>
          </a:solidFill>
          <a:ln w="12700">
            <a:solidFill>
              <a:srgbClr val="C2E6FF"/>
            </a:solidFill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2" name="c2bar"/>
          <p:cNvSpPr/>
          <p:nvPr/>
        </p:nvSpPr>
        <p:spPr>
          <a:xfrm>
            <a:off x="2692400" y="1066800"/>
            <a:ext cx="21590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3" name="b6"/>
          <p:cNvSpPr txBox="1"/>
          <p:nvPr/>
        </p:nvSpPr>
        <p:spPr>
          <a:xfrm>
            <a:off x="2870200" y="1244600"/>
            <a:ext cx="18034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800"/>
              </a:lnSpc>
            </a:pPr>
            <a:r>
              <a:rPr lang="en-US" b="1" noProof="1">
                <a:solidFill>
                  <a:srgbClr val="007ACC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鲁瑞特</a:t>
            </a:r>
            <a:endParaRPr lang="en-US" noProof="1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4" name="b7"/>
          <p:cNvSpPr txBox="1"/>
          <p:nvPr/>
        </p:nvSpPr>
        <p:spPr>
          <a:xfrm>
            <a:off x="2870200" y="1676400"/>
            <a:ext cx="18034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2110"/>
              </a:lnSpc>
            </a:pPr>
            <a:r>
              <a:rPr lang="en-US" sz="1400" noProof="1">
                <a:solidFill>
                  <a:srgbClr val="001142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数据、记忆与检索基础设施</a:t>
            </a:r>
            <a:endParaRPr lang="en-US" sz="1400" noProof="1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5" name="s2"/>
          <p:cNvSpPr/>
          <p:nvPr/>
        </p:nvSpPr>
        <p:spPr>
          <a:xfrm>
            <a:off x="2870200" y="2590800"/>
            <a:ext cx="1803400" cy="12700"/>
          </a:xfrm>
          <a:prstGeom prst="rect">
            <a:avLst/>
          </a:prstGeom>
          <a:solidFill>
            <a:srgbClr val="D6F1FF"/>
          </a:solidFill>
          <a:ln>
            <a:noFill/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6" name="b8"/>
          <p:cNvSpPr txBox="1"/>
          <p:nvPr/>
        </p:nvSpPr>
        <p:spPr>
          <a:xfrm>
            <a:off x="2870200" y="2743200"/>
            <a:ext cx="1803400" cy="269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1940"/>
              </a:lnSpc>
              <a:spcBef>
                <a:spcPts val="10"/>
              </a:spcBef>
              <a:buChar char="•"/>
            </a:pPr>
            <a:r>
              <a:rPr lang="en-US" noProof="1">
                <a:solidFill>
                  <a:srgbClr val="0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Memory 结构</a:t>
            </a:r>
            <a:endParaRPr lang="en-US" noProof="1">
              <a:latin typeface="黑体" panose="02010609060101010101" pitchFamily="49" charset="-122"/>
              <a:ea typeface="黑体" panose="02010609060101010101" pitchFamily="49" charset="-122"/>
              <a:cs typeface="宋体" charset="0"/>
            </a:endParaRPr>
          </a:p>
          <a:p>
            <a:pPr algn="l">
              <a:lnSpc>
                <a:spcPts val="1940"/>
              </a:lnSpc>
              <a:spcBef>
                <a:spcPts val="1400"/>
              </a:spcBef>
              <a:buChar char="•"/>
            </a:pPr>
            <a:r>
              <a:rPr lang="en-US" noProof="1">
                <a:solidFill>
                  <a:srgbClr val="0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结构化抽取</a:t>
            </a:r>
            <a:endParaRPr lang="en-US" noProof="1">
              <a:latin typeface="黑体" panose="02010609060101010101" pitchFamily="49" charset="-122"/>
              <a:ea typeface="黑体" panose="02010609060101010101" pitchFamily="49" charset="-122"/>
              <a:cs typeface="宋体" charset="0"/>
            </a:endParaRPr>
          </a:p>
          <a:p>
            <a:pPr algn="l">
              <a:lnSpc>
                <a:spcPts val="1940"/>
              </a:lnSpc>
              <a:spcBef>
                <a:spcPts val="1400"/>
              </a:spcBef>
              <a:buChar char="•"/>
            </a:pPr>
            <a:r>
              <a:rPr lang="en-US" noProof="1">
                <a:solidFill>
                  <a:srgbClr val="0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JSON 导出</a:t>
            </a:r>
            <a:endParaRPr lang="en-US" noProof="1">
              <a:latin typeface="黑体" panose="02010609060101010101" pitchFamily="49" charset="-122"/>
              <a:ea typeface="黑体" panose="02010609060101010101" pitchFamily="49" charset="-122"/>
              <a:cs typeface="宋体" charset="0"/>
            </a:endParaRPr>
          </a:p>
          <a:p>
            <a:pPr algn="l">
              <a:lnSpc>
                <a:spcPts val="1940"/>
              </a:lnSpc>
              <a:spcBef>
                <a:spcPts val="1400"/>
              </a:spcBef>
              <a:buChar char="•"/>
            </a:pPr>
            <a:r>
              <a:rPr lang="en-US" noProof="1">
                <a:solidFill>
                  <a:srgbClr val="0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检索接口</a:t>
            </a:r>
            <a:endParaRPr lang="en-US" noProof="1">
              <a:latin typeface="黑体" panose="02010609060101010101" pitchFamily="49" charset="-122"/>
              <a:ea typeface="黑体" panose="02010609060101010101" pitchFamily="49" charset="-122"/>
              <a:cs typeface="宋体" charset="0"/>
            </a:endParaRPr>
          </a:p>
        </p:txBody>
      </p:sp>
      <p:sp>
        <p:nvSpPr>
          <p:cNvPr id="17" name="c3"/>
          <p:cNvSpPr/>
          <p:nvPr/>
        </p:nvSpPr>
        <p:spPr>
          <a:xfrm>
            <a:off x="5003800" y="1104900"/>
            <a:ext cx="2159000" cy="4483100"/>
          </a:xfrm>
          <a:prstGeom prst="rect">
            <a:avLst/>
          </a:prstGeom>
          <a:solidFill>
            <a:srgbClr val="FFFFFF"/>
          </a:solidFill>
          <a:ln w="12700">
            <a:solidFill>
              <a:srgbClr val="C2E6FF"/>
            </a:solidFill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8" name="c3bar"/>
          <p:cNvSpPr/>
          <p:nvPr/>
        </p:nvSpPr>
        <p:spPr>
          <a:xfrm>
            <a:off x="5003800" y="1066800"/>
            <a:ext cx="21590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9" name="b9"/>
          <p:cNvSpPr txBox="1"/>
          <p:nvPr/>
        </p:nvSpPr>
        <p:spPr>
          <a:xfrm>
            <a:off x="5181600" y="1244600"/>
            <a:ext cx="18034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800"/>
              </a:lnSpc>
            </a:pPr>
            <a:r>
              <a:rPr lang="en-US" b="1" noProof="1">
                <a:solidFill>
                  <a:srgbClr val="007ACC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于国庆</a:t>
            </a:r>
            <a:endParaRPr lang="en-US" noProof="1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0" name="b10"/>
          <p:cNvSpPr txBox="1"/>
          <p:nvPr/>
        </p:nvSpPr>
        <p:spPr>
          <a:xfrm>
            <a:off x="5181600" y="1676400"/>
            <a:ext cx="18034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2110"/>
              </a:lnSpc>
            </a:pPr>
            <a:r>
              <a:rPr lang="en-US" sz="1400" noProof="1">
                <a:solidFill>
                  <a:srgbClr val="001142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动态状态解析</a:t>
            </a:r>
            <a:endParaRPr lang="en-US" sz="1400" noProof="1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1" name="s3"/>
          <p:cNvSpPr/>
          <p:nvPr/>
        </p:nvSpPr>
        <p:spPr>
          <a:xfrm>
            <a:off x="5181600" y="2590800"/>
            <a:ext cx="1803400" cy="12700"/>
          </a:xfrm>
          <a:prstGeom prst="rect">
            <a:avLst/>
          </a:prstGeom>
          <a:solidFill>
            <a:srgbClr val="D6F1FF"/>
          </a:solidFill>
          <a:ln>
            <a:noFill/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2" name="b11"/>
          <p:cNvSpPr txBox="1"/>
          <p:nvPr/>
        </p:nvSpPr>
        <p:spPr>
          <a:xfrm>
            <a:off x="5181600" y="2743200"/>
            <a:ext cx="1803400" cy="269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1940"/>
              </a:lnSpc>
              <a:spcBef>
                <a:spcPts val="10"/>
              </a:spcBef>
              <a:buChar char="•"/>
            </a:pPr>
            <a:r>
              <a:rPr lang="en-US" noProof="1">
                <a:solidFill>
                  <a:srgbClr val="0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关系判定</a:t>
            </a:r>
            <a:endParaRPr lang="en-US" noProof="1">
              <a:latin typeface="黑体" panose="02010609060101010101" pitchFamily="49" charset="-122"/>
              <a:ea typeface="黑体" panose="02010609060101010101" pitchFamily="49" charset="-122"/>
              <a:cs typeface="宋体" charset="0"/>
            </a:endParaRPr>
          </a:p>
          <a:p>
            <a:pPr algn="l">
              <a:lnSpc>
                <a:spcPts val="1940"/>
              </a:lnSpc>
              <a:spcBef>
                <a:spcPts val="1400"/>
              </a:spcBef>
              <a:buChar char="•"/>
            </a:pPr>
            <a:r>
              <a:rPr lang="en-US" noProof="1">
                <a:solidFill>
                  <a:srgbClr val="0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有效记忆选择</a:t>
            </a:r>
            <a:endParaRPr lang="en-US" noProof="1">
              <a:latin typeface="黑体" panose="02010609060101010101" pitchFamily="49" charset="-122"/>
              <a:ea typeface="黑体" panose="02010609060101010101" pitchFamily="49" charset="-122"/>
              <a:cs typeface="宋体" charset="0"/>
            </a:endParaRPr>
          </a:p>
          <a:p>
            <a:pPr algn="l">
              <a:lnSpc>
                <a:spcPts val="1940"/>
              </a:lnSpc>
              <a:spcBef>
                <a:spcPts val="1400"/>
              </a:spcBef>
              <a:buChar char="•"/>
            </a:pPr>
            <a:r>
              <a:rPr lang="en-US" noProof="1">
                <a:solidFill>
                  <a:srgbClr val="0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prompt 与答案生成</a:t>
            </a:r>
            <a:endParaRPr lang="en-US" noProof="1">
              <a:latin typeface="黑体" panose="02010609060101010101" pitchFamily="49" charset="-122"/>
              <a:ea typeface="黑体" panose="02010609060101010101" pitchFamily="49" charset="-122"/>
              <a:cs typeface="宋体" charset="0"/>
            </a:endParaRPr>
          </a:p>
        </p:txBody>
      </p:sp>
      <p:sp>
        <p:nvSpPr>
          <p:cNvPr id="23" name="c4"/>
          <p:cNvSpPr/>
          <p:nvPr/>
        </p:nvSpPr>
        <p:spPr>
          <a:xfrm>
            <a:off x="7315200" y="1104900"/>
            <a:ext cx="2159000" cy="4483100"/>
          </a:xfrm>
          <a:prstGeom prst="rect">
            <a:avLst/>
          </a:prstGeom>
          <a:solidFill>
            <a:srgbClr val="FFFFFF"/>
          </a:solidFill>
          <a:ln w="12700">
            <a:solidFill>
              <a:srgbClr val="C2E6FF"/>
            </a:solidFill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4" name="c4bar"/>
          <p:cNvSpPr/>
          <p:nvPr/>
        </p:nvSpPr>
        <p:spPr>
          <a:xfrm>
            <a:off x="7315200" y="1066800"/>
            <a:ext cx="21590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5" name="b12"/>
          <p:cNvSpPr txBox="1"/>
          <p:nvPr/>
        </p:nvSpPr>
        <p:spPr>
          <a:xfrm>
            <a:off x="7493000" y="1244600"/>
            <a:ext cx="18034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800"/>
              </a:lnSpc>
            </a:pPr>
            <a:r>
              <a:rPr lang="en-US" b="1" noProof="1">
                <a:solidFill>
                  <a:srgbClr val="007ACC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许子萌</a:t>
            </a:r>
            <a:endParaRPr lang="en-US" noProof="1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6" name="b13"/>
          <p:cNvSpPr txBox="1"/>
          <p:nvPr/>
        </p:nvSpPr>
        <p:spPr>
          <a:xfrm>
            <a:off x="7493000" y="1676400"/>
            <a:ext cx="18034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2110"/>
              </a:lnSpc>
            </a:pPr>
            <a:r>
              <a:rPr lang="en-US" sz="1400" noProof="1">
                <a:solidFill>
                  <a:srgbClr val="001142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Web 与可视化</a:t>
            </a:r>
            <a:endParaRPr lang="en-US" sz="1400" noProof="1">
              <a:latin typeface="黑体" panose="02010609060101010101" pitchFamily="49" charset="-122"/>
              <a:ea typeface="黑体" panose="02010609060101010101" pitchFamily="49" charset="-122"/>
              <a:cs typeface="宋体" charset="0"/>
            </a:endParaRPr>
          </a:p>
        </p:txBody>
      </p:sp>
      <p:sp>
        <p:nvSpPr>
          <p:cNvPr id="27" name="s4"/>
          <p:cNvSpPr/>
          <p:nvPr/>
        </p:nvSpPr>
        <p:spPr>
          <a:xfrm>
            <a:off x="7493000" y="2590800"/>
            <a:ext cx="1803400" cy="12700"/>
          </a:xfrm>
          <a:prstGeom prst="rect">
            <a:avLst/>
          </a:prstGeom>
          <a:solidFill>
            <a:srgbClr val="D6F1FF"/>
          </a:solidFill>
          <a:ln>
            <a:noFill/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8" name="b14"/>
          <p:cNvSpPr txBox="1"/>
          <p:nvPr/>
        </p:nvSpPr>
        <p:spPr>
          <a:xfrm>
            <a:off x="7493000" y="2743200"/>
            <a:ext cx="1803400" cy="269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1940"/>
              </a:lnSpc>
              <a:spcBef>
                <a:spcPts val="10"/>
              </a:spcBef>
              <a:buChar char="•"/>
            </a:pPr>
            <a:r>
              <a:rPr lang="en-US" noProof="1">
                <a:solidFill>
                  <a:srgbClr val="00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记忆与证据视图</a:t>
            </a:r>
            <a:endParaRPr lang="en-US" noProof="1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l">
              <a:lnSpc>
                <a:spcPts val="1940"/>
              </a:lnSpc>
              <a:spcBef>
                <a:spcPts val="1400"/>
              </a:spcBef>
              <a:buChar char="•"/>
            </a:pPr>
            <a:r>
              <a:rPr lang="en-US" noProof="1">
                <a:solidFill>
                  <a:srgbClr val="00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状态演化展示</a:t>
            </a:r>
            <a:endParaRPr lang="en-US" noProof="1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l">
              <a:lnSpc>
                <a:spcPts val="1940"/>
              </a:lnSpc>
              <a:spcBef>
                <a:spcPts val="1400"/>
              </a:spcBef>
              <a:buChar char="•"/>
            </a:pPr>
            <a:r>
              <a:rPr lang="en-US" noProof="1">
                <a:solidFill>
                  <a:srgbClr val="00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演示素材</a:t>
            </a:r>
            <a:endParaRPr lang="en-US" noProof="1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9" name="c5"/>
          <p:cNvSpPr/>
          <p:nvPr/>
        </p:nvSpPr>
        <p:spPr>
          <a:xfrm>
            <a:off x="9626600" y="1104900"/>
            <a:ext cx="2159000" cy="4483100"/>
          </a:xfrm>
          <a:prstGeom prst="rect">
            <a:avLst/>
          </a:prstGeom>
          <a:solidFill>
            <a:srgbClr val="FFFFFF"/>
          </a:solidFill>
          <a:ln w="12700">
            <a:solidFill>
              <a:srgbClr val="C2E6FF"/>
            </a:solidFill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0" name="c5bar"/>
          <p:cNvSpPr/>
          <p:nvPr/>
        </p:nvSpPr>
        <p:spPr>
          <a:xfrm>
            <a:off x="9626600" y="1066800"/>
            <a:ext cx="21590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1" name="b15"/>
          <p:cNvSpPr txBox="1"/>
          <p:nvPr/>
        </p:nvSpPr>
        <p:spPr>
          <a:xfrm>
            <a:off x="9804400" y="1244600"/>
            <a:ext cx="18034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800"/>
              </a:lnSpc>
            </a:pPr>
            <a:r>
              <a:rPr lang="en-US" b="1" noProof="1">
                <a:solidFill>
                  <a:srgbClr val="007ACC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张崇洋</a:t>
            </a:r>
            <a:endParaRPr lang="en-US" noProof="1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2" name="b16"/>
          <p:cNvSpPr txBox="1"/>
          <p:nvPr/>
        </p:nvSpPr>
        <p:spPr>
          <a:xfrm>
            <a:off x="9804400" y="1676400"/>
            <a:ext cx="18034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2110"/>
              </a:lnSpc>
            </a:pPr>
            <a:r>
              <a:rPr lang="en-US" sz="1400" noProof="1">
                <a:solidFill>
                  <a:srgbClr val="001142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评测与文档</a:t>
            </a:r>
            <a:endParaRPr lang="en-US" sz="1400" noProof="1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3" name="s5"/>
          <p:cNvSpPr/>
          <p:nvPr/>
        </p:nvSpPr>
        <p:spPr>
          <a:xfrm>
            <a:off x="9804400" y="2590800"/>
            <a:ext cx="1803400" cy="12700"/>
          </a:xfrm>
          <a:prstGeom prst="rect">
            <a:avLst/>
          </a:prstGeom>
          <a:solidFill>
            <a:srgbClr val="D6F1FF"/>
          </a:solidFill>
          <a:ln>
            <a:noFill/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4" name="b17"/>
          <p:cNvSpPr txBox="1"/>
          <p:nvPr/>
        </p:nvSpPr>
        <p:spPr>
          <a:xfrm>
            <a:off x="9804400" y="2743200"/>
            <a:ext cx="1803400" cy="269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1940"/>
              </a:lnSpc>
              <a:spcBef>
                <a:spcPts val="10"/>
              </a:spcBef>
              <a:buChar char="•"/>
            </a:pPr>
            <a:r>
              <a:rPr lang="en-US" noProof="1">
                <a:solidFill>
                  <a:srgbClr val="0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三指标评测</a:t>
            </a:r>
            <a:endParaRPr lang="en-US" noProof="1">
              <a:latin typeface="黑体" panose="02010609060101010101" pitchFamily="49" charset="-122"/>
              <a:ea typeface="黑体" panose="02010609060101010101" pitchFamily="49" charset="-122"/>
              <a:cs typeface="宋体" charset="0"/>
            </a:endParaRPr>
          </a:p>
          <a:p>
            <a:pPr algn="l">
              <a:lnSpc>
                <a:spcPts val="1940"/>
              </a:lnSpc>
              <a:spcBef>
                <a:spcPts val="1400"/>
              </a:spcBef>
              <a:buChar char="•"/>
            </a:pPr>
            <a:r>
              <a:rPr lang="en-US" noProof="1">
                <a:solidFill>
                  <a:srgbClr val="0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对照实验</a:t>
            </a:r>
            <a:endParaRPr lang="en-US" noProof="1">
              <a:latin typeface="黑体" panose="02010609060101010101" pitchFamily="49" charset="-122"/>
              <a:ea typeface="黑体" panose="02010609060101010101" pitchFamily="49" charset="-122"/>
              <a:cs typeface="宋体" charset="0"/>
            </a:endParaRPr>
          </a:p>
          <a:p>
            <a:pPr algn="l">
              <a:lnSpc>
                <a:spcPts val="1940"/>
              </a:lnSpc>
              <a:spcBef>
                <a:spcPts val="1400"/>
              </a:spcBef>
              <a:buChar char="•"/>
            </a:pPr>
            <a:r>
              <a:rPr lang="en-US" noProof="1">
                <a:solidFill>
                  <a:srgbClr val="0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文档定稿</a:t>
            </a:r>
            <a:endParaRPr lang="en-US" noProof="1">
              <a:latin typeface="黑体" panose="02010609060101010101" pitchFamily="49" charset="-122"/>
              <a:ea typeface="黑体" panose="02010609060101010101" pitchFamily="49" charset="-122"/>
              <a:cs typeface="宋体" charset="0"/>
            </a:endParaRPr>
          </a:p>
          <a:p>
            <a:pPr algn="l">
              <a:lnSpc>
                <a:spcPts val="1940"/>
              </a:lnSpc>
              <a:spcBef>
                <a:spcPts val="1400"/>
              </a:spcBef>
              <a:buChar char="•"/>
            </a:pPr>
            <a:r>
              <a:rPr lang="en-US" noProof="1">
                <a:solidFill>
                  <a:srgbClr val="0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slides 排版</a:t>
            </a:r>
            <a:endParaRPr lang="en-US" noProof="1">
              <a:latin typeface="黑体" panose="02010609060101010101" pitchFamily="49" charset="-122"/>
              <a:ea typeface="黑体" panose="02010609060101010101" pitchFamily="49" charset="-122"/>
              <a:cs typeface="宋体" charset="0"/>
            </a:endParaRPr>
          </a:p>
        </p:txBody>
      </p:sp>
      <p:sp>
        <p:nvSpPr>
          <p:cNvPr id="35" name="pageno"/>
          <p:cNvSpPr txBox="1"/>
          <p:nvPr/>
        </p:nvSpPr>
        <p:spPr>
          <a:xfrm>
            <a:off x="381000" y="6477000"/>
            <a:ext cx="762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080"/>
              </a:lnSpc>
            </a:pPr>
            <a:r>
              <a:rPr lang="en-US" sz="1050" noProof="1">
                <a:solidFill>
                  <a:srgbClr val="007ACC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07</a:t>
            </a:r>
            <a:endParaRPr lang="en-US" sz="1050" noProof="1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381000" y="0"/>
            <a:ext cx="11430000" cy="762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" name="rail"/>
          <p:cNvSpPr txBox="1"/>
          <p:nvPr/>
        </p:nvSpPr>
        <p:spPr>
          <a:xfrm>
            <a:off x="381000" y="368300"/>
            <a:ext cx="329184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080"/>
              </a:lnSpc>
            </a:pPr>
            <a:r>
              <a:rPr lang="en-US" sz="1600" kern="0" spc="100" noProof="1">
                <a:solidFill>
                  <a:srgbClr val="007ACC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04 · </a:t>
            </a:r>
            <a:r>
              <a:rPr lang="zh-CN" altLang="en-US" sz="1600" kern="0" spc="100" noProof="1">
                <a:solidFill>
                  <a:srgbClr val="007ACC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工程规范与</a:t>
            </a:r>
            <a:r>
              <a:rPr lang="en-US" sz="1600" kern="0" spc="100" noProof="1">
                <a:solidFill>
                  <a:srgbClr val="007ACC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团队协作</a:t>
            </a:r>
          </a:p>
        </p:txBody>
      </p:sp>
      <p:sp>
        <p:nvSpPr>
          <p:cNvPr id="5" name="col1"/>
          <p:cNvSpPr/>
          <p:nvPr/>
        </p:nvSpPr>
        <p:spPr>
          <a:xfrm>
            <a:off x="381000" y="1117600"/>
            <a:ext cx="3556000" cy="4419600"/>
          </a:xfrm>
          <a:prstGeom prst="rect">
            <a:avLst/>
          </a:prstGeom>
          <a:solidFill>
            <a:srgbClr val="F5F9FD"/>
          </a:solidFill>
          <a:ln w="12700">
            <a:solidFill>
              <a:srgbClr val="C2E6FF"/>
            </a:solidFill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6" name="col1bar"/>
          <p:cNvSpPr/>
          <p:nvPr/>
        </p:nvSpPr>
        <p:spPr>
          <a:xfrm>
            <a:off x="381000" y="1066800"/>
            <a:ext cx="3556000" cy="508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7" name="col1head"/>
          <p:cNvSpPr/>
          <p:nvPr/>
        </p:nvSpPr>
        <p:spPr>
          <a:xfrm>
            <a:off x="381000" y="1117600"/>
            <a:ext cx="3556000" cy="4318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8" name="b3"/>
          <p:cNvSpPr txBox="1"/>
          <p:nvPr/>
        </p:nvSpPr>
        <p:spPr>
          <a:xfrm>
            <a:off x="558800" y="1117600"/>
            <a:ext cx="32004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560"/>
              </a:lnSpc>
            </a:pPr>
            <a:r>
              <a:rPr lang="en-US" sz="1600" b="1" noProof="1">
                <a:solidFill>
                  <a:srgbClr val="FFFFFF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代码管理与版本控制</a:t>
            </a:r>
          </a:p>
        </p:txBody>
      </p:sp>
      <p:sp>
        <p:nvSpPr>
          <p:cNvPr id="9" name="m1"/>
          <p:cNvSpPr/>
          <p:nvPr/>
        </p:nvSpPr>
        <p:spPr>
          <a:xfrm>
            <a:off x="558800" y="1930400"/>
            <a:ext cx="88900" cy="88900"/>
          </a:xfrm>
          <a:prstGeom prst="rect">
            <a:avLst/>
          </a:prstGeom>
          <a:solidFill>
            <a:srgbClr val="001142"/>
          </a:solidFill>
          <a:ln>
            <a:noFill/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0" name="b4"/>
          <p:cNvSpPr txBox="1"/>
          <p:nvPr/>
        </p:nvSpPr>
        <p:spPr>
          <a:xfrm>
            <a:off x="736600" y="1854200"/>
            <a:ext cx="3022600" cy="1066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2110"/>
              </a:lnSpc>
            </a:pPr>
            <a:r>
              <a:rPr lang="en-US" sz="1600" b="1" noProof="1">
                <a:solidFill>
                  <a:srgbClr val="001142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代码托管</a:t>
            </a:r>
            <a:r>
              <a:rPr lang="en-US" sz="1600" noProof="1">
                <a:solidFill>
                  <a:srgbClr val="0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：统一基于 GitHub 仓库协作，严格遵守规范的 Git Conventional Commit格式</a:t>
            </a:r>
            <a:endParaRPr lang="en-US" sz="1600" noProof="1">
              <a:latin typeface="黑体" panose="02010609060101010101" pitchFamily="49" charset="-122"/>
              <a:ea typeface="黑体" panose="02010609060101010101" pitchFamily="49" charset="-122"/>
              <a:cs typeface="宋体" charset="0"/>
            </a:endParaRPr>
          </a:p>
        </p:txBody>
      </p:sp>
      <p:sp>
        <p:nvSpPr>
          <p:cNvPr id="11" name="sep1"/>
          <p:cNvSpPr/>
          <p:nvPr/>
        </p:nvSpPr>
        <p:spPr>
          <a:xfrm>
            <a:off x="736600" y="3048000"/>
            <a:ext cx="3022600" cy="12700"/>
          </a:xfrm>
          <a:prstGeom prst="rect">
            <a:avLst/>
          </a:prstGeom>
          <a:solidFill>
            <a:srgbClr val="C2E6FF"/>
          </a:solidFill>
          <a:ln>
            <a:noFill/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2" name="m2"/>
          <p:cNvSpPr/>
          <p:nvPr/>
        </p:nvSpPr>
        <p:spPr>
          <a:xfrm>
            <a:off x="558800" y="3200400"/>
            <a:ext cx="88900" cy="88900"/>
          </a:xfrm>
          <a:prstGeom prst="rect">
            <a:avLst/>
          </a:prstGeom>
          <a:solidFill>
            <a:srgbClr val="001142"/>
          </a:solidFill>
          <a:ln>
            <a:noFill/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3" name="b5"/>
          <p:cNvSpPr txBox="1"/>
          <p:nvPr/>
        </p:nvSpPr>
        <p:spPr>
          <a:xfrm>
            <a:off x="736600" y="3124200"/>
            <a:ext cx="3022600" cy="1066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2110"/>
              </a:lnSpc>
            </a:pPr>
            <a:r>
              <a:rPr lang="en-US" sz="1600" b="1" noProof="1">
                <a:solidFill>
                  <a:srgbClr val="001142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分支策略</a:t>
            </a:r>
            <a:r>
              <a:rPr lang="en-US" sz="1600" noProof="1">
                <a:solidFill>
                  <a:srgbClr val="0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：主分支保持随时可发布，</a:t>
            </a:r>
            <a:r>
              <a:rPr lang="zh-CN" altLang="en-US" sz="1600" noProof="1">
                <a:solidFill>
                  <a:srgbClr val="0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遵循 </a:t>
            </a:r>
            <a:r>
              <a:rPr lang="en-US" altLang="zh-CN" sz="1600" noProof="1">
                <a:solidFill>
                  <a:srgbClr val="0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Github workflow</a:t>
            </a:r>
            <a:endParaRPr lang="en-US" sz="1600" noProof="1">
              <a:latin typeface="黑体" panose="02010609060101010101" pitchFamily="49" charset="-122"/>
              <a:ea typeface="黑体" panose="02010609060101010101" pitchFamily="49" charset="-122"/>
              <a:cs typeface="宋体" charset="0"/>
            </a:endParaRPr>
          </a:p>
        </p:txBody>
      </p:sp>
      <p:sp>
        <p:nvSpPr>
          <p:cNvPr id="14" name="sep2"/>
          <p:cNvSpPr/>
          <p:nvPr/>
        </p:nvSpPr>
        <p:spPr>
          <a:xfrm>
            <a:off x="736600" y="4318000"/>
            <a:ext cx="3022600" cy="12700"/>
          </a:xfrm>
          <a:prstGeom prst="rect">
            <a:avLst/>
          </a:prstGeom>
          <a:solidFill>
            <a:srgbClr val="C2E6FF"/>
          </a:solidFill>
          <a:ln>
            <a:noFill/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5" name="m3"/>
          <p:cNvSpPr/>
          <p:nvPr/>
        </p:nvSpPr>
        <p:spPr>
          <a:xfrm>
            <a:off x="558800" y="4470400"/>
            <a:ext cx="88900" cy="88900"/>
          </a:xfrm>
          <a:prstGeom prst="rect">
            <a:avLst/>
          </a:prstGeom>
          <a:solidFill>
            <a:srgbClr val="001142"/>
          </a:solidFill>
          <a:ln>
            <a:noFill/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6" name="b6"/>
          <p:cNvSpPr txBox="1"/>
          <p:nvPr/>
        </p:nvSpPr>
        <p:spPr>
          <a:xfrm>
            <a:off x="736600" y="4394200"/>
            <a:ext cx="3022600" cy="1066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2110"/>
              </a:lnSpc>
            </a:pPr>
            <a:r>
              <a:rPr lang="en-US" sz="1600" b="1" noProof="1">
                <a:solidFill>
                  <a:srgbClr val="001142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审查合并</a:t>
            </a:r>
            <a:r>
              <a:rPr lang="en-US" sz="1600" noProof="1">
                <a:solidFill>
                  <a:srgbClr val="0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：开发测试完成后发起 PR / Merge Request，至少一名成员 Code Review 后合入</a:t>
            </a:r>
            <a:endParaRPr lang="en-US" sz="1600" noProof="1">
              <a:latin typeface="黑体" panose="02010609060101010101" pitchFamily="49" charset="-122"/>
              <a:ea typeface="黑体" panose="02010609060101010101" pitchFamily="49" charset="-122"/>
              <a:cs typeface="宋体" charset="0"/>
            </a:endParaRPr>
          </a:p>
        </p:txBody>
      </p:sp>
      <p:sp>
        <p:nvSpPr>
          <p:cNvPr id="17" name="col2"/>
          <p:cNvSpPr/>
          <p:nvPr/>
        </p:nvSpPr>
        <p:spPr>
          <a:xfrm>
            <a:off x="4318000" y="1117600"/>
            <a:ext cx="3556000" cy="4419600"/>
          </a:xfrm>
          <a:prstGeom prst="rect">
            <a:avLst/>
          </a:prstGeom>
          <a:solidFill>
            <a:srgbClr val="F5F9FD"/>
          </a:solidFill>
          <a:ln w="12700">
            <a:solidFill>
              <a:srgbClr val="C2E6FF"/>
            </a:solidFill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8" name="col2bar"/>
          <p:cNvSpPr/>
          <p:nvPr/>
        </p:nvSpPr>
        <p:spPr>
          <a:xfrm>
            <a:off x="4318000" y="1066800"/>
            <a:ext cx="3556000" cy="508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9" name="col2head"/>
          <p:cNvSpPr/>
          <p:nvPr/>
        </p:nvSpPr>
        <p:spPr>
          <a:xfrm>
            <a:off x="4318000" y="1117600"/>
            <a:ext cx="3556000" cy="4318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0" name="b7"/>
          <p:cNvSpPr txBox="1"/>
          <p:nvPr/>
        </p:nvSpPr>
        <p:spPr>
          <a:xfrm>
            <a:off x="4495800" y="1117600"/>
            <a:ext cx="32004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560"/>
              </a:lnSpc>
            </a:pPr>
            <a:r>
              <a:rPr lang="en-US" sz="1600" b="1" noProof="1">
                <a:solidFill>
                  <a:srgbClr val="FFFFFF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接口与文档</a:t>
            </a:r>
          </a:p>
        </p:txBody>
      </p:sp>
      <p:sp>
        <p:nvSpPr>
          <p:cNvPr id="21" name="m4"/>
          <p:cNvSpPr/>
          <p:nvPr/>
        </p:nvSpPr>
        <p:spPr>
          <a:xfrm>
            <a:off x="4495800" y="1930400"/>
            <a:ext cx="88900" cy="88900"/>
          </a:xfrm>
          <a:prstGeom prst="rect">
            <a:avLst/>
          </a:prstGeom>
          <a:solidFill>
            <a:srgbClr val="001142"/>
          </a:solidFill>
          <a:ln>
            <a:noFill/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2" name="b8"/>
          <p:cNvSpPr txBox="1"/>
          <p:nvPr/>
        </p:nvSpPr>
        <p:spPr>
          <a:xfrm>
            <a:off x="4673600" y="1854200"/>
            <a:ext cx="3022600" cy="1066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2110"/>
              </a:lnSpc>
            </a:pPr>
            <a:r>
              <a:rPr lang="en-US" sz="1600" b="1" noProof="1">
                <a:solidFill>
                  <a:srgbClr val="001142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接口契约先行</a:t>
            </a:r>
            <a:r>
              <a:rPr lang="en-US" sz="1600" noProof="1">
                <a:solidFill>
                  <a:srgbClr val="0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：严格遵循 docs/interfaces.md 定义 Python 接口，解耦 Web 层与算法层</a:t>
            </a:r>
            <a:endParaRPr lang="en-US" sz="1600" noProof="1">
              <a:latin typeface="黑体" panose="02010609060101010101" pitchFamily="49" charset="-122"/>
              <a:ea typeface="黑体" panose="02010609060101010101" pitchFamily="49" charset="-122"/>
              <a:cs typeface="宋体" charset="0"/>
            </a:endParaRPr>
          </a:p>
        </p:txBody>
      </p:sp>
      <p:sp>
        <p:nvSpPr>
          <p:cNvPr id="23" name="sep3"/>
          <p:cNvSpPr/>
          <p:nvPr/>
        </p:nvSpPr>
        <p:spPr>
          <a:xfrm>
            <a:off x="4673600" y="3048000"/>
            <a:ext cx="3022600" cy="12700"/>
          </a:xfrm>
          <a:prstGeom prst="rect">
            <a:avLst/>
          </a:prstGeom>
          <a:solidFill>
            <a:srgbClr val="C2E6FF"/>
          </a:solidFill>
          <a:ln>
            <a:noFill/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4" name="m5"/>
          <p:cNvSpPr/>
          <p:nvPr/>
        </p:nvSpPr>
        <p:spPr>
          <a:xfrm>
            <a:off x="4495800" y="3200400"/>
            <a:ext cx="88900" cy="88900"/>
          </a:xfrm>
          <a:prstGeom prst="rect">
            <a:avLst/>
          </a:prstGeom>
          <a:solidFill>
            <a:srgbClr val="001142"/>
          </a:solidFill>
          <a:ln>
            <a:noFill/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5" name="b9"/>
          <p:cNvSpPr txBox="1"/>
          <p:nvPr/>
        </p:nvSpPr>
        <p:spPr>
          <a:xfrm>
            <a:off x="4673600" y="3124200"/>
            <a:ext cx="3022600" cy="1066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2110"/>
              </a:lnSpc>
            </a:pPr>
            <a:r>
              <a:rPr lang="en-US" sz="1600" b="1" noProof="1">
                <a:solidFill>
                  <a:srgbClr val="001142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知识库管理</a:t>
            </a:r>
            <a:r>
              <a:rPr lang="en-US" sz="1600" noProof="1">
                <a:solidFill>
                  <a:srgbClr val="00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：采用语雀知识库沉淀软件需求规格说明书、设计文档与实验日志</a:t>
            </a:r>
            <a:endParaRPr lang="en-US" sz="1600" noProof="1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6" name="sep4"/>
          <p:cNvSpPr/>
          <p:nvPr/>
        </p:nvSpPr>
        <p:spPr>
          <a:xfrm>
            <a:off x="4673600" y="4318000"/>
            <a:ext cx="3022600" cy="12700"/>
          </a:xfrm>
          <a:prstGeom prst="rect">
            <a:avLst/>
          </a:prstGeom>
          <a:solidFill>
            <a:srgbClr val="C2E6FF"/>
          </a:solidFill>
          <a:ln>
            <a:noFill/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7" name="m6"/>
          <p:cNvSpPr/>
          <p:nvPr/>
        </p:nvSpPr>
        <p:spPr>
          <a:xfrm>
            <a:off x="4495800" y="4470400"/>
            <a:ext cx="88900" cy="88900"/>
          </a:xfrm>
          <a:prstGeom prst="rect">
            <a:avLst/>
          </a:prstGeom>
          <a:solidFill>
            <a:srgbClr val="001142"/>
          </a:solidFill>
          <a:ln>
            <a:noFill/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8" name="b10"/>
          <p:cNvSpPr txBox="1"/>
          <p:nvPr/>
        </p:nvSpPr>
        <p:spPr>
          <a:xfrm>
            <a:off x="4673600" y="4394200"/>
            <a:ext cx="3022600" cy="1066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2110"/>
              </a:lnSpc>
            </a:pPr>
            <a:r>
              <a:rPr lang="en-US" sz="1600" b="1" noProof="1">
                <a:solidFill>
                  <a:srgbClr val="001142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任务跟踪</a:t>
            </a:r>
            <a:r>
              <a:rPr lang="en-US" sz="1600" noProof="1">
                <a:solidFill>
                  <a:srgbClr val="0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：使用 GitHub Issues 统一收集 Bug 反馈、功能需求并分配负责人</a:t>
            </a:r>
            <a:endParaRPr lang="en-US" sz="1600" noProof="1">
              <a:latin typeface="黑体" panose="02010609060101010101" pitchFamily="49" charset="-122"/>
              <a:ea typeface="黑体" panose="02010609060101010101" pitchFamily="49" charset="-122"/>
              <a:cs typeface="宋体" charset="0"/>
            </a:endParaRPr>
          </a:p>
        </p:txBody>
      </p:sp>
      <p:sp>
        <p:nvSpPr>
          <p:cNvPr id="29" name="col3"/>
          <p:cNvSpPr/>
          <p:nvPr/>
        </p:nvSpPr>
        <p:spPr>
          <a:xfrm>
            <a:off x="8255000" y="1117600"/>
            <a:ext cx="3556000" cy="4419600"/>
          </a:xfrm>
          <a:prstGeom prst="rect">
            <a:avLst/>
          </a:prstGeom>
          <a:solidFill>
            <a:srgbClr val="F5F9FD"/>
          </a:solidFill>
          <a:ln w="12700">
            <a:solidFill>
              <a:srgbClr val="C2E6FF"/>
            </a:solidFill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0" name="col3bar"/>
          <p:cNvSpPr/>
          <p:nvPr/>
        </p:nvSpPr>
        <p:spPr>
          <a:xfrm>
            <a:off x="8255000" y="1066800"/>
            <a:ext cx="3556000" cy="508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1" name="col3head"/>
          <p:cNvSpPr/>
          <p:nvPr/>
        </p:nvSpPr>
        <p:spPr>
          <a:xfrm>
            <a:off x="8255000" y="1117600"/>
            <a:ext cx="3556000" cy="4318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2" name="b11"/>
          <p:cNvSpPr txBox="1"/>
          <p:nvPr/>
        </p:nvSpPr>
        <p:spPr>
          <a:xfrm>
            <a:off x="8432800" y="1117600"/>
            <a:ext cx="32004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560"/>
              </a:lnSpc>
            </a:pPr>
            <a:r>
              <a:rPr lang="en-US" sz="1600" b="1" noProof="1">
                <a:solidFill>
                  <a:srgbClr val="FFFFFF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日常沟通与进度同步</a:t>
            </a:r>
          </a:p>
        </p:txBody>
      </p:sp>
      <p:sp>
        <p:nvSpPr>
          <p:cNvPr id="33" name="m7"/>
          <p:cNvSpPr/>
          <p:nvPr/>
        </p:nvSpPr>
        <p:spPr>
          <a:xfrm>
            <a:off x="8432800" y="1930400"/>
            <a:ext cx="88900" cy="88900"/>
          </a:xfrm>
          <a:prstGeom prst="rect">
            <a:avLst/>
          </a:prstGeom>
          <a:solidFill>
            <a:srgbClr val="001142"/>
          </a:solidFill>
          <a:ln>
            <a:noFill/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4" name="b12"/>
          <p:cNvSpPr txBox="1"/>
          <p:nvPr/>
        </p:nvSpPr>
        <p:spPr>
          <a:xfrm>
            <a:off x="8610600" y="1854200"/>
            <a:ext cx="3022600" cy="1397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2110"/>
              </a:lnSpc>
            </a:pPr>
            <a:r>
              <a:rPr lang="en-US" sz="1600" b="1" noProof="1">
                <a:solidFill>
                  <a:srgbClr val="001142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即时沟通</a:t>
            </a:r>
            <a:r>
              <a:rPr lang="en-US" sz="1600" noProof="1">
                <a:solidFill>
                  <a:srgbClr val="00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：微信群进行日常高频沟通与阻塞问题即时反馈</a:t>
            </a:r>
            <a:endParaRPr lang="en-US" sz="1600" noProof="1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5" name="sep5"/>
          <p:cNvSpPr/>
          <p:nvPr/>
        </p:nvSpPr>
        <p:spPr>
          <a:xfrm>
            <a:off x="8610600" y="3403600"/>
            <a:ext cx="3022600" cy="12700"/>
          </a:xfrm>
          <a:prstGeom prst="rect">
            <a:avLst/>
          </a:prstGeom>
          <a:solidFill>
            <a:srgbClr val="C2E6FF"/>
          </a:solidFill>
          <a:ln>
            <a:noFill/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6" name="m8"/>
          <p:cNvSpPr/>
          <p:nvPr/>
        </p:nvSpPr>
        <p:spPr>
          <a:xfrm>
            <a:off x="8432800" y="3530600"/>
            <a:ext cx="88900" cy="88900"/>
          </a:xfrm>
          <a:prstGeom prst="rect">
            <a:avLst/>
          </a:prstGeom>
          <a:solidFill>
            <a:srgbClr val="001142"/>
          </a:solidFill>
          <a:ln>
            <a:noFill/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7" name="b13"/>
          <p:cNvSpPr txBox="1"/>
          <p:nvPr/>
        </p:nvSpPr>
        <p:spPr>
          <a:xfrm>
            <a:off x="8610600" y="3454400"/>
            <a:ext cx="3022600" cy="1397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2110"/>
              </a:lnSpc>
            </a:pPr>
            <a:r>
              <a:rPr lang="en-US" sz="1600" b="1" noProof="1">
                <a:solidFill>
                  <a:srgbClr val="001142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定期对齐</a:t>
            </a:r>
            <a:r>
              <a:rPr lang="en-US" sz="1600" noProof="1">
                <a:solidFill>
                  <a:srgbClr val="00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：每周定期线下/</a:t>
            </a:r>
            <a:r>
              <a:rPr lang="zh-CN" altLang="en-US" sz="1600" noProof="1">
                <a:solidFill>
                  <a:srgbClr val="00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线上</a:t>
            </a:r>
            <a:r>
              <a:rPr lang="en-US" sz="1600" noProof="1">
                <a:solidFill>
                  <a:srgbClr val="00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例会，同步进展并进行接口联调</a:t>
            </a:r>
            <a:endParaRPr lang="en-US" sz="1600" noProof="1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8" name="pageno"/>
          <p:cNvSpPr txBox="1"/>
          <p:nvPr/>
        </p:nvSpPr>
        <p:spPr>
          <a:xfrm>
            <a:off x="381000" y="6477000"/>
            <a:ext cx="762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080"/>
              </a:lnSpc>
            </a:pPr>
            <a:r>
              <a:rPr lang="en-US" sz="1050" noProof="1">
                <a:solidFill>
                  <a:srgbClr val="007ACC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381000" y="0"/>
            <a:ext cx="11430000" cy="762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" name="rail"/>
          <p:cNvSpPr txBox="1"/>
          <p:nvPr/>
        </p:nvSpPr>
        <p:spPr>
          <a:xfrm>
            <a:off x="546100" y="464185"/>
            <a:ext cx="2794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080"/>
              </a:lnSpc>
            </a:pPr>
            <a:r>
              <a:rPr lang="en-US" sz="1600" kern="0" spc="100" noProof="1">
                <a:solidFill>
                  <a:srgbClr val="007ACC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04 · 风险与保障机制</a:t>
            </a:r>
          </a:p>
        </p:txBody>
      </p:sp>
      <p:sp>
        <p:nvSpPr>
          <p:cNvPr id="5" name="leftPanel"/>
          <p:cNvSpPr/>
          <p:nvPr/>
        </p:nvSpPr>
        <p:spPr>
          <a:xfrm>
            <a:off x="546100" y="840740"/>
            <a:ext cx="10831830" cy="4986020"/>
          </a:xfrm>
          <a:prstGeom prst="rect">
            <a:avLst/>
          </a:prstGeom>
          <a:solidFill>
            <a:srgbClr val="F0F8FF"/>
          </a:solidFill>
          <a:ln w="12700">
            <a:solidFill>
              <a:srgbClr val="C2E6FF"/>
            </a:solidFill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7" name="lrule1"/>
          <p:cNvSpPr/>
          <p:nvPr/>
        </p:nvSpPr>
        <p:spPr>
          <a:xfrm>
            <a:off x="896831" y="1761490"/>
            <a:ext cx="4165600" cy="12700"/>
          </a:xfrm>
          <a:prstGeom prst="rect">
            <a:avLst/>
          </a:prstGeom>
          <a:solidFill>
            <a:srgbClr val="C2E6FF"/>
          </a:solidFill>
          <a:ln>
            <a:noFill/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2" name="b7"/>
          <p:cNvSpPr txBox="1"/>
          <p:nvPr/>
        </p:nvSpPr>
        <p:spPr>
          <a:xfrm>
            <a:off x="896831" y="1174750"/>
            <a:ext cx="62611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560"/>
              </a:lnSpc>
            </a:pPr>
            <a:r>
              <a:rPr lang="en-US" sz="2400" b="1" noProof="1">
                <a:solidFill>
                  <a:srgbClr val="001142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风险与应对策略</a:t>
            </a:r>
          </a:p>
        </p:txBody>
      </p:sp>
      <p:sp>
        <p:nvSpPr>
          <p:cNvPr id="24" name="w1"/>
          <p:cNvSpPr/>
          <p:nvPr/>
        </p:nvSpPr>
        <p:spPr>
          <a:xfrm>
            <a:off x="904239" y="2019300"/>
            <a:ext cx="101813" cy="43180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txBody>
          <a:bodyPr/>
          <a:lstStyle/>
          <a:p>
            <a:endParaRPr lang="zh-CN" altLang="en-US" sz="28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5" name="b8"/>
          <p:cNvSpPr txBox="1"/>
          <p:nvPr/>
        </p:nvSpPr>
        <p:spPr>
          <a:xfrm>
            <a:off x="1107440" y="1968500"/>
            <a:ext cx="9712960" cy="825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2110"/>
              </a:lnSpc>
            </a:pPr>
            <a:r>
              <a:rPr lang="en-US" sz="1600" b="1" noProof="1">
                <a:solidFill>
                  <a:srgbClr val="001142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风险 1 · 状态关系判定效果不达预期</a:t>
            </a:r>
            <a:r>
              <a:rPr lang="en-US" sz="1600" noProof="1">
                <a:solidFill>
                  <a:srgbClr val="0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：</a:t>
            </a:r>
            <a:r>
              <a:rPr lang="en-US" sz="1600" noProof="1">
                <a:solidFill>
                  <a:srgbClr val="007ACC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关键路径成员只做核心算法，不承担辅助工作；先跑通机制再调优效果</a:t>
            </a:r>
            <a:endParaRPr lang="en-US" sz="1600" noProof="1">
              <a:latin typeface="黑体" panose="02010609060101010101" pitchFamily="49" charset="-122"/>
              <a:ea typeface="黑体" panose="02010609060101010101" pitchFamily="49" charset="-122"/>
              <a:cs typeface="宋体" charset="0"/>
            </a:endParaRPr>
          </a:p>
        </p:txBody>
      </p:sp>
      <p:sp>
        <p:nvSpPr>
          <p:cNvPr id="26" name="w2"/>
          <p:cNvSpPr/>
          <p:nvPr/>
        </p:nvSpPr>
        <p:spPr>
          <a:xfrm>
            <a:off x="904239" y="2971800"/>
            <a:ext cx="101813" cy="43180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txBody>
          <a:bodyPr/>
          <a:lstStyle/>
          <a:p>
            <a:endParaRPr lang="zh-CN" altLang="en-US" sz="28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7" name="b9"/>
          <p:cNvSpPr txBox="1"/>
          <p:nvPr/>
        </p:nvSpPr>
        <p:spPr>
          <a:xfrm>
            <a:off x="1107440" y="2921000"/>
            <a:ext cx="9712960" cy="825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2110"/>
              </a:lnSpc>
            </a:pPr>
            <a:r>
              <a:rPr lang="en-US" sz="1600" b="1" noProof="1">
                <a:solidFill>
                  <a:srgbClr val="001142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风险 2 · 检索召回不足放大下游错误</a:t>
            </a:r>
            <a:r>
              <a:rPr lang="en-US" sz="1600" noProof="1">
                <a:solidFill>
                  <a:srgbClr val="0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：</a:t>
            </a:r>
            <a:r>
              <a:rPr lang="en-US" sz="1600" noProof="1">
                <a:solidFill>
                  <a:srgbClr val="007ACC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设计多路检索并做去重合并，用 Recall@K 单独监控检索环节</a:t>
            </a:r>
            <a:endParaRPr lang="en-US" sz="1600" noProof="1">
              <a:latin typeface="黑体" panose="02010609060101010101" pitchFamily="49" charset="-122"/>
              <a:ea typeface="黑体" panose="02010609060101010101" pitchFamily="49" charset="-122"/>
              <a:cs typeface="宋体" charset="0"/>
            </a:endParaRPr>
          </a:p>
        </p:txBody>
      </p:sp>
      <p:sp>
        <p:nvSpPr>
          <p:cNvPr id="29" name="b10"/>
          <p:cNvSpPr txBox="1"/>
          <p:nvPr/>
        </p:nvSpPr>
        <p:spPr>
          <a:xfrm>
            <a:off x="1107440" y="3873500"/>
            <a:ext cx="9712960" cy="825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2110"/>
              </a:lnSpc>
            </a:pPr>
            <a:r>
              <a:rPr lang="en-US" sz="1600" b="1" noProof="1">
                <a:solidFill>
                  <a:srgbClr val="001142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风险 3 · 6 周内完成五个里程碑时间紧</a:t>
            </a:r>
            <a:r>
              <a:rPr lang="en-US" sz="1600" noProof="1">
                <a:solidFill>
                  <a:srgbClr val="0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：</a:t>
            </a:r>
            <a:r>
              <a:rPr lang="en-US" sz="1600" noProof="1">
                <a:solidFill>
                  <a:srgbClr val="007ACC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每个里程碑两轮迭代 ＋ 独立缓冲；功能优先跑通端到端</a:t>
            </a:r>
            <a:endParaRPr lang="en-US" sz="1600" noProof="1">
              <a:latin typeface="黑体" panose="02010609060101010101" pitchFamily="49" charset="-122"/>
              <a:ea typeface="黑体" panose="02010609060101010101" pitchFamily="49" charset="-122"/>
              <a:cs typeface="宋体" charset="0"/>
            </a:endParaRPr>
          </a:p>
        </p:txBody>
      </p:sp>
      <p:sp>
        <p:nvSpPr>
          <p:cNvPr id="31" name="b11"/>
          <p:cNvSpPr txBox="1"/>
          <p:nvPr/>
        </p:nvSpPr>
        <p:spPr>
          <a:xfrm>
            <a:off x="1107440" y="4826000"/>
            <a:ext cx="9712960" cy="825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2110"/>
              </a:lnSpc>
            </a:pPr>
            <a:r>
              <a:rPr lang="en-US" sz="1600" b="1" noProof="1">
                <a:solidFill>
                  <a:srgbClr val="001142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风险 4 · 课程评测所用对话不公开</a:t>
            </a:r>
            <a:r>
              <a:rPr lang="en-US" sz="1600" noProof="1">
                <a:solidFill>
                  <a:srgbClr val="0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：</a:t>
            </a:r>
            <a:r>
              <a:rPr lang="en-US" sz="1600" noProof="1">
                <a:solidFill>
                  <a:srgbClr val="007ACC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charset="0"/>
              </a:rPr>
              <a:t>严格不使用 gold evidence 与答案，规则保持通用</a:t>
            </a:r>
            <a:endParaRPr lang="en-US" sz="1600" noProof="1">
              <a:latin typeface="黑体" panose="02010609060101010101" pitchFamily="49" charset="-122"/>
              <a:ea typeface="黑体" panose="02010609060101010101" pitchFamily="49" charset="-122"/>
              <a:cs typeface="宋体" charset="0"/>
            </a:endParaRPr>
          </a:p>
        </p:txBody>
      </p:sp>
      <p:sp>
        <p:nvSpPr>
          <p:cNvPr id="32" name="pageno"/>
          <p:cNvSpPr txBox="1"/>
          <p:nvPr/>
        </p:nvSpPr>
        <p:spPr>
          <a:xfrm>
            <a:off x="381000" y="6477000"/>
            <a:ext cx="762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080"/>
              </a:lnSpc>
            </a:pPr>
            <a:r>
              <a:rPr lang="en-US" sz="1050" noProof="1">
                <a:solidFill>
                  <a:srgbClr val="7FA8D4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09</a:t>
            </a:r>
          </a:p>
        </p:txBody>
      </p:sp>
      <p:sp>
        <p:nvSpPr>
          <p:cNvPr id="33" name="w1">
            <a:extLst>
              <a:ext uri="{FF2B5EF4-FFF2-40B4-BE49-F238E27FC236}">
                <a16:creationId xmlns:a16="http://schemas.microsoft.com/office/drawing/2014/main" id="{B2D9ED9C-E17E-6DEE-3782-90F6F7CB92B4}"/>
              </a:ext>
            </a:extLst>
          </p:cNvPr>
          <p:cNvSpPr/>
          <p:nvPr/>
        </p:nvSpPr>
        <p:spPr>
          <a:xfrm>
            <a:off x="914399" y="3837940"/>
            <a:ext cx="101813" cy="43180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txBody>
          <a:bodyPr/>
          <a:lstStyle/>
          <a:p>
            <a:endParaRPr lang="zh-CN" altLang="en-US" sz="28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4" name="w1">
            <a:extLst>
              <a:ext uri="{FF2B5EF4-FFF2-40B4-BE49-F238E27FC236}">
                <a16:creationId xmlns:a16="http://schemas.microsoft.com/office/drawing/2014/main" id="{4FB27FF7-0D8A-0B75-59AA-E55645409960}"/>
              </a:ext>
            </a:extLst>
          </p:cNvPr>
          <p:cNvSpPr/>
          <p:nvPr/>
        </p:nvSpPr>
        <p:spPr>
          <a:xfrm>
            <a:off x="914504" y="4790440"/>
            <a:ext cx="101813" cy="43180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txBody>
          <a:bodyPr/>
          <a:lstStyle/>
          <a:p>
            <a:endParaRPr lang="zh-CN" altLang="en-US" sz="28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C05D95-A18F-B981-9DA0-3B750297A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>
            <a:extLst>
              <a:ext uri="{FF2B5EF4-FFF2-40B4-BE49-F238E27FC236}">
                <a16:creationId xmlns:a16="http://schemas.microsoft.com/office/drawing/2014/main" id="{6DD7B4F8-72FF-4C33-C6FE-2A3AE5203C8E}"/>
              </a:ext>
            </a:extLst>
          </p:cNvPr>
          <p:cNvSpPr/>
          <p:nvPr/>
        </p:nvSpPr>
        <p:spPr>
          <a:xfrm>
            <a:off x="381000" y="0"/>
            <a:ext cx="11430000" cy="762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leftPanel">
            <a:extLst>
              <a:ext uri="{FF2B5EF4-FFF2-40B4-BE49-F238E27FC236}">
                <a16:creationId xmlns:a16="http://schemas.microsoft.com/office/drawing/2014/main" id="{2F0B54BC-E940-8C5E-C3D7-C02E0E4971C5}"/>
              </a:ext>
            </a:extLst>
          </p:cNvPr>
          <p:cNvSpPr/>
          <p:nvPr/>
        </p:nvSpPr>
        <p:spPr>
          <a:xfrm>
            <a:off x="546100" y="840740"/>
            <a:ext cx="10831830" cy="4986020"/>
          </a:xfrm>
          <a:prstGeom prst="rect">
            <a:avLst/>
          </a:prstGeom>
          <a:solidFill>
            <a:srgbClr val="F0F8FF"/>
          </a:solidFill>
          <a:ln w="12700">
            <a:solidFill>
              <a:srgbClr val="C2E6FF"/>
            </a:solidFill>
          </a:ln>
        </p:spPr>
        <p:txBody>
          <a:bodyPr/>
          <a:lstStyle/>
          <a:p>
            <a:endParaRPr lang="zh-CN" altLang="en-US" sz="2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2" name="b7">
            <a:extLst>
              <a:ext uri="{FF2B5EF4-FFF2-40B4-BE49-F238E27FC236}">
                <a16:creationId xmlns:a16="http://schemas.microsoft.com/office/drawing/2014/main" id="{D1504D11-A7A4-7640-6319-8B49963419C6}"/>
              </a:ext>
            </a:extLst>
          </p:cNvPr>
          <p:cNvSpPr txBox="1"/>
          <p:nvPr/>
        </p:nvSpPr>
        <p:spPr>
          <a:xfrm>
            <a:off x="4784195" y="3168650"/>
            <a:ext cx="2623609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560"/>
              </a:lnSpc>
            </a:pPr>
            <a:r>
              <a:rPr lang="en-US" altLang="zh-CN" sz="6600" b="1" noProof="1">
                <a:solidFill>
                  <a:srgbClr val="0070C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Thanks</a:t>
            </a:r>
            <a:endParaRPr lang="en-US" sz="6600" b="1" noProof="1">
              <a:solidFill>
                <a:srgbClr val="0070C0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2" name="pageno">
            <a:extLst>
              <a:ext uri="{FF2B5EF4-FFF2-40B4-BE49-F238E27FC236}">
                <a16:creationId xmlns:a16="http://schemas.microsoft.com/office/drawing/2014/main" id="{F48E0A07-8F3B-ED71-D36D-03C805150F59}"/>
              </a:ext>
            </a:extLst>
          </p:cNvPr>
          <p:cNvSpPr txBox="1"/>
          <p:nvPr/>
        </p:nvSpPr>
        <p:spPr>
          <a:xfrm>
            <a:off x="381000" y="6477000"/>
            <a:ext cx="762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080"/>
              </a:lnSpc>
            </a:pPr>
            <a:r>
              <a:rPr lang="en-US" sz="1050" noProof="1">
                <a:solidFill>
                  <a:srgbClr val="7FA8D4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09</a:t>
            </a:r>
          </a:p>
        </p:txBody>
      </p:sp>
      <p:sp>
        <p:nvSpPr>
          <p:cNvPr id="6" name="col1head">
            <a:extLst>
              <a:ext uri="{FF2B5EF4-FFF2-40B4-BE49-F238E27FC236}">
                <a16:creationId xmlns:a16="http://schemas.microsoft.com/office/drawing/2014/main" id="{5D71F18C-4AA3-7DE1-79D3-3A47D5D0BE1E}"/>
              </a:ext>
            </a:extLst>
          </p:cNvPr>
          <p:cNvSpPr/>
          <p:nvPr/>
        </p:nvSpPr>
        <p:spPr>
          <a:xfrm>
            <a:off x="4317999" y="3608070"/>
            <a:ext cx="3556000" cy="431800"/>
          </a:xfrm>
          <a:prstGeom prst="rect">
            <a:avLst/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endParaRPr lang="zh-CN" altLang="en-US" sz="24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C7BAA3C-76B7-4294-0DB1-25600F9A14F0}"/>
              </a:ext>
            </a:extLst>
          </p:cNvPr>
          <p:cNvSpPr txBox="1"/>
          <p:nvPr/>
        </p:nvSpPr>
        <p:spPr>
          <a:xfrm>
            <a:off x="5369533" y="3732310"/>
            <a:ext cx="1184963" cy="306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</a:pPr>
            <a:r>
              <a:rPr lang="en-US" altLang="zh-CN" sz="2400" b="1" noProof="1">
                <a:solidFill>
                  <a:schemeClr val="accent1">
                    <a:lumMod val="7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6767</a:t>
            </a:r>
            <a:r>
              <a:rPr lang="zh-CN" altLang="en-US" sz="2400" b="1" noProof="1">
                <a:solidFill>
                  <a:schemeClr val="accent1">
                    <a:lumMod val="7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组</a:t>
            </a:r>
            <a:endParaRPr lang="en-US" altLang="zh-CN" sz="2400" b="1" noProof="1">
              <a:solidFill>
                <a:schemeClr val="accent1">
                  <a:lumMod val="7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78056257"/>
      </p:ext>
    </p:extLst>
  </p:cSld>
  <p:clrMapOvr>
    <a:masterClrMapping/>
  </p:clrMapOvr>
</p:sld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</TotalTime>
  <Words>2316</Words>
  <Application>Microsoft Macintosh PowerPoint</Application>
  <PresentationFormat>宽屏</PresentationFormat>
  <Paragraphs>198</Paragraphs>
  <Slides>10</Slides>
  <Notes>7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4" baseType="lpstr">
      <vt:lpstr>黑体</vt:lpstr>
      <vt:lpstr>黑体</vt:lpstr>
      <vt:lpstr>等线</vt:lpstr>
      <vt:lpstr>PPTD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Chenyyyyyy</cp:lastModifiedBy>
  <cp:revision>19</cp:revision>
  <dcterms:created xsi:type="dcterms:W3CDTF">2026-10-08T12:58:55Z</dcterms:created>
  <dcterms:modified xsi:type="dcterms:W3CDTF">2026-10-08T15:50:28Z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/>
  </property>
  <property fmtid="{D5CDD505-2E9C-101B-9397-08002B2CF9AE}" pid="3" name="KSOProductBuildVer">
    <vt:lpwstr>2052-12.1.24031.24031</vt:lpwstr>
  </property>
  <property fmtid="{D5CDD505-2E9C-101B-9397-08002B2CF9AE}" pid="4" name="ICV">
    <vt:lpwstr>607B740B1D9B76CF8F93C76AC21F589F_43</vt:lpwstr>
  </property>
</Properties>
</file>