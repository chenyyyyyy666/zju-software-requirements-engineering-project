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12192000" cy="6858000"/>
  <p:embeddedFontLst>
    <p:embeddedFont>
      <p:font typeface="Liter" panose="02000503030000020004"/>
      <p:regular r:id="rId16"/>
    </p:embeddedFont>
    <p:embeddedFont>
      <p:font typeface="MiSans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font" Target="fonts/font2.fntdata"/><Relationship Id="rId16" Type="http://schemas.openxmlformats.org/officeDocument/2006/relationships/font" Target="fonts/font1.fntdata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381000" y="0"/>
            <a:ext cx="11430000" cy="762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3" name="b1"/>
          <p:cNvSpPr txBox="1"/>
          <p:nvPr/>
        </p:nvSpPr>
        <p:spPr>
          <a:xfrm>
            <a:off x="381000" y="2006600"/>
            <a:ext cx="889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320"/>
              </a:lnSpc>
            </a:pPr>
            <a:r>
              <a:rPr lang="en-US" sz="1100" kern="0" spc="250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PROJECT PROPOSAL · 课程项目开题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4" name="b2"/>
          <p:cNvSpPr txBox="1"/>
          <p:nvPr/>
        </p:nvSpPr>
        <p:spPr>
          <a:xfrm>
            <a:off x="381000" y="2387600"/>
            <a:ext cx="9652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4915"/>
              </a:lnSpc>
            </a:pPr>
            <a:r>
              <a:rPr lang="en-US" sz="32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基于长程对话的结构化记忆与</a:t>
            </a:r>
            <a:endParaRPr lang="en-US" sz="3200" noProof="1">
              <a:latin typeface="宋体" charset="0"/>
              <a:ea typeface="宋体" charset="0"/>
            </a:endParaRPr>
          </a:p>
          <a:p>
            <a:pPr algn="l">
              <a:lnSpc>
                <a:spcPts val="4915"/>
              </a:lnSpc>
            </a:pPr>
            <a:r>
              <a:rPr lang="en-US" sz="32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动态状态解析大模型问答系统</a:t>
            </a:r>
            <a:endParaRPr lang="en-US" sz="3200" noProof="1">
              <a:latin typeface="宋体" charset="0"/>
              <a:ea typeface="宋体" charset="0"/>
            </a:endParaRPr>
          </a:p>
        </p:txBody>
      </p:sp>
      <p:sp>
        <p:nvSpPr>
          <p:cNvPr id="5" name="b2rule"/>
          <p:cNvSpPr/>
          <p:nvPr/>
        </p:nvSpPr>
        <p:spPr>
          <a:xfrm>
            <a:off x="381000" y="3683000"/>
            <a:ext cx="7620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6" name="b3"/>
          <p:cNvSpPr txBox="1"/>
          <p:nvPr/>
        </p:nvSpPr>
        <p:spPr>
          <a:xfrm>
            <a:off x="381000" y="3886200"/>
            <a:ext cx="9652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800"/>
              </a:lnSpc>
            </a:pPr>
            <a:r>
              <a:rPr lang="en-US" sz="1500" noProof="1">
                <a:solidFill>
                  <a:srgbClr val="001142"/>
                </a:solidFill>
                <a:latin typeface="宋体" charset="0"/>
                <a:ea typeface="宋体" charset="0"/>
              </a:rPr>
              <a:t>解决历史状态失效与过期召回，实现精准可靠的长程多轮问答</a:t>
            </a:r>
            <a:endParaRPr lang="en-US" sz="1500" noProof="1">
              <a:latin typeface="宋体" charset="0"/>
              <a:ea typeface="宋体" charset="0"/>
            </a:endParaRPr>
          </a:p>
        </p:txBody>
      </p:sp>
      <p:sp>
        <p:nvSpPr>
          <p:cNvPr id="7" name="metaline"/>
          <p:cNvSpPr/>
          <p:nvPr/>
        </p:nvSpPr>
        <p:spPr>
          <a:xfrm>
            <a:off x="609600" y="4978400"/>
            <a:ext cx="109728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</p:sp>
      <p:sp>
        <p:nvSpPr>
          <p:cNvPr id="8" name="vrule1"/>
          <p:cNvSpPr/>
          <p:nvPr/>
        </p:nvSpPr>
        <p:spPr>
          <a:xfrm>
            <a:off x="3352800" y="5181600"/>
            <a:ext cx="12700" cy="1117600"/>
          </a:xfrm>
          <a:prstGeom prst="rect">
            <a:avLst/>
          </a:prstGeom>
          <a:solidFill>
            <a:srgbClr val="C2E6FF"/>
          </a:solidFill>
          <a:ln>
            <a:noFill/>
          </a:ln>
        </p:spPr>
      </p:sp>
      <p:sp>
        <p:nvSpPr>
          <p:cNvPr id="9" name="vrule2"/>
          <p:cNvSpPr/>
          <p:nvPr/>
        </p:nvSpPr>
        <p:spPr>
          <a:xfrm>
            <a:off x="6096000" y="5181600"/>
            <a:ext cx="12700" cy="1117600"/>
          </a:xfrm>
          <a:prstGeom prst="rect">
            <a:avLst/>
          </a:prstGeom>
          <a:solidFill>
            <a:srgbClr val="C2E6FF"/>
          </a:solidFill>
          <a:ln>
            <a:noFill/>
          </a:ln>
        </p:spPr>
      </p:sp>
      <p:sp>
        <p:nvSpPr>
          <p:cNvPr id="10" name="vrule3"/>
          <p:cNvSpPr/>
          <p:nvPr/>
        </p:nvSpPr>
        <p:spPr>
          <a:xfrm>
            <a:off x="8839200" y="5181600"/>
            <a:ext cx="12700" cy="1117600"/>
          </a:xfrm>
          <a:prstGeom prst="rect">
            <a:avLst/>
          </a:prstGeom>
          <a:solidFill>
            <a:srgbClr val="C2E6FF"/>
          </a:solidFill>
          <a:ln>
            <a:noFill/>
          </a:ln>
        </p:spPr>
      </p:sp>
      <p:sp>
        <p:nvSpPr>
          <p:cNvPr id="11" name="m1lab"/>
          <p:cNvSpPr txBox="1"/>
          <p:nvPr/>
        </p:nvSpPr>
        <p:spPr>
          <a:xfrm>
            <a:off x="609600" y="51562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kern="0" spc="150" noProof="1">
                <a:solidFill>
                  <a:srgbClr val="007ACC"/>
                </a:solidFill>
                <a:latin typeface="Liter" panose="02000503030000020004"/>
                <a:ea typeface="Liter" panose="02000503030000020004"/>
              </a:rPr>
              <a:t>TEAM</a:t>
            </a:r>
            <a:endParaRPr lang="en-US" sz="900" noProof="1"/>
          </a:p>
        </p:txBody>
      </p:sp>
      <p:sp>
        <p:nvSpPr>
          <p:cNvPr id="12" name="m1"/>
          <p:cNvSpPr txBox="1"/>
          <p:nvPr/>
        </p:nvSpPr>
        <p:spPr>
          <a:xfrm>
            <a:off x="609600" y="5435600"/>
            <a:ext cx="2540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80"/>
              </a:lnSpc>
            </a:pP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汇报</a:t>
            </a:r>
            <a:r>
              <a:rPr lang="zh-CN" alt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人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：陈易 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3" name="m2lab"/>
          <p:cNvSpPr txBox="1"/>
          <p:nvPr/>
        </p:nvSpPr>
        <p:spPr>
          <a:xfrm>
            <a:off x="3556000" y="51562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kern="0" spc="150" noProof="1">
                <a:solidFill>
                  <a:srgbClr val="007ACC"/>
                </a:solidFill>
                <a:latin typeface="Liter" panose="02000503030000020004"/>
                <a:ea typeface="Liter" panose="02000503030000020004"/>
              </a:rPr>
              <a:t>BENCHMARK</a:t>
            </a:r>
            <a:endParaRPr lang="en-US" sz="900" noProof="1"/>
          </a:p>
        </p:txBody>
      </p:sp>
      <p:sp>
        <p:nvSpPr>
          <p:cNvPr id="14" name="m2"/>
          <p:cNvSpPr txBox="1"/>
          <p:nvPr/>
        </p:nvSpPr>
        <p:spPr>
          <a:xfrm>
            <a:off x="3556000" y="5435600"/>
            <a:ext cx="2540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80"/>
              </a:lnSpc>
            </a:pP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评测基准：LoCoMo 6 段长对话数据集（4 段开发 / 2 段独立测试）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5" name="m3lab"/>
          <p:cNvSpPr txBox="1"/>
          <p:nvPr/>
        </p:nvSpPr>
        <p:spPr>
          <a:xfrm>
            <a:off x="6299200" y="51562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kern="0" spc="150" noProof="1">
                <a:solidFill>
                  <a:srgbClr val="007ACC"/>
                </a:solidFill>
                <a:latin typeface="Liter" panose="02000503030000020004"/>
                <a:ea typeface="Liter" panose="02000503030000020004"/>
              </a:rPr>
              <a:t>MECHANISM</a:t>
            </a:r>
            <a:endParaRPr lang="en-US" sz="900" noProof="1"/>
          </a:p>
        </p:txBody>
      </p:sp>
      <p:sp>
        <p:nvSpPr>
          <p:cNvPr id="16" name="m3"/>
          <p:cNvSpPr txBox="1"/>
          <p:nvPr/>
        </p:nvSpPr>
        <p:spPr>
          <a:xfrm>
            <a:off x="6299200" y="5435600"/>
            <a:ext cx="2540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80"/>
              </a:lnSpc>
            </a:pP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核心机制：多路检索 ＋ RETAIN / UPDATE / SUPERSEDE / CONFLICT 状态判定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7" name="m4lab"/>
          <p:cNvSpPr txBox="1"/>
          <p:nvPr/>
        </p:nvSpPr>
        <p:spPr>
          <a:xfrm>
            <a:off x="9042400" y="51562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kern="0" spc="150" noProof="1">
                <a:solidFill>
                  <a:srgbClr val="007ACC"/>
                </a:solidFill>
                <a:latin typeface="Liter" panose="02000503030000020004"/>
                <a:ea typeface="Liter" panose="02000503030000020004"/>
              </a:rPr>
              <a:t>DELIVERABLE</a:t>
            </a:r>
            <a:endParaRPr lang="en-US" sz="900" noProof="1"/>
          </a:p>
        </p:txBody>
      </p:sp>
      <p:sp>
        <p:nvSpPr>
          <p:cNvPr id="18" name="m4"/>
          <p:cNvSpPr txBox="1"/>
          <p:nvPr/>
        </p:nvSpPr>
        <p:spPr>
          <a:xfrm>
            <a:off x="9042400" y="5435600"/>
            <a:ext cx="2540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80"/>
              </a:lnSpc>
            </a:pP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交付目标：端到端问答系统 · 结构化 Memory JSON · 三指标评测报告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9" name="pageno"/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noProof="1">
                <a:solidFill>
                  <a:srgbClr val="007ACC"/>
                </a:solidFill>
                <a:latin typeface="Liter" panose="02000503030000020004"/>
                <a:ea typeface="Liter" panose="02000503030000020004"/>
              </a:rPr>
              <a:t>01</a:t>
            </a:r>
            <a:endParaRPr lang="en-US" sz="9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 txBox="1"/>
          <p:nvPr/>
        </p:nvSpPr>
        <p:spPr>
          <a:xfrm>
            <a:off x="508000" y="254000"/>
            <a:ext cx="279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kern="0" spc="100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00 · 目录导航</a:t>
            </a:r>
            <a:endParaRPr lang="en-US" sz="9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3" name="b1"/>
          <p:cNvSpPr txBox="1"/>
          <p:nvPr/>
        </p:nvSpPr>
        <p:spPr>
          <a:xfrm>
            <a:off x="508000" y="9652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320"/>
              </a:lnSpc>
            </a:pPr>
            <a:r>
              <a:rPr lang="en-US" sz="1100" kern="0" spc="300" noProof="1">
                <a:solidFill>
                  <a:srgbClr val="007ACC"/>
                </a:solidFill>
                <a:latin typeface="宋体" charset="0"/>
                <a:ea typeface="宋体" charset="0"/>
              </a:rPr>
              <a:t>CONTENTS</a:t>
            </a:r>
            <a:endParaRPr lang="en-US" sz="1100" noProof="1">
              <a:latin typeface="宋体" charset="0"/>
              <a:ea typeface="宋体" charset="0"/>
            </a:endParaRPr>
          </a:p>
        </p:txBody>
      </p:sp>
      <p:sp>
        <p:nvSpPr>
          <p:cNvPr id="4" name="b2"/>
          <p:cNvSpPr txBox="1"/>
          <p:nvPr/>
        </p:nvSpPr>
        <p:spPr>
          <a:xfrm>
            <a:off x="508000" y="1244600"/>
            <a:ext cx="889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200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汇报目录 · 项目全景一览</a:t>
            </a:r>
            <a:endParaRPr lang="en-US" sz="20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5" name="card1"/>
          <p:cNvSpPr/>
          <p:nvPr/>
        </p:nvSpPr>
        <p:spPr>
          <a:xfrm>
            <a:off x="508000" y="2032000"/>
            <a:ext cx="5461000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  <a:effectLst>
            <a:outerShdw blurRad="101600" dist="25400" dir="5400000" algn="bl" rotWithShape="0">
              <a:srgbClr val="001142">
                <a:alpha val="7843"/>
              </a:srgbClr>
            </a:outerShdw>
          </a:effectLst>
        </p:spPr>
      </p:sp>
      <p:sp>
        <p:nvSpPr>
          <p:cNvPr id="6" name="card1bar"/>
          <p:cNvSpPr/>
          <p:nvPr/>
        </p:nvSpPr>
        <p:spPr>
          <a:xfrm>
            <a:off x="508000" y="2032000"/>
            <a:ext cx="50800" cy="20320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7" name="b3"/>
          <p:cNvSpPr txBox="1"/>
          <p:nvPr/>
        </p:nvSpPr>
        <p:spPr>
          <a:xfrm>
            <a:off x="736600" y="2032000"/>
            <a:ext cx="1016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3360"/>
              </a:lnSpc>
            </a:pPr>
            <a:r>
              <a:rPr lang="en-US" sz="2800" b="1" noProof="1">
                <a:solidFill>
                  <a:srgbClr val="007ACC"/>
                </a:solidFill>
                <a:latin typeface="Liter" panose="02000503030000020004"/>
                <a:ea typeface="Liter" panose="02000503030000020004"/>
              </a:rPr>
              <a:t>01</a:t>
            </a:r>
            <a:endParaRPr lang="en-US" sz="2800" noProof="1"/>
          </a:p>
        </p:txBody>
      </p:sp>
      <p:sp>
        <p:nvSpPr>
          <p:cNvPr id="8" name="b4"/>
          <p:cNvSpPr txBox="1"/>
          <p:nvPr/>
        </p:nvSpPr>
        <p:spPr>
          <a:xfrm>
            <a:off x="1905000" y="2540000"/>
            <a:ext cx="381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680"/>
              </a:lnSpc>
            </a:pPr>
            <a:r>
              <a:rPr lang="en-US" sz="14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问题背景与目标范围</a:t>
            </a:r>
            <a:endParaRPr lang="en-US" sz="1400" b="1" noProof="1">
              <a:latin typeface="宋体" charset="0"/>
              <a:ea typeface="宋体" charset="0"/>
            </a:endParaRPr>
          </a:p>
        </p:txBody>
      </p:sp>
      <p:sp>
        <p:nvSpPr>
          <p:cNvPr id="9" name="b5"/>
          <p:cNvSpPr txBox="1"/>
          <p:nvPr/>
        </p:nvSpPr>
        <p:spPr>
          <a:xfrm>
            <a:off x="1905000" y="2971800"/>
            <a:ext cx="381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20"/>
              </a:lnSpc>
            </a:pPr>
            <a:r>
              <a:rPr lang="en-US" sz="1000" noProof="1">
                <a:solidFill>
                  <a:srgbClr val="000000"/>
                </a:solidFill>
                <a:latin typeface="宋体" charset="0"/>
                <a:ea typeface="宋体" charset="0"/>
              </a:rPr>
              <a:t>长程对话状态演化痛点、向量检索失效分析与项目边界控制</a:t>
            </a:r>
            <a:endParaRPr lang="en-US" sz="1000" noProof="1">
              <a:latin typeface="宋体" charset="0"/>
              <a:ea typeface="宋体" charset="0"/>
            </a:endParaRPr>
          </a:p>
        </p:txBody>
      </p:sp>
      <p:sp>
        <p:nvSpPr>
          <p:cNvPr id="10" name="card2"/>
          <p:cNvSpPr/>
          <p:nvPr/>
        </p:nvSpPr>
        <p:spPr>
          <a:xfrm>
            <a:off x="6223000" y="2032000"/>
            <a:ext cx="5461000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  <a:effectLst>
            <a:outerShdw blurRad="101600" dist="25400" dir="5400000" algn="bl" rotWithShape="0">
              <a:srgbClr val="001142">
                <a:alpha val="7843"/>
              </a:srgbClr>
            </a:outerShdw>
          </a:effectLst>
        </p:spPr>
      </p:sp>
      <p:sp>
        <p:nvSpPr>
          <p:cNvPr id="11" name="card2bar"/>
          <p:cNvSpPr/>
          <p:nvPr/>
        </p:nvSpPr>
        <p:spPr>
          <a:xfrm>
            <a:off x="6223000" y="2032000"/>
            <a:ext cx="50800" cy="20320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12" name="b6"/>
          <p:cNvSpPr txBox="1"/>
          <p:nvPr/>
        </p:nvSpPr>
        <p:spPr>
          <a:xfrm>
            <a:off x="6451600" y="2032000"/>
            <a:ext cx="1016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3360"/>
              </a:lnSpc>
            </a:pPr>
            <a:r>
              <a:rPr lang="en-US" sz="2800" b="1" noProof="1">
                <a:solidFill>
                  <a:srgbClr val="007ACC"/>
                </a:solidFill>
                <a:latin typeface="Liter" panose="02000503030000020004"/>
                <a:ea typeface="Liter" panose="02000503030000020004"/>
              </a:rPr>
              <a:t>02</a:t>
            </a:r>
            <a:endParaRPr lang="en-US" sz="2800" noProof="1"/>
          </a:p>
        </p:txBody>
      </p:sp>
      <p:sp>
        <p:nvSpPr>
          <p:cNvPr id="13" name="b7"/>
          <p:cNvSpPr txBox="1"/>
          <p:nvPr/>
        </p:nvSpPr>
        <p:spPr>
          <a:xfrm>
            <a:off x="7620000" y="2540000"/>
            <a:ext cx="381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680"/>
              </a:lnSpc>
            </a:pPr>
            <a:r>
              <a:rPr lang="en-US" sz="14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技术方案与系统架构</a:t>
            </a:r>
            <a:endParaRPr lang="en-US" sz="1400" noProof="1">
              <a:latin typeface="宋体" charset="0"/>
              <a:ea typeface="宋体" charset="0"/>
            </a:endParaRPr>
          </a:p>
        </p:txBody>
      </p:sp>
      <p:sp>
        <p:nvSpPr>
          <p:cNvPr id="14" name="b8"/>
          <p:cNvSpPr txBox="1"/>
          <p:nvPr/>
        </p:nvSpPr>
        <p:spPr>
          <a:xfrm>
            <a:off x="7620000" y="2971800"/>
            <a:ext cx="381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20"/>
              </a:lnSpc>
            </a:pPr>
            <a:r>
              <a:rPr lang="en-US" sz="10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记忆抽取、多路检索(BM25+MiniLM)、动态状态判定与架构设计</a:t>
            </a:r>
            <a:endParaRPr lang="en-US" sz="10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5" name="card3"/>
          <p:cNvSpPr/>
          <p:nvPr/>
        </p:nvSpPr>
        <p:spPr>
          <a:xfrm>
            <a:off x="508000" y="4318000"/>
            <a:ext cx="5461000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  <a:effectLst>
            <a:outerShdw blurRad="101600" dist="25400" dir="5400000" algn="bl" rotWithShape="0">
              <a:srgbClr val="001142">
                <a:alpha val="7843"/>
              </a:srgbClr>
            </a:outerShdw>
          </a:effectLst>
        </p:spPr>
      </p:sp>
      <p:sp>
        <p:nvSpPr>
          <p:cNvPr id="16" name="card3bar"/>
          <p:cNvSpPr/>
          <p:nvPr/>
        </p:nvSpPr>
        <p:spPr>
          <a:xfrm>
            <a:off x="508000" y="4318000"/>
            <a:ext cx="50800" cy="20320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17" name="b9"/>
          <p:cNvSpPr txBox="1"/>
          <p:nvPr/>
        </p:nvSpPr>
        <p:spPr>
          <a:xfrm>
            <a:off x="736600" y="4318000"/>
            <a:ext cx="1016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3360"/>
              </a:lnSpc>
            </a:pPr>
            <a:r>
              <a:rPr lang="en-US" sz="2800" b="1" noProof="1">
                <a:solidFill>
                  <a:srgbClr val="007ACC"/>
                </a:solidFill>
                <a:latin typeface="Liter" panose="02000503030000020004"/>
                <a:ea typeface="Liter" panose="02000503030000020004"/>
              </a:rPr>
              <a:t>03</a:t>
            </a:r>
            <a:endParaRPr lang="en-US" sz="2800" noProof="1"/>
          </a:p>
        </p:txBody>
      </p:sp>
      <p:sp>
        <p:nvSpPr>
          <p:cNvPr id="18" name="b10"/>
          <p:cNvSpPr txBox="1"/>
          <p:nvPr/>
        </p:nvSpPr>
        <p:spPr>
          <a:xfrm>
            <a:off x="1905000" y="4826000"/>
            <a:ext cx="381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680"/>
              </a:lnSpc>
            </a:pPr>
            <a:r>
              <a:rPr lang="en-US" sz="14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评测体系与功能路线</a:t>
            </a:r>
            <a:endParaRPr lang="en-US" sz="1400" noProof="1">
              <a:latin typeface="宋体" charset="0"/>
              <a:ea typeface="宋体" charset="0"/>
            </a:endParaRPr>
          </a:p>
        </p:txBody>
      </p:sp>
      <p:sp>
        <p:nvSpPr>
          <p:cNvPr id="19" name="b11"/>
          <p:cNvSpPr txBox="1"/>
          <p:nvPr/>
        </p:nvSpPr>
        <p:spPr>
          <a:xfrm>
            <a:off x="1905000" y="5257800"/>
            <a:ext cx="381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20"/>
              </a:lnSpc>
            </a:pPr>
            <a:r>
              <a:rPr lang="en-US" sz="10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QA F1 / Recall@K / 状态准确率三指标体系与 MVP 至 V3 阶段规划</a:t>
            </a:r>
            <a:endParaRPr lang="en-US" sz="10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0" name="card4"/>
          <p:cNvSpPr/>
          <p:nvPr/>
        </p:nvSpPr>
        <p:spPr>
          <a:xfrm>
            <a:off x="6223000" y="4318000"/>
            <a:ext cx="5461000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  <a:effectLst>
            <a:outerShdw blurRad="101600" dist="25400" dir="5400000" algn="bl" rotWithShape="0">
              <a:srgbClr val="001142">
                <a:alpha val="7843"/>
              </a:srgbClr>
            </a:outerShdw>
          </a:effectLst>
        </p:spPr>
      </p:sp>
      <p:sp>
        <p:nvSpPr>
          <p:cNvPr id="21" name="card4bar"/>
          <p:cNvSpPr/>
          <p:nvPr/>
        </p:nvSpPr>
        <p:spPr>
          <a:xfrm>
            <a:off x="6223000" y="4318000"/>
            <a:ext cx="50800" cy="20320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22" name="b12"/>
          <p:cNvSpPr txBox="1"/>
          <p:nvPr/>
        </p:nvSpPr>
        <p:spPr>
          <a:xfrm>
            <a:off x="6451600" y="4318000"/>
            <a:ext cx="1016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3360"/>
              </a:lnSpc>
            </a:pPr>
            <a:r>
              <a:rPr lang="en-US" sz="2800" b="1" noProof="1">
                <a:solidFill>
                  <a:srgbClr val="007ACC"/>
                </a:solidFill>
                <a:latin typeface="Liter" panose="02000503030000020004"/>
                <a:ea typeface="Liter" panose="02000503030000020004"/>
              </a:rPr>
              <a:t>04</a:t>
            </a:r>
            <a:endParaRPr lang="en-US" sz="2800" noProof="1"/>
          </a:p>
        </p:txBody>
      </p:sp>
      <p:sp>
        <p:nvSpPr>
          <p:cNvPr id="23" name="b13"/>
          <p:cNvSpPr txBox="1"/>
          <p:nvPr/>
        </p:nvSpPr>
        <p:spPr>
          <a:xfrm>
            <a:off x="7620000" y="4826000"/>
            <a:ext cx="381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680"/>
              </a:lnSpc>
            </a:pPr>
            <a:r>
              <a:rPr lang="en-US" sz="14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团队分工与协作保障</a:t>
            </a:r>
            <a:endParaRPr lang="en-US" sz="1400" b="1" noProof="1">
              <a:latin typeface="宋体" charset="0"/>
              <a:ea typeface="宋体" charset="0"/>
            </a:endParaRPr>
          </a:p>
        </p:txBody>
      </p:sp>
      <p:sp>
        <p:nvSpPr>
          <p:cNvPr id="24" name="b14"/>
          <p:cNvSpPr txBox="1"/>
          <p:nvPr/>
        </p:nvSpPr>
        <p:spPr>
          <a:xfrm>
            <a:off x="7620000" y="5257800"/>
            <a:ext cx="381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20"/>
              </a:lnSpc>
            </a:pPr>
            <a:r>
              <a:rPr lang="en-US" sz="10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五人职责矩阵、Git工程规范、会议机制与风险应对策略</a:t>
            </a:r>
            <a:endParaRPr lang="en-US" sz="10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5" name="pageno"/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noProof="1">
                <a:solidFill>
                  <a:srgbClr val="007ACC"/>
                </a:solidFill>
                <a:latin typeface="Liter" panose="02000503030000020004"/>
                <a:ea typeface="Liter" panose="02000503030000020004"/>
              </a:rPr>
              <a:t>02</a:t>
            </a:r>
            <a:endParaRPr lang="en-US" sz="9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381000" y="0"/>
            <a:ext cx="11430000" cy="762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3" name="rail"/>
          <p:cNvSpPr txBox="1"/>
          <p:nvPr/>
        </p:nvSpPr>
        <p:spPr>
          <a:xfrm>
            <a:off x="381000" y="254000"/>
            <a:ext cx="279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kern="0" spc="100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01 · 问题背景与痛点</a:t>
            </a:r>
            <a:endParaRPr lang="en-US" sz="9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4" name="b2"/>
          <p:cNvSpPr txBox="1"/>
          <p:nvPr/>
        </p:nvSpPr>
        <p:spPr>
          <a:xfrm>
            <a:off x="381000" y="50800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20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长程对话历史状态持续演化，</a:t>
            </a:r>
            <a:r>
              <a:rPr lang="en-US" sz="2000" b="1" noProof="1">
                <a:solidFill>
                  <a:srgbClr val="007ACC"/>
                </a:solidFill>
                <a:latin typeface="宋体" charset="0"/>
                <a:ea typeface="宋体" charset="0"/>
              </a:rPr>
              <a:t>普通向量检索极易引发过期失效</a:t>
            </a:r>
            <a:endParaRPr lang="en-US" sz="2000" b="1" noProof="1">
              <a:latin typeface="宋体" charset="0"/>
              <a:ea typeface="宋体" charset="0"/>
            </a:endParaRPr>
          </a:p>
        </p:txBody>
      </p:sp>
      <p:sp>
        <p:nvSpPr>
          <p:cNvPr id="5" name="b3"/>
          <p:cNvSpPr txBox="1"/>
          <p:nvPr/>
        </p:nvSpPr>
        <p:spPr>
          <a:xfrm>
            <a:off x="381000" y="1168400"/>
            <a:ext cx="5842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sz="1300" b="1" noProof="1">
                <a:solidFill>
                  <a:srgbClr val="007ACC"/>
                </a:solidFill>
                <a:latin typeface="宋体" charset="0"/>
                <a:ea typeface="宋体" charset="0"/>
              </a:rPr>
              <a:t>长程对话的三大核心痛点</a:t>
            </a:r>
            <a:endParaRPr lang="en-US" sz="1300" b="1" noProof="1">
              <a:latin typeface="宋体" charset="0"/>
              <a:ea typeface="宋体" charset="0"/>
            </a:endParaRPr>
          </a:p>
        </p:txBody>
      </p:sp>
      <p:sp>
        <p:nvSpPr>
          <p:cNvPr id="6" name="r1"/>
          <p:cNvSpPr/>
          <p:nvPr/>
        </p:nvSpPr>
        <p:spPr>
          <a:xfrm>
            <a:off x="381000" y="1625600"/>
            <a:ext cx="58420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</p:sp>
      <p:sp>
        <p:nvSpPr>
          <p:cNvPr id="7" name="d1"/>
          <p:cNvSpPr/>
          <p:nvPr/>
        </p:nvSpPr>
        <p:spPr>
          <a:xfrm>
            <a:off x="381000" y="1955800"/>
            <a:ext cx="101600" cy="10160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8" name="b4"/>
          <p:cNvSpPr txBox="1"/>
          <p:nvPr/>
        </p:nvSpPr>
        <p:spPr>
          <a:xfrm>
            <a:off x="609600" y="1803400"/>
            <a:ext cx="56134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状态持续变化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</a:rPr>
              <a:t>：多会话间用户工作、居住、计划与偏好持续更新（如从准备申请到通过面试）</a:t>
            </a:r>
            <a:endParaRPr lang="en-US" sz="1100" noProof="1">
              <a:latin typeface="宋体" charset="0"/>
              <a:ea typeface="宋体" charset="0"/>
            </a:endParaRPr>
          </a:p>
        </p:txBody>
      </p:sp>
      <p:sp>
        <p:nvSpPr>
          <p:cNvPr id="9" name="r2"/>
          <p:cNvSpPr/>
          <p:nvPr/>
        </p:nvSpPr>
        <p:spPr>
          <a:xfrm>
            <a:off x="381000" y="2870200"/>
            <a:ext cx="58420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</p:sp>
      <p:sp>
        <p:nvSpPr>
          <p:cNvPr id="10" name="d2"/>
          <p:cNvSpPr/>
          <p:nvPr/>
        </p:nvSpPr>
        <p:spPr>
          <a:xfrm>
            <a:off x="381000" y="3200400"/>
            <a:ext cx="101600" cy="10160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11" name="b5"/>
          <p:cNvSpPr txBox="1"/>
          <p:nvPr/>
        </p:nvSpPr>
        <p:spPr>
          <a:xfrm>
            <a:off x="609600" y="3048000"/>
            <a:ext cx="56134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新旧难以区分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</a:rPr>
              <a:t>：向量检索按语义相似度召回，同时取出当前状态与已失效历史状态</a:t>
            </a:r>
            <a:endParaRPr lang="en-US" sz="1100" noProof="1">
              <a:latin typeface="宋体" charset="0"/>
              <a:ea typeface="宋体" charset="0"/>
            </a:endParaRPr>
          </a:p>
        </p:txBody>
      </p:sp>
      <p:sp>
        <p:nvSpPr>
          <p:cNvPr id="12" name="r3"/>
          <p:cNvSpPr/>
          <p:nvPr/>
        </p:nvSpPr>
        <p:spPr>
          <a:xfrm>
            <a:off x="381000" y="4114800"/>
            <a:ext cx="58420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</p:sp>
      <p:sp>
        <p:nvSpPr>
          <p:cNvPr id="13" name="d3"/>
          <p:cNvSpPr/>
          <p:nvPr/>
        </p:nvSpPr>
        <p:spPr>
          <a:xfrm>
            <a:off x="381000" y="4445000"/>
            <a:ext cx="101600" cy="10160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14" name="b6"/>
          <p:cNvSpPr txBox="1"/>
          <p:nvPr/>
        </p:nvSpPr>
        <p:spPr>
          <a:xfrm>
            <a:off x="609600" y="4292600"/>
            <a:ext cx="56134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决策隐蔽出错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</a:rPr>
              <a:t>：基于过期状态生成错误答案，错误往往隐蔽难以直接察觉</a:t>
            </a:r>
            <a:endParaRPr lang="en-US" sz="1100" noProof="1">
              <a:latin typeface="宋体" charset="0"/>
              <a:ea typeface="宋体" charset="0"/>
            </a:endParaRPr>
          </a:p>
        </p:txBody>
      </p:sp>
      <p:sp>
        <p:nvSpPr>
          <p:cNvPr id="15" name="panel"/>
          <p:cNvSpPr/>
          <p:nvPr/>
        </p:nvSpPr>
        <p:spPr>
          <a:xfrm>
            <a:off x="6858000" y="1066800"/>
            <a:ext cx="4953000" cy="4470400"/>
          </a:xfrm>
          <a:prstGeom prst="rect">
            <a:avLst/>
          </a:prstGeom>
          <a:solidFill>
            <a:srgbClr val="F5F9FD"/>
          </a:solidFill>
          <a:ln w="12700">
            <a:solidFill>
              <a:srgbClr val="C2E6FF"/>
            </a:solidFill>
          </a:ln>
        </p:spPr>
      </p:sp>
      <p:sp>
        <p:nvSpPr>
          <p:cNvPr id="16" name="b7"/>
          <p:cNvSpPr txBox="1"/>
          <p:nvPr/>
        </p:nvSpPr>
        <p:spPr>
          <a:xfrm>
            <a:off x="7061200" y="1270000"/>
            <a:ext cx="4546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sz="1300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LoCoMo 基准数据特征</a:t>
            </a:r>
            <a:endParaRPr lang="en-US" sz="13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7" name="b8"/>
          <p:cNvSpPr txBox="1"/>
          <p:nvPr/>
        </p:nvSpPr>
        <p:spPr>
          <a:xfrm>
            <a:off x="7061200" y="2159000"/>
            <a:ext cx="15113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2640"/>
              </a:lnSpc>
            </a:pPr>
            <a:r>
              <a:rPr lang="en-US" sz="2200" b="1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588.2 轮</a:t>
            </a:r>
            <a:endParaRPr lang="en-US" sz="22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8" name="b9"/>
          <p:cNvSpPr txBox="1"/>
          <p:nvPr/>
        </p:nvSpPr>
        <p:spPr>
          <a:xfrm>
            <a:off x="7061200" y="2692400"/>
            <a:ext cx="15113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080"/>
              </a:lnSpc>
            </a:pPr>
            <a:r>
              <a:rPr lang="en-US" sz="900" noProof="1">
                <a:solidFill>
                  <a:srgbClr val="5B6B80"/>
                </a:solidFill>
                <a:latin typeface="宋体" charset="0"/>
                <a:ea typeface="宋体" charset="0"/>
              </a:rPr>
              <a:t>平均对话轮次</a:t>
            </a:r>
            <a:endParaRPr lang="en-US" sz="900" noProof="1">
              <a:latin typeface="宋体" charset="0"/>
              <a:ea typeface="宋体" charset="0"/>
            </a:endParaRPr>
          </a:p>
        </p:txBody>
      </p:sp>
      <p:sp>
        <p:nvSpPr>
          <p:cNvPr id="19" name="b10"/>
          <p:cNvSpPr txBox="1"/>
          <p:nvPr/>
        </p:nvSpPr>
        <p:spPr>
          <a:xfrm>
            <a:off x="8572500" y="2159000"/>
            <a:ext cx="15113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2640"/>
              </a:lnSpc>
            </a:pPr>
            <a:r>
              <a:rPr lang="en-US" sz="2200" b="1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27.2 个</a:t>
            </a:r>
            <a:endParaRPr lang="en-US" sz="22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0" name="b11"/>
          <p:cNvSpPr txBox="1"/>
          <p:nvPr/>
        </p:nvSpPr>
        <p:spPr>
          <a:xfrm>
            <a:off x="8572500" y="2692400"/>
            <a:ext cx="15113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080"/>
              </a:lnSpc>
            </a:pPr>
            <a:r>
              <a:rPr lang="en-US" sz="900" noProof="1">
                <a:solidFill>
                  <a:srgbClr val="5B6B80"/>
                </a:solidFill>
                <a:latin typeface="宋体" charset="0"/>
                <a:ea typeface="宋体" charset="0"/>
                <a:cs typeface="宋体" charset="0"/>
              </a:rPr>
              <a:t>平均会话数量</a:t>
            </a:r>
            <a:endParaRPr lang="en-US" sz="9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1" name="b12"/>
          <p:cNvSpPr txBox="1"/>
          <p:nvPr/>
        </p:nvSpPr>
        <p:spPr>
          <a:xfrm>
            <a:off x="10083800" y="2159000"/>
            <a:ext cx="15113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2640"/>
              </a:lnSpc>
            </a:pPr>
            <a:r>
              <a:rPr lang="en-US" sz="2200" b="1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1.66 万</a:t>
            </a:r>
            <a:endParaRPr lang="en-US" sz="22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2" name="b13"/>
          <p:cNvSpPr txBox="1"/>
          <p:nvPr/>
        </p:nvSpPr>
        <p:spPr>
          <a:xfrm>
            <a:off x="10083800" y="2692400"/>
            <a:ext cx="15113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080"/>
              </a:lnSpc>
            </a:pPr>
            <a:r>
              <a:rPr lang="en-US" sz="900" noProof="1">
                <a:solidFill>
                  <a:srgbClr val="5B6B80"/>
                </a:solidFill>
                <a:latin typeface="宋体" charset="0"/>
                <a:ea typeface="宋体" charset="0"/>
                <a:cs typeface="宋体" charset="0"/>
              </a:rPr>
              <a:t>平均 Token 量</a:t>
            </a:r>
            <a:endParaRPr lang="en-US" sz="9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3" name="r4"/>
          <p:cNvSpPr/>
          <p:nvPr/>
        </p:nvSpPr>
        <p:spPr>
          <a:xfrm>
            <a:off x="7061200" y="3276600"/>
            <a:ext cx="45466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4" name="b14"/>
          <p:cNvSpPr txBox="1"/>
          <p:nvPr/>
        </p:nvSpPr>
        <p:spPr>
          <a:xfrm>
            <a:off x="7061200" y="3581400"/>
            <a:ext cx="4546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sz="1300" b="1" noProof="1">
                <a:solidFill>
                  <a:srgbClr val="001142"/>
                </a:solidFill>
                <a:latin typeface="Liter" panose="02000503030000020004"/>
                <a:ea typeface="MiSans"/>
              </a:rPr>
              <a:t>关键技术判断</a:t>
            </a:r>
            <a:endParaRPr lang="en-US" sz="1300" noProof="1"/>
          </a:p>
        </p:txBody>
      </p:sp>
      <p:sp>
        <p:nvSpPr>
          <p:cNvPr id="25" name="judgebar"/>
          <p:cNvSpPr/>
          <p:nvPr/>
        </p:nvSpPr>
        <p:spPr>
          <a:xfrm>
            <a:off x="7061200" y="4140200"/>
            <a:ext cx="4546600" cy="1193800"/>
          </a:xfrm>
          <a:prstGeom prst="rect">
            <a:avLst/>
          </a:prstGeom>
          <a:solidFill>
            <a:srgbClr val="D6F1FF"/>
          </a:solidFill>
          <a:ln>
            <a:noFill/>
          </a:ln>
        </p:spPr>
      </p:sp>
      <p:sp>
        <p:nvSpPr>
          <p:cNvPr id="26" name="b15"/>
          <p:cNvSpPr txBox="1"/>
          <p:nvPr/>
        </p:nvSpPr>
        <p:spPr>
          <a:xfrm>
            <a:off x="7264400" y="4140200"/>
            <a:ext cx="4140200" cy="1193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2245"/>
              </a:lnSpc>
            </a:pPr>
            <a:r>
              <a:rPr lang="en-US" sz="1100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仅检索到相关信息并不足够，必须显式判断记忆之间是 RETAIN、UPDATE 还是 CONFLICT，才能锁定当前真正有效记忆。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7" name="pageno"/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noProof="1">
                <a:solidFill>
                  <a:srgbClr val="007ACC"/>
                </a:solidFill>
                <a:latin typeface="Liter" panose="02000503030000020004"/>
                <a:ea typeface="Liter" panose="02000503030000020004"/>
              </a:rPr>
              <a:t>03</a:t>
            </a:r>
            <a:endParaRPr lang="en-US" sz="90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381000" y="0"/>
            <a:ext cx="11430000" cy="762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3" name="rail"/>
          <p:cNvSpPr txBox="1"/>
          <p:nvPr/>
        </p:nvSpPr>
        <p:spPr>
          <a:xfrm>
            <a:off x="381000" y="254000"/>
            <a:ext cx="279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kern="0" spc="100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01 · 愿景与范围</a:t>
            </a:r>
            <a:endParaRPr lang="en-US" sz="9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4" name="b2"/>
          <p:cNvSpPr txBox="1"/>
          <p:nvPr/>
        </p:nvSpPr>
        <p:spPr>
          <a:xfrm>
            <a:off x="381000" y="50800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20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明确项目构建边界，</a:t>
            </a:r>
            <a:r>
              <a:rPr lang="en-US" sz="2000" b="1" noProof="1">
                <a:solidFill>
                  <a:srgbClr val="007ACC"/>
                </a:solidFill>
                <a:latin typeface="宋体" charset="0"/>
                <a:ea typeface="宋体" charset="0"/>
              </a:rPr>
              <a:t>聚焦动态状态解析与端到端问答</a:t>
            </a:r>
            <a:endParaRPr lang="en-US" sz="2000" noProof="1">
              <a:latin typeface="宋体" charset="0"/>
              <a:ea typeface="宋体" charset="0"/>
            </a:endParaRPr>
          </a:p>
        </p:txBody>
      </p:sp>
      <p:sp>
        <p:nvSpPr>
          <p:cNvPr id="5" name="inCard"/>
          <p:cNvSpPr/>
          <p:nvPr/>
        </p:nvSpPr>
        <p:spPr>
          <a:xfrm>
            <a:off x="381000" y="1066800"/>
            <a:ext cx="6629400" cy="447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CC"/>
            </a:solidFill>
          </a:ln>
        </p:spPr>
      </p:sp>
      <p:sp>
        <p:nvSpPr>
          <p:cNvPr id="6" name="inHead"/>
          <p:cNvSpPr/>
          <p:nvPr/>
        </p:nvSpPr>
        <p:spPr>
          <a:xfrm>
            <a:off x="381000" y="1066800"/>
            <a:ext cx="6629400" cy="4318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7" name="b3"/>
          <p:cNvSpPr txBox="1"/>
          <p:nvPr/>
        </p:nvSpPr>
        <p:spPr>
          <a:xfrm>
            <a:off x="609600" y="1066800"/>
            <a:ext cx="619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sz="1300" b="1" noProof="1">
                <a:solidFill>
                  <a:srgbClr val="FFFFFF"/>
                </a:solidFill>
                <a:latin typeface="宋体" charset="0"/>
                <a:ea typeface="宋体" charset="0"/>
                <a:cs typeface="宋体" charset="0"/>
              </a:rPr>
              <a:t>In Scope · 核心研发范围</a:t>
            </a:r>
            <a:endParaRPr lang="en-US" sz="1300" b="1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8" name="s1"/>
          <p:cNvSpPr/>
          <p:nvPr/>
        </p:nvSpPr>
        <p:spPr>
          <a:xfrm>
            <a:off x="457200" y="1778000"/>
            <a:ext cx="88900" cy="889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9" name="b4"/>
          <p:cNvSpPr txBox="1"/>
          <p:nvPr/>
        </p:nvSpPr>
        <p:spPr>
          <a:xfrm>
            <a:off x="660400" y="1651000"/>
            <a:ext cx="614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结构化记忆构建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：抽取人物、事件、时间、状态导出为 JSON，严格保留原始对话轮次出处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0" name="isep1"/>
          <p:cNvSpPr/>
          <p:nvPr/>
        </p:nvSpPr>
        <p:spPr>
          <a:xfrm>
            <a:off x="660400" y="2311400"/>
            <a:ext cx="61468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11" name="s2"/>
          <p:cNvSpPr/>
          <p:nvPr/>
        </p:nvSpPr>
        <p:spPr>
          <a:xfrm>
            <a:off x="457200" y="2565400"/>
            <a:ext cx="88900" cy="889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12" name="b5"/>
          <p:cNvSpPr txBox="1"/>
          <p:nvPr/>
        </p:nvSpPr>
        <p:spPr>
          <a:xfrm>
            <a:off x="660400" y="2438400"/>
            <a:ext cx="614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动态状态解析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：判定记忆间 RETAIN / UPDATE(SUPERSEDE) / CONFLICT 关系，锁定有效记忆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3" name="isep2"/>
          <p:cNvSpPr/>
          <p:nvPr/>
        </p:nvSpPr>
        <p:spPr>
          <a:xfrm>
            <a:off x="660400" y="3098800"/>
            <a:ext cx="61468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14" name="s3"/>
          <p:cNvSpPr/>
          <p:nvPr/>
        </p:nvSpPr>
        <p:spPr>
          <a:xfrm>
            <a:off x="457200" y="3352800"/>
            <a:ext cx="88900" cy="889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15" name="b6"/>
          <p:cNvSpPr txBox="1"/>
          <p:nvPr/>
        </p:nvSpPr>
        <p:spPr>
          <a:xfrm>
            <a:off x="660400" y="3225800"/>
            <a:ext cx="614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有效检索与问答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：多路检索候选记忆 → 状态解析过滤 → 调用 DeepSeek API 生成最终答案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6" name="isep3"/>
          <p:cNvSpPr/>
          <p:nvPr/>
        </p:nvSpPr>
        <p:spPr>
          <a:xfrm>
            <a:off x="660400" y="3886200"/>
            <a:ext cx="61468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17" name="s4"/>
          <p:cNvSpPr/>
          <p:nvPr/>
        </p:nvSpPr>
        <p:spPr>
          <a:xfrm>
            <a:off x="457200" y="4140200"/>
            <a:ext cx="88900" cy="889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18" name="b7"/>
          <p:cNvSpPr txBox="1"/>
          <p:nvPr/>
        </p:nvSpPr>
        <p:spPr>
          <a:xfrm>
            <a:off x="660400" y="4013200"/>
            <a:ext cx="614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Web 演化可视化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：开发轻量 Web 界面展示结构化 Memory、原始证据与状态演化全过程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9" name="isep4"/>
          <p:cNvSpPr/>
          <p:nvPr/>
        </p:nvSpPr>
        <p:spPr>
          <a:xfrm>
            <a:off x="660400" y="4673600"/>
            <a:ext cx="61468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0" name="s5"/>
          <p:cNvSpPr/>
          <p:nvPr/>
        </p:nvSpPr>
        <p:spPr>
          <a:xfrm>
            <a:off x="457200" y="4927600"/>
            <a:ext cx="88900" cy="889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21" name="b8"/>
          <p:cNvSpPr txBox="1"/>
          <p:nvPr/>
        </p:nvSpPr>
        <p:spPr>
          <a:xfrm>
            <a:off x="660400" y="4800600"/>
            <a:ext cx="614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系统评测与基线对比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：三指标严格评测，与 Full Text、Vector RAG 两种基准全面对照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2" name="outCard"/>
          <p:cNvSpPr/>
          <p:nvPr/>
        </p:nvSpPr>
        <p:spPr>
          <a:xfrm>
            <a:off x="7200900" y="1066800"/>
            <a:ext cx="4610100" cy="447040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</p:sp>
      <p:sp>
        <p:nvSpPr>
          <p:cNvPr id="23" name="outHead"/>
          <p:cNvSpPr/>
          <p:nvPr/>
        </p:nvSpPr>
        <p:spPr>
          <a:xfrm>
            <a:off x="7200900" y="1066800"/>
            <a:ext cx="4610100" cy="431800"/>
          </a:xfrm>
          <a:prstGeom prst="rect">
            <a:avLst/>
          </a:prstGeom>
          <a:solidFill>
            <a:srgbClr val="001142"/>
          </a:solidFill>
          <a:ln>
            <a:noFill/>
          </a:ln>
        </p:spPr>
      </p:sp>
      <p:sp>
        <p:nvSpPr>
          <p:cNvPr id="24" name="b9"/>
          <p:cNvSpPr txBox="1"/>
          <p:nvPr/>
        </p:nvSpPr>
        <p:spPr>
          <a:xfrm>
            <a:off x="7404100" y="1066800"/>
            <a:ext cx="42037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sz="1300" b="1" noProof="1">
                <a:solidFill>
                  <a:srgbClr val="FFFFFF"/>
                </a:solidFill>
                <a:latin typeface="宋体" charset="0"/>
                <a:ea typeface="宋体" charset="0"/>
                <a:cs typeface="宋体" charset="0"/>
              </a:rPr>
              <a:t>Out of Scope / 边界控制</a:t>
            </a:r>
            <a:endParaRPr lang="en-US" sz="13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5" name="s6"/>
          <p:cNvSpPr/>
          <p:nvPr/>
        </p:nvSpPr>
        <p:spPr>
          <a:xfrm>
            <a:off x="7277100" y="19050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</p:sp>
      <p:sp>
        <p:nvSpPr>
          <p:cNvPr id="26" name="b10"/>
          <p:cNvSpPr txBox="1"/>
          <p:nvPr/>
        </p:nvSpPr>
        <p:spPr>
          <a:xfrm>
            <a:off x="7480300" y="1778000"/>
            <a:ext cx="41275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无模型微调/训练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：统一通过 DeepSeek API 完成抽取与推理，严格控制工程复杂度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7" name="osep1"/>
          <p:cNvSpPr/>
          <p:nvPr/>
        </p:nvSpPr>
        <p:spPr>
          <a:xfrm>
            <a:off x="7480300" y="3048000"/>
            <a:ext cx="41275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8" name="s7"/>
          <p:cNvSpPr/>
          <p:nvPr/>
        </p:nvSpPr>
        <p:spPr>
          <a:xfrm>
            <a:off x="7277100" y="31750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</p:sp>
      <p:sp>
        <p:nvSpPr>
          <p:cNvPr id="29" name="b11"/>
          <p:cNvSpPr txBox="1"/>
          <p:nvPr/>
        </p:nvSpPr>
        <p:spPr>
          <a:xfrm>
            <a:off x="7480300" y="3048000"/>
            <a:ext cx="41275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纯原始对话抽取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：gold evidence、标准答案与摘要不作为抽取输入，严防信息泄露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30" name="osep2"/>
          <p:cNvSpPr/>
          <p:nvPr/>
        </p:nvSpPr>
        <p:spPr>
          <a:xfrm>
            <a:off x="7480300" y="4318000"/>
            <a:ext cx="41275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31" name="s8"/>
          <p:cNvSpPr/>
          <p:nvPr/>
        </p:nvSpPr>
        <p:spPr>
          <a:xfrm>
            <a:off x="7277100" y="44450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</p:sp>
      <p:sp>
        <p:nvSpPr>
          <p:cNvPr id="32" name="b12"/>
          <p:cNvSpPr txBox="1"/>
          <p:nvPr/>
        </p:nvSpPr>
        <p:spPr>
          <a:xfrm>
            <a:off x="7480300" y="4318000"/>
            <a:ext cx="41275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严格数据隔离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</a:rPr>
              <a:t>：对话间独立建库不串库，相对时间原文保留，不确定时间留空</a:t>
            </a:r>
            <a:endParaRPr lang="en-US" sz="1100" noProof="1">
              <a:latin typeface="宋体" charset="0"/>
              <a:ea typeface="宋体" charset="0"/>
            </a:endParaRPr>
          </a:p>
        </p:txBody>
      </p:sp>
      <p:sp>
        <p:nvSpPr>
          <p:cNvPr id="33" name="pageno"/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noProof="1">
                <a:solidFill>
                  <a:srgbClr val="007ACC"/>
                </a:solidFill>
                <a:latin typeface="Liter" panose="02000503030000020004"/>
                <a:ea typeface="Liter" panose="02000503030000020004"/>
              </a:rPr>
              <a:t>04</a:t>
            </a:r>
            <a:endParaRPr lang="en-US" sz="9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381000" y="0"/>
            <a:ext cx="11430000" cy="762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3" name="rail"/>
          <p:cNvSpPr txBox="1"/>
          <p:nvPr/>
        </p:nvSpPr>
        <p:spPr>
          <a:xfrm>
            <a:off x="381000" y="254000"/>
            <a:ext cx="279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kern="0" spc="100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02 · 技术方案与流水线</a:t>
            </a:r>
            <a:endParaRPr lang="en-US" sz="9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4" name="b2"/>
          <p:cNvSpPr txBox="1"/>
          <p:nvPr/>
        </p:nvSpPr>
        <p:spPr>
          <a:xfrm>
            <a:off x="381000" y="50800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20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以</a:t>
            </a:r>
            <a:r>
              <a:rPr lang="en-US" sz="2000" b="1" noProof="1">
                <a:solidFill>
                  <a:srgbClr val="007ACC"/>
                </a:solidFill>
                <a:latin typeface="宋体" charset="0"/>
                <a:ea typeface="宋体" charset="0"/>
              </a:rPr>
              <a:t>动态状态解析</a:t>
            </a:r>
            <a:r>
              <a:rPr lang="en-US" sz="20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为核心，打造多路检索与大模型问答流水线</a:t>
            </a:r>
            <a:endParaRPr lang="en-US" sz="2000" noProof="1">
              <a:latin typeface="宋体" charset="0"/>
              <a:ea typeface="宋体" charset="0"/>
            </a:endParaRPr>
          </a:p>
        </p:txBody>
      </p:sp>
      <p:sp>
        <p:nvSpPr>
          <p:cNvPr id="5" name="flowPanel"/>
          <p:cNvSpPr/>
          <p:nvPr/>
        </p:nvSpPr>
        <p:spPr>
          <a:xfrm>
            <a:off x="723900" y="1066800"/>
            <a:ext cx="10744200" cy="2489200"/>
          </a:xfrm>
          <a:prstGeom prst="rect">
            <a:avLst/>
          </a:prstGeom>
          <a:solidFill>
            <a:srgbClr val="F0F8FF"/>
          </a:solidFill>
          <a:ln w="12700">
            <a:solidFill>
              <a:srgbClr val="C2E6FF"/>
            </a:solidFill>
          </a:ln>
        </p:spPr>
      </p:sp>
      <p:sp>
        <p:nvSpPr>
          <p:cNvPr id="6" name="b3"/>
          <p:cNvSpPr txBox="1"/>
          <p:nvPr/>
        </p:nvSpPr>
        <p:spPr>
          <a:xfrm>
            <a:off x="952500" y="1143000"/>
            <a:ext cx="10287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sz="13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六步端到端处理流水线</a:t>
            </a:r>
            <a:endParaRPr lang="en-US" sz="1300" noProof="1">
              <a:latin typeface="宋体" charset="0"/>
              <a:ea typeface="宋体" charset="0"/>
            </a:endParaRPr>
          </a:p>
        </p:txBody>
      </p:sp>
      <p:sp>
        <p:nvSpPr>
          <p:cNvPr id="7" name="n1"/>
          <p:cNvSpPr/>
          <p:nvPr/>
        </p:nvSpPr>
        <p:spPr>
          <a:xfrm>
            <a:off x="952500" y="1625600"/>
            <a:ext cx="1117600" cy="5842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007ACC"/>
            </a:solidFill>
          </a:ln>
        </p:spPr>
      </p:sp>
      <p:sp>
        <p:nvSpPr>
          <p:cNvPr id="8" name="n1t"/>
          <p:cNvSpPr txBox="1"/>
          <p:nvPr/>
        </p:nvSpPr>
        <p:spPr>
          <a:xfrm>
            <a:off x="977900" y="1625600"/>
            <a:ext cx="10668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405"/>
              </a:lnSpc>
            </a:pPr>
            <a:r>
              <a:rPr lang="en-US" sz="900" noProof="1">
                <a:solidFill>
                  <a:srgbClr val="001142"/>
                </a:solidFill>
                <a:latin typeface="宋体" charset="0"/>
                <a:ea typeface="宋体" charset="0"/>
              </a:rPr>
              <a:t>原始对话数据</a:t>
            </a:r>
            <a:endParaRPr lang="en-US" sz="900" noProof="1">
              <a:latin typeface="宋体" charset="0"/>
              <a:ea typeface="宋体" charset="0"/>
            </a:endParaRPr>
          </a:p>
        </p:txBody>
      </p:sp>
      <p:sp>
        <p:nvSpPr>
          <p:cNvPr id="9" name="n2"/>
          <p:cNvSpPr/>
          <p:nvPr/>
        </p:nvSpPr>
        <p:spPr>
          <a:xfrm>
            <a:off x="2489200" y="1625600"/>
            <a:ext cx="1117600" cy="5842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007ACC"/>
            </a:solidFill>
          </a:ln>
        </p:spPr>
      </p:sp>
      <p:sp>
        <p:nvSpPr>
          <p:cNvPr id="10" name="n2t"/>
          <p:cNvSpPr txBox="1"/>
          <p:nvPr/>
        </p:nvSpPr>
        <p:spPr>
          <a:xfrm>
            <a:off x="2514600" y="1625600"/>
            <a:ext cx="10668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405"/>
              </a:lnSpc>
            </a:pPr>
            <a:r>
              <a:rPr lang="en-US" sz="900" noProof="1">
                <a:solidFill>
                  <a:srgbClr val="001142"/>
                </a:solidFill>
                <a:latin typeface="宋体" charset="0"/>
                <a:ea typeface="宋体" charset="0"/>
              </a:rPr>
              <a:t>结构化记忆构建</a:t>
            </a:r>
            <a:endParaRPr lang="en-US" sz="900" noProof="1">
              <a:latin typeface="宋体" charset="0"/>
              <a:ea typeface="宋体" charset="0"/>
            </a:endParaRPr>
          </a:p>
        </p:txBody>
      </p:sp>
      <p:sp>
        <p:nvSpPr>
          <p:cNvPr id="11" name="n3"/>
          <p:cNvSpPr/>
          <p:nvPr/>
        </p:nvSpPr>
        <p:spPr>
          <a:xfrm>
            <a:off x="4025900" y="1625600"/>
            <a:ext cx="1117600" cy="5842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007ACC"/>
            </a:solidFill>
          </a:ln>
        </p:spPr>
      </p:sp>
      <p:sp>
        <p:nvSpPr>
          <p:cNvPr id="12" name="n3t"/>
          <p:cNvSpPr txBox="1"/>
          <p:nvPr/>
        </p:nvSpPr>
        <p:spPr>
          <a:xfrm>
            <a:off x="4051300" y="1625600"/>
            <a:ext cx="10668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405"/>
              </a:lnSpc>
            </a:pPr>
            <a:r>
              <a:rPr lang="en-US" sz="900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多路检索(BM25+向量)</a:t>
            </a:r>
            <a:endParaRPr lang="en-US" sz="9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3" name="n4"/>
          <p:cNvSpPr/>
          <p:nvPr/>
        </p:nvSpPr>
        <p:spPr>
          <a:xfrm>
            <a:off x="5562600" y="1625600"/>
            <a:ext cx="1117600" cy="5842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007ACC"/>
            </a:solidFill>
          </a:ln>
        </p:spPr>
      </p:sp>
      <p:sp>
        <p:nvSpPr>
          <p:cNvPr id="14" name="n4t"/>
          <p:cNvSpPr txBox="1"/>
          <p:nvPr/>
        </p:nvSpPr>
        <p:spPr>
          <a:xfrm>
            <a:off x="5588000" y="1625600"/>
            <a:ext cx="10668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405"/>
              </a:lnSpc>
            </a:pPr>
            <a:r>
              <a:rPr lang="en-US" sz="900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Query 分析与约束</a:t>
            </a:r>
            <a:endParaRPr lang="en-US" sz="9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5" name="n5"/>
          <p:cNvSpPr/>
          <p:nvPr/>
        </p:nvSpPr>
        <p:spPr>
          <a:xfrm>
            <a:off x="7099300" y="1625600"/>
            <a:ext cx="1117600" cy="584200"/>
          </a:xfrm>
          <a:prstGeom prst="roundRect">
            <a:avLst>
              <a:gd name="adj" fmla="val 8696"/>
            </a:avLst>
          </a:prstGeom>
          <a:solidFill>
            <a:srgbClr val="007ACC"/>
          </a:solidFill>
          <a:ln w="12700">
            <a:solidFill>
              <a:srgbClr val="007ACC"/>
            </a:solidFill>
          </a:ln>
        </p:spPr>
      </p:sp>
      <p:sp>
        <p:nvSpPr>
          <p:cNvPr id="16" name="n5t"/>
          <p:cNvSpPr txBox="1"/>
          <p:nvPr/>
        </p:nvSpPr>
        <p:spPr>
          <a:xfrm>
            <a:off x="7124700" y="1625600"/>
            <a:ext cx="10668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405"/>
              </a:lnSpc>
            </a:pPr>
            <a:r>
              <a:rPr lang="en-US" sz="900" b="1" noProof="1">
                <a:solidFill>
                  <a:srgbClr val="FFFFFF"/>
                </a:solidFill>
                <a:latin typeface="宋体" charset="0"/>
                <a:ea typeface="宋体" charset="0"/>
              </a:rPr>
              <a:t>动态状态关系判定</a:t>
            </a:r>
            <a:endParaRPr lang="en-US" sz="900" noProof="1">
              <a:latin typeface="宋体" charset="0"/>
              <a:ea typeface="宋体" charset="0"/>
            </a:endParaRPr>
          </a:p>
        </p:txBody>
      </p:sp>
      <p:sp>
        <p:nvSpPr>
          <p:cNvPr id="17" name="n6"/>
          <p:cNvSpPr/>
          <p:nvPr/>
        </p:nvSpPr>
        <p:spPr>
          <a:xfrm>
            <a:off x="8636000" y="1625600"/>
            <a:ext cx="1117600" cy="584200"/>
          </a:xfrm>
          <a:prstGeom prst="roundRect">
            <a:avLst>
              <a:gd name="adj" fmla="val 8696"/>
            </a:avLst>
          </a:prstGeom>
          <a:solidFill>
            <a:srgbClr val="007ACC"/>
          </a:solidFill>
          <a:ln w="12700">
            <a:solidFill>
              <a:srgbClr val="007ACC"/>
            </a:solidFill>
          </a:ln>
        </p:spPr>
      </p:sp>
      <p:sp>
        <p:nvSpPr>
          <p:cNvPr id="18" name="n6t"/>
          <p:cNvSpPr txBox="1"/>
          <p:nvPr/>
        </p:nvSpPr>
        <p:spPr>
          <a:xfrm>
            <a:off x="8661400" y="1625600"/>
            <a:ext cx="10668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405"/>
              </a:lnSpc>
            </a:pPr>
            <a:r>
              <a:rPr lang="en-US" sz="900" b="1" noProof="1">
                <a:solidFill>
                  <a:srgbClr val="FFFFFF"/>
                </a:solidFill>
                <a:latin typeface="宋体" charset="0"/>
                <a:ea typeface="宋体" charset="0"/>
              </a:rPr>
              <a:t>有效记忆选择</a:t>
            </a:r>
            <a:endParaRPr lang="en-US" sz="900" noProof="1">
              <a:latin typeface="宋体" charset="0"/>
              <a:ea typeface="宋体" charset="0"/>
            </a:endParaRPr>
          </a:p>
        </p:txBody>
      </p:sp>
      <p:sp>
        <p:nvSpPr>
          <p:cNvPr id="19" name="n7"/>
          <p:cNvSpPr/>
          <p:nvPr/>
        </p:nvSpPr>
        <p:spPr>
          <a:xfrm>
            <a:off x="10172700" y="1625600"/>
            <a:ext cx="1117600" cy="5842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007ACC"/>
            </a:solidFill>
          </a:ln>
        </p:spPr>
      </p:sp>
      <p:sp>
        <p:nvSpPr>
          <p:cNvPr id="20" name="n7t"/>
          <p:cNvSpPr txBox="1"/>
          <p:nvPr/>
        </p:nvSpPr>
        <p:spPr>
          <a:xfrm>
            <a:off x="10198100" y="1625600"/>
            <a:ext cx="10668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405"/>
              </a:lnSpc>
            </a:pPr>
            <a:r>
              <a:rPr lang="en-US" sz="900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DeepSeek 答案生成</a:t>
            </a:r>
            <a:endParaRPr lang="en-US" sz="9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1" name="b4"/>
          <p:cNvSpPr txBox="1"/>
          <p:nvPr/>
        </p:nvSpPr>
        <p:spPr>
          <a:xfrm>
            <a:off x="952500" y="2362200"/>
            <a:ext cx="16383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510"/>
              </a:lnSpc>
            </a:pPr>
            <a:r>
              <a:rPr lang="en-US" sz="900" b="1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①</a:t>
            </a:r>
            <a:r>
              <a:rPr lang="en-US" sz="9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 记忆构建（抽取人物/事件/时间/状态导出 JSON 并保留轮次证据）</a:t>
            </a:r>
            <a:endParaRPr lang="en-US" sz="9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2" name="b5"/>
          <p:cNvSpPr txBox="1"/>
          <p:nvPr/>
        </p:nvSpPr>
        <p:spPr>
          <a:xfrm>
            <a:off x="2692400" y="2362200"/>
            <a:ext cx="16383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510"/>
              </a:lnSpc>
            </a:pPr>
            <a:r>
              <a:rPr lang="en-US" sz="900" b="1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②</a:t>
            </a:r>
            <a:r>
              <a:rPr lang="en-US" sz="9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 多路检索（BM25 关键词 ＋ MiniLM 向量双通道召回）</a:t>
            </a:r>
            <a:endParaRPr lang="en-US" sz="9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3" name="b6"/>
          <p:cNvSpPr txBox="1"/>
          <p:nvPr/>
        </p:nvSpPr>
        <p:spPr>
          <a:xfrm>
            <a:off x="4432300" y="2362200"/>
            <a:ext cx="16383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510"/>
              </a:lnSpc>
            </a:pPr>
            <a:r>
              <a:rPr lang="en-US" sz="900" b="1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③</a:t>
            </a:r>
            <a:r>
              <a:rPr lang="en-US" sz="9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 Query 分析（提取核心人物/时间/属性/状态约束）</a:t>
            </a:r>
            <a:endParaRPr lang="en-US" sz="9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4" name="b7"/>
          <p:cNvSpPr txBox="1"/>
          <p:nvPr/>
        </p:nvSpPr>
        <p:spPr>
          <a:xfrm>
            <a:off x="6172200" y="2362200"/>
            <a:ext cx="16383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510"/>
              </a:lnSpc>
            </a:pPr>
            <a:r>
              <a:rPr lang="en-US" sz="900" b="1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④</a:t>
            </a:r>
            <a:r>
              <a:rPr lang="en-US" sz="9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 状态关系判定（模型研判 RETAIN/UPDATE/SUPERSEDE/CONFLICT）</a:t>
            </a:r>
            <a:endParaRPr lang="en-US" sz="9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5" name="b8"/>
          <p:cNvSpPr txBox="1"/>
          <p:nvPr/>
        </p:nvSpPr>
        <p:spPr>
          <a:xfrm>
            <a:off x="7912100" y="2362200"/>
            <a:ext cx="16383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510"/>
              </a:lnSpc>
            </a:pPr>
            <a:r>
              <a:rPr lang="en-US" sz="900" b="1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⑤</a:t>
            </a:r>
            <a:r>
              <a:rPr lang="en-US" sz="9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 有效记忆选择（过滤已失效/冲突状态，锁定当前有效记忆）</a:t>
            </a:r>
            <a:endParaRPr lang="en-US" sz="9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6" name="b9"/>
          <p:cNvSpPr txBox="1"/>
          <p:nvPr/>
        </p:nvSpPr>
        <p:spPr>
          <a:xfrm>
            <a:off x="9652000" y="2362200"/>
            <a:ext cx="16383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510"/>
              </a:lnSpc>
            </a:pPr>
            <a:r>
              <a:rPr lang="en-US" sz="900" b="1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⑥</a:t>
            </a:r>
            <a:r>
              <a:rPr lang="en-US" sz="9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 答案生成（DeepSeek API 结合有效记忆生成高准确答案）</a:t>
            </a:r>
            <a:endParaRPr lang="en-US" sz="9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7" name="b10"/>
          <p:cNvSpPr txBox="1"/>
          <p:nvPr/>
        </p:nvSpPr>
        <p:spPr>
          <a:xfrm>
            <a:off x="723900" y="3657600"/>
            <a:ext cx="107442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sz="1300" noProof="1">
                <a:solidFill>
                  <a:srgbClr val="001142"/>
                </a:solidFill>
                <a:latin typeface="宋体" charset="0"/>
                <a:ea typeface="宋体" charset="0"/>
              </a:rPr>
              <a:t>核心技术选型与工程规范</a:t>
            </a:r>
            <a:endParaRPr lang="en-US" sz="1300" noProof="1">
              <a:latin typeface="宋体" charset="0"/>
              <a:ea typeface="宋体" charset="0"/>
            </a:endParaRPr>
          </a:p>
        </p:txBody>
      </p:sp>
      <p:sp>
        <p:nvSpPr>
          <p:cNvPr id="28" name="tc1"/>
          <p:cNvSpPr/>
          <p:nvPr/>
        </p:nvSpPr>
        <p:spPr>
          <a:xfrm>
            <a:off x="723900" y="4064000"/>
            <a:ext cx="2565400" cy="14732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29" name="tc1bar"/>
          <p:cNvSpPr/>
          <p:nvPr/>
        </p:nvSpPr>
        <p:spPr>
          <a:xfrm>
            <a:off x="723900" y="4064000"/>
            <a:ext cx="2565400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30" name="b11"/>
          <p:cNvSpPr txBox="1"/>
          <p:nvPr/>
        </p:nvSpPr>
        <p:spPr>
          <a:xfrm>
            <a:off x="876300" y="4165600"/>
            <a:ext cx="22606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825"/>
              </a:lnSpc>
            </a:pPr>
            <a:r>
              <a:rPr lang="en-US" sz="95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模型与推理</a:t>
            </a: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：统一调用 DeepSeek API，免训练轻量化实现</a:t>
            </a:r>
            <a:endParaRPr lang="en-US" sz="95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31" name="tc2"/>
          <p:cNvSpPr/>
          <p:nvPr/>
        </p:nvSpPr>
        <p:spPr>
          <a:xfrm>
            <a:off x="3441700" y="4064000"/>
            <a:ext cx="2565400" cy="14732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32" name="tc2bar"/>
          <p:cNvSpPr/>
          <p:nvPr/>
        </p:nvSpPr>
        <p:spPr>
          <a:xfrm>
            <a:off x="3441700" y="4064000"/>
            <a:ext cx="2565400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33" name="b12"/>
          <p:cNvSpPr txBox="1"/>
          <p:nvPr/>
        </p:nvSpPr>
        <p:spPr>
          <a:xfrm>
            <a:off x="3594100" y="4165600"/>
            <a:ext cx="22606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825"/>
              </a:lnSpc>
            </a:pPr>
            <a:r>
              <a:rPr lang="en-US" sz="95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检索基础设施</a:t>
            </a: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：BM25 ＋ MiniLM 向量，RRF 倒数排名融合去重</a:t>
            </a:r>
            <a:endParaRPr lang="en-US" sz="95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34" name="tc3"/>
          <p:cNvSpPr/>
          <p:nvPr/>
        </p:nvSpPr>
        <p:spPr>
          <a:xfrm>
            <a:off x="6159500" y="4064000"/>
            <a:ext cx="2565400" cy="14732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35" name="tc3bar"/>
          <p:cNvSpPr/>
          <p:nvPr/>
        </p:nvSpPr>
        <p:spPr>
          <a:xfrm>
            <a:off x="6159500" y="4064000"/>
            <a:ext cx="2565400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36" name="b13"/>
          <p:cNvSpPr txBox="1"/>
          <p:nvPr/>
        </p:nvSpPr>
        <p:spPr>
          <a:xfrm>
            <a:off x="6311900" y="4165600"/>
            <a:ext cx="22606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825"/>
              </a:lnSpc>
            </a:pPr>
            <a:r>
              <a:rPr lang="en-US" sz="95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后端与模块</a:t>
            </a: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：Python 3，分层实现 memory、index、reasoning 模块</a:t>
            </a:r>
            <a:endParaRPr lang="en-US" sz="95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37" name="tc4"/>
          <p:cNvSpPr/>
          <p:nvPr/>
        </p:nvSpPr>
        <p:spPr>
          <a:xfrm>
            <a:off x="8877300" y="4064000"/>
            <a:ext cx="2565400" cy="14732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38" name="tc4bar"/>
          <p:cNvSpPr/>
          <p:nvPr/>
        </p:nvSpPr>
        <p:spPr>
          <a:xfrm>
            <a:off x="8877300" y="4064000"/>
            <a:ext cx="2565400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39" name="b14"/>
          <p:cNvSpPr txBox="1"/>
          <p:nvPr/>
        </p:nvSpPr>
        <p:spPr>
          <a:xfrm>
            <a:off x="9029700" y="4165600"/>
            <a:ext cx="22606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825"/>
              </a:lnSpc>
            </a:pPr>
            <a:r>
              <a:rPr lang="en-US" sz="95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前端与接口</a:t>
            </a: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：轻量 Web 前端 ＋ HTTP API，模块接口以 docs/interfaces.md 为准</a:t>
            </a:r>
            <a:endParaRPr lang="en-US" sz="95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40" name="pageno"/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noProof="1">
                <a:solidFill>
                  <a:srgbClr val="007ACC"/>
                </a:solidFill>
                <a:latin typeface="Liter" panose="02000503030000020004"/>
                <a:ea typeface="Liter" panose="02000503030000020004"/>
              </a:rPr>
              <a:t>05</a:t>
            </a:r>
            <a:endParaRPr lang="en-US" sz="900" noProof="1"/>
          </a:p>
        </p:txBody>
      </p:sp>
      <p:sp>
        <p:nvSpPr>
          <p:cNvPr id="41" name="link-n1-n2"/>
          <p:cNvSpPr/>
          <p:nvPr/>
        </p:nvSpPr>
        <p:spPr>
          <a:xfrm>
            <a:off x="2070100" y="1905000"/>
            <a:ext cx="419100" cy="25400"/>
          </a:xfrm>
          <a:custGeom>
            <a:avLst/>
            <a:gdLst/>
            <a:ahLst/>
            <a:cxnLst/>
            <a:rect l="l" t="t" r="r" b="b"/>
            <a:pathLst>
              <a:path w="419100" h="25400">
                <a:moveTo>
                  <a:pt x="0" y="12700"/>
                </a:moveTo>
                <a:lnTo>
                  <a:pt x="419100" y="12700"/>
                </a:lnTo>
              </a:path>
            </a:pathLst>
          </a:custGeom>
          <a:noFill/>
          <a:ln w="19050">
            <a:solidFill>
              <a:srgbClr val="007ACC"/>
            </a:solidFill>
            <a:tailEnd type="arrow"/>
          </a:ln>
        </p:spPr>
      </p:sp>
      <p:sp>
        <p:nvSpPr>
          <p:cNvPr id="42" name="link-n2-n3"/>
          <p:cNvSpPr/>
          <p:nvPr/>
        </p:nvSpPr>
        <p:spPr>
          <a:xfrm>
            <a:off x="3606800" y="1905000"/>
            <a:ext cx="419100" cy="25400"/>
          </a:xfrm>
          <a:custGeom>
            <a:avLst/>
            <a:gdLst/>
            <a:ahLst/>
            <a:cxnLst/>
            <a:rect l="l" t="t" r="r" b="b"/>
            <a:pathLst>
              <a:path w="419100" h="25400">
                <a:moveTo>
                  <a:pt x="0" y="12700"/>
                </a:moveTo>
                <a:lnTo>
                  <a:pt x="419100" y="12700"/>
                </a:lnTo>
              </a:path>
            </a:pathLst>
          </a:custGeom>
          <a:noFill/>
          <a:ln w="19050">
            <a:solidFill>
              <a:srgbClr val="007ACC"/>
            </a:solidFill>
            <a:tailEnd type="arrow"/>
          </a:ln>
        </p:spPr>
      </p:sp>
      <p:sp>
        <p:nvSpPr>
          <p:cNvPr id="43" name="link-n3-n4"/>
          <p:cNvSpPr/>
          <p:nvPr/>
        </p:nvSpPr>
        <p:spPr>
          <a:xfrm>
            <a:off x="5143500" y="1905000"/>
            <a:ext cx="419100" cy="25400"/>
          </a:xfrm>
          <a:custGeom>
            <a:avLst/>
            <a:gdLst/>
            <a:ahLst/>
            <a:cxnLst/>
            <a:rect l="l" t="t" r="r" b="b"/>
            <a:pathLst>
              <a:path w="419100" h="25400">
                <a:moveTo>
                  <a:pt x="0" y="12700"/>
                </a:moveTo>
                <a:lnTo>
                  <a:pt x="419100" y="12700"/>
                </a:lnTo>
              </a:path>
            </a:pathLst>
          </a:custGeom>
          <a:noFill/>
          <a:ln w="19050">
            <a:solidFill>
              <a:srgbClr val="007ACC"/>
            </a:solidFill>
            <a:tailEnd type="arrow"/>
          </a:ln>
        </p:spPr>
      </p:sp>
      <p:sp>
        <p:nvSpPr>
          <p:cNvPr id="44" name="link-n4-n5"/>
          <p:cNvSpPr/>
          <p:nvPr/>
        </p:nvSpPr>
        <p:spPr>
          <a:xfrm>
            <a:off x="6680200" y="1905000"/>
            <a:ext cx="419100" cy="25400"/>
          </a:xfrm>
          <a:custGeom>
            <a:avLst/>
            <a:gdLst/>
            <a:ahLst/>
            <a:cxnLst/>
            <a:rect l="l" t="t" r="r" b="b"/>
            <a:pathLst>
              <a:path w="419100" h="25400">
                <a:moveTo>
                  <a:pt x="0" y="12700"/>
                </a:moveTo>
                <a:lnTo>
                  <a:pt x="419100" y="12700"/>
                </a:lnTo>
              </a:path>
            </a:pathLst>
          </a:custGeom>
          <a:noFill/>
          <a:ln w="19050">
            <a:solidFill>
              <a:srgbClr val="007ACC"/>
            </a:solidFill>
            <a:tailEnd type="arrow"/>
          </a:ln>
        </p:spPr>
      </p:sp>
      <p:sp>
        <p:nvSpPr>
          <p:cNvPr id="45" name="link-n5-n6"/>
          <p:cNvSpPr/>
          <p:nvPr/>
        </p:nvSpPr>
        <p:spPr>
          <a:xfrm>
            <a:off x="8216900" y="1905000"/>
            <a:ext cx="419100" cy="25400"/>
          </a:xfrm>
          <a:custGeom>
            <a:avLst/>
            <a:gdLst/>
            <a:ahLst/>
            <a:cxnLst/>
            <a:rect l="l" t="t" r="r" b="b"/>
            <a:pathLst>
              <a:path w="419100" h="25400">
                <a:moveTo>
                  <a:pt x="0" y="12700"/>
                </a:moveTo>
                <a:lnTo>
                  <a:pt x="419100" y="12700"/>
                </a:lnTo>
              </a:path>
            </a:pathLst>
          </a:custGeom>
          <a:noFill/>
          <a:ln w="19050">
            <a:solidFill>
              <a:srgbClr val="007ACC"/>
            </a:solidFill>
            <a:tailEnd type="arrow"/>
          </a:ln>
        </p:spPr>
      </p:sp>
      <p:sp>
        <p:nvSpPr>
          <p:cNvPr id="46" name="link-n6-n7"/>
          <p:cNvSpPr/>
          <p:nvPr/>
        </p:nvSpPr>
        <p:spPr>
          <a:xfrm>
            <a:off x="9753600" y="1905000"/>
            <a:ext cx="419100" cy="25400"/>
          </a:xfrm>
          <a:custGeom>
            <a:avLst/>
            <a:gdLst/>
            <a:ahLst/>
            <a:cxnLst/>
            <a:rect l="l" t="t" r="r" b="b"/>
            <a:pathLst>
              <a:path w="419100" h="25400">
                <a:moveTo>
                  <a:pt x="0" y="12700"/>
                </a:moveTo>
                <a:lnTo>
                  <a:pt x="419100" y="12700"/>
                </a:lnTo>
              </a:path>
            </a:pathLst>
          </a:custGeom>
          <a:noFill/>
          <a:ln w="19050">
            <a:solidFill>
              <a:srgbClr val="007ACC"/>
            </a:solidFill>
            <a:tailEnd type="arrow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381000" y="0"/>
            <a:ext cx="11430000" cy="762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3" name="rail"/>
          <p:cNvSpPr txBox="1"/>
          <p:nvPr/>
        </p:nvSpPr>
        <p:spPr>
          <a:xfrm>
            <a:off x="381000" y="254000"/>
            <a:ext cx="279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kern="0" spc="100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03 · 功能路线图</a:t>
            </a:r>
            <a:endParaRPr lang="en-US" sz="9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4" name="b2"/>
          <p:cNvSpPr txBox="1"/>
          <p:nvPr/>
        </p:nvSpPr>
        <p:spPr>
          <a:xfrm>
            <a:off x="381000" y="50800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20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四周推进四大演进阶段，</a:t>
            </a:r>
            <a:r>
              <a:rPr lang="en-US" sz="2000" b="1" noProof="1">
                <a:solidFill>
                  <a:srgbClr val="007ACC"/>
                </a:solidFill>
                <a:latin typeface="宋体" charset="0"/>
                <a:ea typeface="宋体" charset="0"/>
              </a:rPr>
              <a:t>以里程碑为锚点稳步交付</a:t>
            </a:r>
            <a:endParaRPr lang="en-US" sz="2000" noProof="1">
              <a:latin typeface="宋体" charset="0"/>
              <a:ea typeface="宋体" charset="0"/>
            </a:endParaRPr>
          </a:p>
        </p:txBody>
      </p:sp>
      <p:sp>
        <p:nvSpPr>
          <p:cNvPr id="5" name="track"/>
          <p:cNvSpPr/>
          <p:nvPr/>
        </p:nvSpPr>
        <p:spPr>
          <a:xfrm>
            <a:off x="381000" y="1371600"/>
            <a:ext cx="11430000" cy="38100"/>
          </a:xfrm>
          <a:prstGeom prst="rect">
            <a:avLst/>
          </a:prstGeom>
          <a:solidFill>
            <a:srgbClr val="C2E6FF"/>
          </a:solidFill>
          <a:ln>
            <a:noFill/>
          </a:ln>
        </p:spPr>
      </p:sp>
      <p:sp>
        <p:nvSpPr>
          <p:cNvPr id="6" name="trackdone"/>
          <p:cNvSpPr/>
          <p:nvPr/>
        </p:nvSpPr>
        <p:spPr>
          <a:xfrm>
            <a:off x="381000" y="1371600"/>
            <a:ext cx="56134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7" name="dot1"/>
          <p:cNvSpPr/>
          <p:nvPr/>
        </p:nvSpPr>
        <p:spPr>
          <a:xfrm>
            <a:off x="1663700" y="1308100"/>
            <a:ext cx="152400" cy="15240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8" name="dot2"/>
          <p:cNvSpPr/>
          <p:nvPr/>
        </p:nvSpPr>
        <p:spPr>
          <a:xfrm>
            <a:off x="4559300" y="1308100"/>
            <a:ext cx="152400" cy="15240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9" name="dot3"/>
          <p:cNvSpPr/>
          <p:nvPr/>
        </p:nvSpPr>
        <p:spPr>
          <a:xfrm>
            <a:off x="7454900" y="1308100"/>
            <a:ext cx="152400" cy="152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ACC"/>
            </a:solidFill>
          </a:ln>
        </p:spPr>
      </p:sp>
      <p:sp>
        <p:nvSpPr>
          <p:cNvPr id="10" name="dot4"/>
          <p:cNvSpPr/>
          <p:nvPr/>
        </p:nvSpPr>
        <p:spPr>
          <a:xfrm>
            <a:off x="10350500" y="1308100"/>
            <a:ext cx="152400" cy="152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ACC"/>
            </a:solidFill>
          </a:ln>
        </p:spPr>
      </p:sp>
      <p:sp>
        <p:nvSpPr>
          <p:cNvPr id="11" name="card1"/>
          <p:cNvSpPr/>
          <p:nvPr/>
        </p:nvSpPr>
        <p:spPr>
          <a:xfrm>
            <a:off x="381000" y="1651000"/>
            <a:ext cx="2717800" cy="3886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ACC"/>
            </a:solidFill>
          </a:ln>
        </p:spPr>
      </p:sp>
      <p:sp>
        <p:nvSpPr>
          <p:cNvPr id="12" name="card1head"/>
          <p:cNvSpPr/>
          <p:nvPr/>
        </p:nvSpPr>
        <p:spPr>
          <a:xfrm>
            <a:off x="381000" y="1651000"/>
            <a:ext cx="2717800" cy="4318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13" name="b3"/>
          <p:cNvSpPr txBox="1"/>
          <p:nvPr/>
        </p:nvSpPr>
        <p:spPr>
          <a:xfrm>
            <a:off x="381000" y="1651000"/>
            <a:ext cx="27178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560"/>
              </a:lnSpc>
            </a:pPr>
            <a:r>
              <a:rPr lang="en-US" sz="1300" b="1" noProof="1">
                <a:solidFill>
                  <a:srgbClr val="FFFFFF"/>
                </a:solidFill>
                <a:latin typeface="宋体" charset="0"/>
                <a:ea typeface="宋体" charset="0"/>
                <a:cs typeface="宋体" charset="0"/>
              </a:rPr>
              <a:t>MVP 最小可行产品</a:t>
            </a:r>
            <a:endParaRPr lang="en-US" sz="13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4" name="card1time"/>
          <p:cNvSpPr/>
          <p:nvPr/>
        </p:nvSpPr>
        <p:spPr>
          <a:xfrm>
            <a:off x="381000" y="2133600"/>
            <a:ext cx="2717800" cy="355600"/>
          </a:xfrm>
          <a:prstGeom prst="rect">
            <a:avLst/>
          </a:prstGeom>
          <a:solidFill>
            <a:srgbClr val="D6F1FF"/>
          </a:solidFill>
          <a:ln>
            <a:noFill/>
          </a:ln>
        </p:spPr>
      </p:sp>
      <p:sp>
        <p:nvSpPr>
          <p:cNvPr id="15" name="b4"/>
          <p:cNvSpPr txBox="1"/>
          <p:nvPr/>
        </p:nvSpPr>
        <p:spPr>
          <a:xfrm>
            <a:off x="381000" y="2133600"/>
            <a:ext cx="2717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140"/>
              </a:lnSpc>
            </a:pPr>
            <a:r>
              <a:rPr lang="en-US" sz="95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10/09–10/17 · 里程碑 1 &amp; 2</a:t>
            </a:r>
            <a:endParaRPr lang="en-US" sz="95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6" name="b5"/>
          <p:cNvSpPr txBox="1"/>
          <p:nvPr/>
        </p:nvSpPr>
        <p:spPr>
          <a:xfrm>
            <a:off x="558800" y="2590800"/>
            <a:ext cx="2362200" cy="274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0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完成 LoCoMo 数据读取与结构化记忆抽取管道</a:t>
            </a:r>
            <a:endParaRPr lang="en-US" sz="1000" noProof="1">
              <a:latin typeface="宋体" charset="0"/>
              <a:ea typeface="宋体" charset="0"/>
              <a:cs typeface="宋体" charset="0"/>
            </a:endParaRPr>
          </a:p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0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产出可回溯轮次的 Memory JSON</a:t>
            </a:r>
            <a:endParaRPr lang="en-US" sz="1000" noProof="1">
              <a:latin typeface="宋体" charset="0"/>
              <a:ea typeface="宋体" charset="0"/>
              <a:cs typeface="宋体" charset="0"/>
            </a:endParaRPr>
          </a:p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0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跑通 BM25 与向量混合检索（RRF）</a:t>
            </a:r>
            <a:endParaRPr lang="en-US" sz="1000" noProof="1">
              <a:latin typeface="宋体" charset="0"/>
              <a:ea typeface="宋体" charset="0"/>
              <a:cs typeface="宋体" charset="0"/>
            </a:endParaRPr>
          </a:p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0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形成命令行最小闭环链路</a:t>
            </a:r>
            <a:endParaRPr lang="en-US" sz="10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7" name="card2"/>
          <p:cNvSpPr/>
          <p:nvPr/>
        </p:nvSpPr>
        <p:spPr>
          <a:xfrm>
            <a:off x="3276600" y="1651000"/>
            <a:ext cx="2717800" cy="3886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ACC"/>
            </a:solidFill>
          </a:ln>
        </p:spPr>
      </p:sp>
      <p:sp>
        <p:nvSpPr>
          <p:cNvPr id="18" name="card2head"/>
          <p:cNvSpPr/>
          <p:nvPr/>
        </p:nvSpPr>
        <p:spPr>
          <a:xfrm>
            <a:off x="3276600" y="1651000"/>
            <a:ext cx="2717800" cy="4318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19" name="b6"/>
          <p:cNvSpPr txBox="1"/>
          <p:nvPr/>
        </p:nvSpPr>
        <p:spPr>
          <a:xfrm>
            <a:off x="3276600" y="1651000"/>
            <a:ext cx="27178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560"/>
              </a:lnSpc>
            </a:pPr>
            <a:r>
              <a:rPr lang="en-US" sz="1300" b="1" noProof="1">
                <a:solidFill>
                  <a:srgbClr val="FFFFFF"/>
                </a:solidFill>
                <a:latin typeface="宋体" charset="0"/>
                <a:ea typeface="宋体" charset="0"/>
                <a:cs typeface="宋体" charset="0"/>
              </a:rPr>
              <a:t>V1.0 基础问答能力</a:t>
            </a:r>
            <a:endParaRPr lang="en-US" sz="13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0" name="card2time"/>
          <p:cNvSpPr/>
          <p:nvPr/>
        </p:nvSpPr>
        <p:spPr>
          <a:xfrm>
            <a:off x="3276600" y="2133600"/>
            <a:ext cx="2717800" cy="355600"/>
          </a:xfrm>
          <a:prstGeom prst="rect">
            <a:avLst/>
          </a:prstGeom>
          <a:solidFill>
            <a:srgbClr val="D6F1FF"/>
          </a:solidFill>
          <a:ln>
            <a:noFill/>
          </a:ln>
        </p:spPr>
      </p:sp>
      <p:sp>
        <p:nvSpPr>
          <p:cNvPr id="21" name="b7"/>
          <p:cNvSpPr txBox="1"/>
          <p:nvPr/>
        </p:nvSpPr>
        <p:spPr>
          <a:xfrm>
            <a:off x="3276600" y="2133600"/>
            <a:ext cx="2717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140"/>
              </a:lnSpc>
            </a:pPr>
            <a:r>
              <a:rPr lang="en-US" sz="95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10/18–10/24 · 里程碑 3 &amp; 4</a:t>
            </a:r>
            <a:endParaRPr lang="en-US" sz="95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2" name="b8"/>
          <p:cNvSpPr txBox="1"/>
          <p:nvPr/>
        </p:nvSpPr>
        <p:spPr>
          <a:xfrm>
            <a:off x="3454400" y="2590800"/>
            <a:ext cx="2362200" cy="274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0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实现 RETAIN / UPDATE / CONFLICT 关系判定</a:t>
            </a:r>
            <a:endParaRPr lang="en-US" sz="1000" noProof="1">
              <a:latin typeface="宋体" charset="0"/>
              <a:ea typeface="宋体" charset="0"/>
              <a:cs typeface="宋体" charset="0"/>
            </a:endParaRPr>
          </a:p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0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接入 DeepSeek API 端到端跑通问答全链路</a:t>
            </a:r>
            <a:endParaRPr lang="en-US" sz="1000" noProof="1">
              <a:latin typeface="宋体" charset="0"/>
              <a:ea typeface="宋体" charset="0"/>
              <a:cs typeface="宋体" charset="0"/>
            </a:endParaRPr>
          </a:p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0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同步提交需求规格说明书与中期设计、编码、测试材料</a:t>
            </a:r>
            <a:endParaRPr lang="en-US" sz="10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3" name="card3"/>
          <p:cNvSpPr/>
          <p:nvPr/>
        </p:nvSpPr>
        <p:spPr>
          <a:xfrm>
            <a:off x="6172200" y="1651000"/>
            <a:ext cx="271780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</p:spPr>
      </p:sp>
      <p:sp>
        <p:nvSpPr>
          <p:cNvPr id="24" name="card3head"/>
          <p:cNvSpPr/>
          <p:nvPr/>
        </p:nvSpPr>
        <p:spPr>
          <a:xfrm>
            <a:off x="6172200" y="1651000"/>
            <a:ext cx="2717800" cy="4318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25" name="b9"/>
          <p:cNvSpPr txBox="1"/>
          <p:nvPr/>
        </p:nvSpPr>
        <p:spPr>
          <a:xfrm>
            <a:off x="6172200" y="1651000"/>
            <a:ext cx="27178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560"/>
              </a:lnSpc>
            </a:pPr>
            <a:r>
              <a:rPr lang="en-US" sz="1300" b="1" noProof="1">
                <a:solidFill>
                  <a:srgbClr val="FFFFFF"/>
                </a:solidFill>
                <a:latin typeface="宋体" charset="0"/>
                <a:ea typeface="宋体" charset="0"/>
                <a:cs typeface="宋体" charset="0"/>
              </a:rPr>
              <a:t>V2.0 高级功能增强</a:t>
            </a:r>
            <a:endParaRPr lang="en-US" sz="13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6" name="card3time"/>
          <p:cNvSpPr/>
          <p:nvPr/>
        </p:nvSpPr>
        <p:spPr>
          <a:xfrm>
            <a:off x="6172200" y="2133600"/>
            <a:ext cx="2717800" cy="355600"/>
          </a:xfrm>
          <a:prstGeom prst="rect">
            <a:avLst/>
          </a:prstGeom>
          <a:solidFill>
            <a:srgbClr val="D6F1FF"/>
          </a:solidFill>
          <a:ln>
            <a:noFill/>
          </a:ln>
        </p:spPr>
      </p:sp>
      <p:sp>
        <p:nvSpPr>
          <p:cNvPr id="27" name="b10"/>
          <p:cNvSpPr txBox="1"/>
          <p:nvPr/>
        </p:nvSpPr>
        <p:spPr>
          <a:xfrm>
            <a:off x="6172200" y="2133600"/>
            <a:ext cx="2717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140"/>
              </a:lnSpc>
            </a:pPr>
            <a:r>
              <a:rPr lang="en-US" sz="95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10/25–10/31 · 调优与可视化</a:t>
            </a:r>
            <a:endParaRPr lang="en-US" sz="95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8" name="b11"/>
          <p:cNvSpPr txBox="1"/>
          <p:nvPr/>
        </p:nvSpPr>
        <p:spPr>
          <a:xfrm>
            <a:off x="6350000" y="2590800"/>
            <a:ext cx="2362200" cy="274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0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上线 Web 可视化（记忆浏览/证据回看/状态演化）</a:t>
            </a:r>
            <a:endParaRPr lang="en-US" sz="1000" noProof="1">
              <a:latin typeface="宋体" charset="0"/>
              <a:ea typeface="宋体" charset="0"/>
              <a:cs typeface="宋体" charset="0"/>
            </a:endParaRPr>
          </a:p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0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混合检索按 Recall@K 调优</a:t>
            </a:r>
            <a:endParaRPr lang="en-US" sz="1000" noProof="1">
              <a:latin typeface="宋体" charset="0"/>
              <a:ea typeface="宋体" charset="0"/>
              <a:cs typeface="宋体" charset="0"/>
            </a:endParaRPr>
          </a:p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0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完成 QA F1、Recall@K、状态更新准确率评测，同表对照双基线</a:t>
            </a:r>
            <a:endParaRPr lang="en-US" sz="10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9" name="card4"/>
          <p:cNvSpPr/>
          <p:nvPr/>
        </p:nvSpPr>
        <p:spPr>
          <a:xfrm>
            <a:off x="9067800" y="1651000"/>
            <a:ext cx="271780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</p:spPr>
      </p:sp>
      <p:sp>
        <p:nvSpPr>
          <p:cNvPr id="30" name="card4head"/>
          <p:cNvSpPr/>
          <p:nvPr/>
        </p:nvSpPr>
        <p:spPr>
          <a:xfrm>
            <a:off x="9067800" y="1651000"/>
            <a:ext cx="2717800" cy="4318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31" name="b12"/>
          <p:cNvSpPr txBox="1"/>
          <p:nvPr/>
        </p:nvSpPr>
        <p:spPr>
          <a:xfrm>
            <a:off x="9067800" y="1651000"/>
            <a:ext cx="27178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560"/>
              </a:lnSpc>
            </a:pPr>
            <a:r>
              <a:rPr lang="en-US" sz="1300" b="1" noProof="1">
                <a:solidFill>
                  <a:srgbClr val="FFFFFF"/>
                </a:solidFill>
                <a:latin typeface="宋体" charset="0"/>
                <a:ea typeface="宋体" charset="0"/>
                <a:cs typeface="宋体" charset="0"/>
              </a:rPr>
              <a:t>V3.0 项目交付</a:t>
            </a:r>
            <a:endParaRPr lang="en-US" sz="13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32" name="card4time"/>
          <p:cNvSpPr/>
          <p:nvPr/>
        </p:nvSpPr>
        <p:spPr>
          <a:xfrm>
            <a:off x="9067800" y="2133600"/>
            <a:ext cx="2717800" cy="355600"/>
          </a:xfrm>
          <a:prstGeom prst="rect">
            <a:avLst/>
          </a:prstGeom>
          <a:solidFill>
            <a:srgbClr val="D6F1FF"/>
          </a:solidFill>
          <a:ln>
            <a:noFill/>
          </a:ln>
        </p:spPr>
      </p:sp>
      <p:sp>
        <p:nvSpPr>
          <p:cNvPr id="33" name="b13"/>
          <p:cNvSpPr txBox="1"/>
          <p:nvPr/>
        </p:nvSpPr>
        <p:spPr>
          <a:xfrm>
            <a:off x="9067800" y="2133600"/>
            <a:ext cx="2717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140"/>
              </a:lnSpc>
            </a:pPr>
            <a:r>
              <a:rPr lang="en-US" sz="95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11/01–11/09 · 里程碑 5</a:t>
            </a:r>
            <a:endParaRPr lang="en-US" sz="95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34" name="b14"/>
          <p:cNvSpPr txBox="1"/>
          <p:nvPr/>
        </p:nvSpPr>
        <p:spPr>
          <a:xfrm>
            <a:off x="9245600" y="2590800"/>
            <a:ext cx="2362200" cy="274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0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在独立测试集上完成最终评测</a:t>
            </a:r>
            <a:endParaRPr lang="en-US" sz="1000" noProof="1">
              <a:latin typeface="宋体" charset="0"/>
              <a:ea typeface="宋体" charset="0"/>
              <a:cs typeface="宋体" charset="0"/>
            </a:endParaRPr>
          </a:p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0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冻结系统功能，专注缺陷修复</a:t>
            </a:r>
            <a:endParaRPr lang="en-US" sz="1000" noProof="1">
              <a:latin typeface="宋体" charset="0"/>
              <a:ea typeface="宋体" charset="0"/>
              <a:cs typeface="宋体" charset="0"/>
            </a:endParaRPr>
          </a:p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0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定稿最终报告与技术文档</a:t>
            </a:r>
            <a:endParaRPr lang="en-US" sz="1000" noProof="1">
              <a:latin typeface="宋体" charset="0"/>
              <a:ea typeface="宋体" charset="0"/>
              <a:cs typeface="宋体" charset="0"/>
            </a:endParaRPr>
          </a:p>
          <a:p>
            <a:pPr algn="l">
              <a:lnSpc>
                <a:spcPts val="1920"/>
              </a:lnSpc>
              <a:spcBef>
                <a:spcPts val="10"/>
              </a:spcBef>
              <a:buChar char="•"/>
            </a:pPr>
            <a:r>
              <a:rPr lang="en-US" sz="10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准备演示 PPT、演示环境与录屏备份，确保系统可复现</a:t>
            </a:r>
            <a:endParaRPr lang="en-US" sz="10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35" name="pageno"/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noProof="1">
                <a:solidFill>
                  <a:srgbClr val="007ACC"/>
                </a:solidFill>
                <a:latin typeface="Liter" panose="02000503030000020004"/>
                <a:ea typeface="Liter" panose="02000503030000020004"/>
              </a:rPr>
              <a:t>06</a:t>
            </a:r>
            <a:endParaRPr lang="en-US" sz="90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381000" y="0"/>
            <a:ext cx="11430000" cy="762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3" name="rail"/>
          <p:cNvSpPr txBox="1"/>
          <p:nvPr/>
        </p:nvSpPr>
        <p:spPr>
          <a:xfrm>
            <a:off x="381000" y="254000"/>
            <a:ext cx="279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kern="0" spc="100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04 · 团队分工与计划</a:t>
            </a:r>
            <a:endParaRPr lang="en-US" sz="9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4" name="b2"/>
          <p:cNvSpPr txBox="1"/>
          <p:nvPr/>
        </p:nvSpPr>
        <p:spPr>
          <a:xfrm>
            <a:off x="381000" y="50800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20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五人分工明确各司其职，</a:t>
            </a:r>
            <a:r>
              <a:rPr lang="en-US" sz="2000" b="1" noProof="1">
                <a:solidFill>
                  <a:srgbClr val="007ACC"/>
                </a:solidFill>
                <a:latin typeface="宋体" charset="0"/>
                <a:ea typeface="宋体" charset="0"/>
              </a:rPr>
              <a:t>模块解耦与接口先行保障高效协作</a:t>
            </a:r>
            <a:endParaRPr lang="en-US" sz="2000" noProof="1">
              <a:latin typeface="宋体" charset="0"/>
              <a:ea typeface="宋体" charset="0"/>
            </a:endParaRPr>
          </a:p>
        </p:txBody>
      </p:sp>
      <p:sp>
        <p:nvSpPr>
          <p:cNvPr id="5" name="c1"/>
          <p:cNvSpPr/>
          <p:nvPr/>
        </p:nvSpPr>
        <p:spPr>
          <a:xfrm>
            <a:off x="381000" y="1104900"/>
            <a:ext cx="2159000" cy="44831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</p:spPr>
      </p:sp>
      <p:sp>
        <p:nvSpPr>
          <p:cNvPr id="6" name="c1bar"/>
          <p:cNvSpPr/>
          <p:nvPr/>
        </p:nvSpPr>
        <p:spPr>
          <a:xfrm>
            <a:off x="381000" y="1066800"/>
            <a:ext cx="21590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7" name="b3"/>
          <p:cNvSpPr txBox="1"/>
          <p:nvPr/>
        </p:nvSpPr>
        <p:spPr>
          <a:xfrm>
            <a:off x="558800" y="1244600"/>
            <a:ext cx="1803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800"/>
              </a:lnSpc>
            </a:pPr>
            <a:r>
              <a:rPr lang="en-US" sz="1500" b="1" noProof="1">
                <a:solidFill>
                  <a:srgbClr val="007ACC"/>
                </a:solidFill>
                <a:latin typeface="宋体" charset="0"/>
                <a:ea typeface="宋体" charset="0"/>
              </a:rPr>
              <a:t>陈易</a:t>
            </a:r>
            <a:endParaRPr lang="en-US" sz="1500" noProof="1">
              <a:latin typeface="宋体" charset="0"/>
              <a:ea typeface="宋体" charset="0"/>
            </a:endParaRPr>
          </a:p>
        </p:txBody>
      </p:sp>
      <p:sp>
        <p:nvSpPr>
          <p:cNvPr id="8" name="b4"/>
          <p:cNvSpPr txBox="1"/>
          <p:nvPr/>
        </p:nvSpPr>
        <p:spPr>
          <a:xfrm>
            <a:off x="558800" y="1676400"/>
            <a:ext cx="1803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noProof="1">
                <a:solidFill>
                  <a:srgbClr val="001142"/>
                </a:solidFill>
                <a:latin typeface="宋体" charset="0"/>
                <a:ea typeface="宋体" charset="0"/>
              </a:rPr>
              <a:t>项目管理与集成架构</a:t>
            </a:r>
            <a:endParaRPr lang="en-US" sz="1100" noProof="1">
              <a:latin typeface="宋体" charset="0"/>
              <a:ea typeface="宋体" charset="0"/>
            </a:endParaRPr>
          </a:p>
        </p:txBody>
      </p:sp>
      <p:sp>
        <p:nvSpPr>
          <p:cNvPr id="9" name="s1"/>
          <p:cNvSpPr/>
          <p:nvPr/>
        </p:nvSpPr>
        <p:spPr>
          <a:xfrm>
            <a:off x="558800" y="2590800"/>
            <a:ext cx="18034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</p:sp>
      <p:sp>
        <p:nvSpPr>
          <p:cNvPr id="10" name="b5"/>
          <p:cNvSpPr txBox="1"/>
          <p:nvPr/>
        </p:nvSpPr>
        <p:spPr>
          <a:xfrm>
            <a:off x="558800" y="2743200"/>
            <a:ext cx="1803400" cy="269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40"/>
              </a:lnSpc>
              <a:spcBef>
                <a:spcPts val="10"/>
              </a:spcBef>
              <a:buChar char="•"/>
            </a:pP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</a:rPr>
              <a:t>计划与追踪</a:t>
            </a:r>
            <a:endParaRPr lang="en-US" sz="950" noProof="1">
              <a:latin typeface="宋体" charset="0"/>
              <a:ea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</a:rPr>
              <a:t>仓库与权限</a:t>
            </a:r>
            <a:endParaRPr lang="en-US" sz="950" noProof="1">
              <a:latin typeface="宋体" charset="0"/>
              <a:ea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</a:rPr>
              <a:t>架构决策</a:t>
            </a:r>
            <a:endParaRPr lang="en-US" sz="950" noProof="1">
              <a:latin typeface="宋体" charset="0"/>
              <a:ea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</a:rPr>
              <a:t>集成与评测接口</a:t>
            </a:r>
            <a:endParaRPr lang="en-US" sz="950" noProof="1">
              <a:latin typeface="宋体" charset="0"/>
              <a:ea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</a:rPr>
              <a:t>演示环境</a:t>
            </a:r>
            <a:endParaRPr lang="en-US" sz="950" noProof="1">
              <a:latin typeface="宋体" charset="0"/>
              <a:ea typeface="宋体" charset="0"/>
            </a:endParaRPr>
          </a:p>
        </p:txBody>
      </p:sp>
      <p:sp>
        <p:nvSpPr>
          <p:cNvPr id="11" name="c2"/>
          <p:cNvSpPr/>
          <p:nvPr/>
        </p:nvSpPr>
        <p:spPr>
          <a:xfrm>
            <a:off x="2692400" y="1104900"/>
            <a:ext cx="2159000" cy="44831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</p:spPr>
      </p:sp>
      <p:sp>
        <p:nvSpPr>
          <p:cNvPr id="12" name="c2bar"/>
          <p:cNvSpPr/>
          <p:nvPr/>
        </p:nvSpPr>
        <p:spPr>
          <a:xfrm>
            <a:off x="2692400" y="1066800"/>
            <a:ext cx="21590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13" name="b6"/>
          <p:cNvSpPr txBox="1"/>
          <p:nvPr/>
        </p:nvSpPr>
        <p:spPr>
          <a:xfrm>
            <a:off x="2870200" y="1244600"/>
            <a:ext cx="1803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800"/>
              </a:lnSpc>
            </a:pPr>
            <a:r>
              <a:rPr lang="en-US" sz="1500" b="1" noProof="1">
                <a:solidFill>
                  <a:srgbClr val="007ACC"/>
                </a:solidFill>
                <a:latin typeface="宋体" charset="0"/>
                <a:ea typeface="宋体" charset="0"/>
              </a:rPr>
              <a:t>鲁瑞特</a:t>
            </a:r>
            <a:endParaRPr lang="en-US" sz="1500" noProof="1">
              <a:latin typeface="宋体" charset="0"/>
              <a:ea typeface="宋体" charset="0"/>
            </a:endParaRPr>
          </a:p>
        </p:txBody>
      </p:sp>
      <p:sp>
        <p:nvSpPr>
          <p:cNvPr id="14" name="b7"/>
          <p:cNvSpPr txBox="1"/>
          <p:nvPr/>
        </p:nvSpPr>
        <p:spPr>
          <a:xfrm>
            <a:off x="2870200" y="1676400"/>
            <a:ext cx="1803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noProof="1">
                <a:solidFill>
                  <a:srgbClr val="001142"/>
                </a:solidFill>
                <a:latin typeface="宋体" charset="0"/>
                <a:ea typeface="宋体" charset="0"/>
              </a:rPr>
              <a:t>数据、记忆与检索基础设施</a:t>
            </a:r>
            <a:endParaRPr lang="en-US" sz="1100" noProof="1">
              <a:latin typeface="宋体" charset="0"/>
              <a:ea typeface="宋体" charset="0"/>
            </a:endParaRPr>
          </a:p>
        </p:txBody>
      </p:sp>
      <p:sp>
        <p:nvSpPr>
          <p:cNvPr id="15" name="s2"/>
          <p:cNvSpPr/>
          <p:nvPr/>
        </p:nvSpPr>
        <p:spPr>
          <a:xfrm>
            <a:off x="2870200" y="2590800"/>
            <a:ext cx="18034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</p:sp>
      <p:sp>
        <p:nvSpPr>
          <p:cNvPr id="16" name="b8"/>
          <p:cNvSpPr txBox="1"/>
          <p:nvPr/>
        </p:nvSpPr>
        <p:spPr>
          <a:xfrm>
            <a:off x="2870200" y="2743200"/>
            <a:ext cx="1803400" cy="269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40"/>
              </a:lnSpc>
              <a:spcBef>
                <a:spcPts val="10"/>
              </a:spcBef>
              <a:buChar char="•"/>
            </a:pP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Memory 结构</a:t>
            </a:r>
            <a:endParaRPr lang="en-US" sz="950" noProof="1">
              <a:latin typeface="宋体" charset="0"/>
              <a:ea typeface="宋体" charset="0"/>
              <a:cs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结构化抽取</a:t>
            </a:r>
            <a:endParaRPr lang="en-US" sz="950" noProof="1">
              <a:latin typeface="宋体" charset="0"/>
              <a:ea typeface="宋体" charset="0"/>
              <a:cs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JSON 导出</a:t>
            </a:r>
            <a:endParaRPr lang="en-US" sz="950" noProof="1">
              <a:latin typeface="宋体" charset="0"/>
              <a:ea typeface="宋体" charset="0"/>
              <a:cs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检索接口</a:t>
            </a:r>
            <a:endParaRPr lang="en-US" sz="95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7" name="c3"/>
          <p:cNvSpPr/>
          <p:nvPr/>
        </p:nvSpPr>
        <p:spPr>
          <a:xfrm>
            <a:off x="5003800" y="1104900"/>
            <a:ext cx="2159000" cy="44831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</p:spPr>
      </p:sp>
      <p:sp>
        <p:nvSpPr>
          <p:cNvPr id="18" name="c3bar"/>
          <p:cNvSpPr/>
          <p:nvPr/>
        </p:nvSpPr>
        <p:spPr>
          <a:xfrm>
            <a:off x="5003800" y="1066800"/>
            <a:ext cx="21590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19" name="b9"/>
          <p:cNvSpPr txBox="1"/>
          <p:nvPr/>
        </p:nvSpPr>
        <p:spPr>
          <a:xfrm>
            <a:off x="5181600" y="1244600"/>
            <a:ext cx="1803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800"/>
              </a:lnSpc>
            </a:pPr>
            <a:r>
              <a:rPr lang="en-US" sz="1500" b="1" noProof="1">
                <a:solidFill>
                  <a:srgbClr val="007ACC"/>
                </a:solidFill>
                <a:latin typeface="宋体" charset="0"/>
                <a:ea typeface="宋体" charset="0"/>
              </a:rPr>
              <a:t>于国庆</a:t>
            </a:r>
            <a:endParaRPr lang="en-US" sz="1500" noProof="1">
              <a:latin typeface="宋体" charset="0"/>
              <a:ea typeface="宋体" charset="0"/>
            </a:endParaRPr>
          </a:p>
        </p:txBody>
      </p:sp>
      <p:sp>
        <p:nvSpPr>
          <p:cNvPr id="20" name="b10"/>
          <p:cNvSpPr txBox="1"/>
          <p:nvPr/>
        </p:nvSpPr>
        <p:spPr>
          <a:xfrm>
            <a:off x="5181600" y="1676400"/>
            <a:ext cx="1803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noProof="1">
                <a:solidFill>
                  <a:srgbClr val="001142"/>
                </a:solidFill>
                <a:latin typeface="宋体" charset="0"/>
                <a:ea typeface="宋体" charset="0"/>
              </a:rPr>
              <a:t>动态状态解析</a:t>
            </a:r>
            <a:endParaRPr lang="en-US" sz="1100" noProof="1">
              <a:latin typeface="宋体" charset="0"/>
              <a:ea typeface="宋体" charset="0"/>
            </a:endParaRPr>
          </a:p>
        </p:txBody>
      </p:sp>
      <p:sp>
        <p:nvSpPr>
          <p:cNvPr id="21" name="s3"/>
          <p:cNvSpPr/>
          <p:nvPr/>
        </p:nvSpPr>
        <p:spPr>
          <a:xfrm>
            <a:off x="5181600" y="2590800"/>
            <a:ext cx="18034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</p:sp>
      <p:sp>
        <p:nvSpPr>
          <p:cNvPr id="22" name="b11"/>
          <p:cNvSpPr txBox="1"/>
          <p:nvPr/>
        </p:nvSpPr>
        <p:spPr>
          <a:xfrm>
            <a:off x="5181600" y="2743200"/>
            <a:ext cx="1803400" cy="269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40"/>
              </a:lnSpc>
              <a:spcBef>
                <a:spcPts val="10"/>
              </a:spcBef>
              <a:buChar char="•"/>
            </a:pP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关系判定</a:t>
            </a:r>
            <a:endParaRPr lang="en-US" sz="950" noProof="1">
              <a:latin typeface="宋体" charset="0"/>
              <a:ea typeface="宋体" charset="0"/>
              <a:cs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有效记忆选择</a:t>
            </a:r>
            <a:endParaRPr lang="en-US" sz="950" noProof="1">
              <a:latin typeface="宋体" charset="0"/>
              <a:ea typeface="宋体" charset="0"/>
              <a:cs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prompt 与答案生成</a:t>
            </a:r>
            <a:endParaRPr lang="en-US" sz="95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3" name="c4"/>
          <p:cNvSpPr/>
          <p:nvPr/>
        </p:nvSpPr>
        <p:spPr>
          <a:xfrm>
            <a:off x="7315200" y="1104900"/>
            <a:ext cx="2159000" cy="44831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</p:spPr>
      </p:sp>
      <p:sp>
        <p:nvSpPr>
          <p:cNvPr id="24" name="c4bar"/>
          <p:cNvSpPr/>
          <p:nvPr/>
        </p:nvSpPr>
        <p:spPr>
          <a:xfrm>
            <a:off x="7315200" y="1066800"/>
            <a:ext cx="21590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25" name="b12"/>
          <p:cNvSpPr txBox="1"/>
          <p:nvPr/>
        </p:nvSpPr>
        <p:spPr>
          <a:xfrm>
            <a:off x="7493000" y="1244600"/>
            <a:ext cx="1803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800"/>
              </a:lnSpc>
            </a:pPr>
            <a:r>
              <a:rPr lang="en-US" sz="1500" b="1" noProof="1">
                <a:solidFill>
                  <a:srgbClr val="007ACC"/>
                </a:solidFill>
                <a:latin typeface="宋体" charset="0"/>
                <a:ea typeface="宋体" charset="0"/>
              </a:rPr>
              <a:t>许子萌</a:t>
            </a:r>
            <a:endParaRPr lang="en-US" sz="1500" noProof="1">
              <a:latin typeface="宋体" charset="0"/>
              <a:ea typeface="宋体" charset="0"/>
            </a:endParaRPr>
          </a:p>
        </p:txBody>
      </p:sp>
      <p:sp>
        <p:nvSpPr>
          <p:cNvPr id="26" name="b13"/>
          <p:cNvSpPr txBox="1"/>
          <p:nvPr/>
        </p:nvSpPr>
        <p:spPr>
          <a:xfrm>
            <a:off x="7493000" y="1676400"/>
            <a:ext cx="1803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Web 与可视化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7" name="s4"/>
          <p:cNvSpPr/>
          <p:nvPr/>
        </p:nvSpPr>
        <p:spPr>
          <a:xfrm>
            <a:off x="7493000" y="2590800"/>
            <a:ext cx="18034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</p:sp>
      <p:sp>
        <p:nvSpPr>
          <p:cNvPr id="28" name="b14"/>
          <p:cNvSpPr txBox="1"/>
          <p:nvPr/>
        </p:nvSpPr>
        <p:spPr>
          <a:xfrm>
            <a:off x="7493000" y="2743200"/>
            <a:ext cx="1803400" cy="269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40"/>
              </a:lnSpc>
              <a:spcBef>
                <a:spcPts val="10"/>
              </a:spcBef>
              <a:buChar char="•"/>
            </a:pP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</a:rPr>
              <a:t>记忆与证据视图</a:t>
            </a:r>
            <a:endParaRPr lang="en-US" sz="950" noProof="1">
              <a:latin typeface="宋体" charset="0"/>
              <a:ea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</a:rPr>
              <a:t>状态演化展示</a:t>
            </a:r>
            <a:endParaRPr lang="en-US" sz="950" noProof="1">
              <a:latin typeface="宋体" charset="0"/>
              <a:ea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</a:rPr>
              <a:t>演示素材</a:t>
            </a:r>
            <a:endParaRPr lang="en-US" sz="950" noProof="1">
              <a:latin typeface="宋体" charset="0"/>
              <a:ea typeface="宋体" charset="0"/>
            </a:endParaRPr>
          </a:p>
        </p:txBody>
      </p:sp>
      <p:sp>
        <p:nvSpPr>
          <p:cNvPr id="29" name="c5"/>
          <p:cNvSpPr/>
          <p:nvPr/>
        </p:nvSpPr>
        <p:spPr>
          <a:xfrm>
            <a:off x="9626600" y="1104900"/>
            <a:ext cx="2159000" cy="44831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E6FF"/>
            </a:solidFill>
          </a:ln>
        </p:spPr>
      </p:sp>
      <p:sp>
        <p:nvSpPr>
          <p:cNvPr id="30" name="c5bar"/>
          <p:cNvSpPr/>
          <p:nvPr/>
        </p:nvSpPr>
        <p:spPr>
          <a:xfrm>
            <a:off x="9626600" y="1066800"/>
            <a:ext cx="21590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31" name="b15"/>
          <p:cNvSpPr txBox="1"/>
          <p:nvPr/>
        </p:nvSpPr>
        <p:spPr>
          <a:xfrm>
            <a:off x="9804400" y="1244600"/>
            <a:ext cx="1803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800"/>
              </a:lnSpc>
            </a:pPr>
            <a:r>
              <a:rPr lang="en-US" sz="1500" b="1" noProof="1">
                <a:solidFill>
                  <a:srgbClr val="007ACC"/>
                </a:solidFill>
                <a:latin typeface="宋体" charset="0"/>
                <a:ea typeface="宋体" charset="0"/>
              </a:rPr>
              <a:t>张崇洋</a:t>
            </a:r>
            <a:endParaRPr lang="en-US" sz="1500" noProof="1">
              <a:latin typeface="宋体" charset="0"/>
              <a:ea typeface="宋体" charset="0"/>
            </a:endParaRPr>
          </a:p>
        </p:txBody>
      </p:sp>
      <p:sp>
        <p:nvSpPr>
          <p:cNvPr id="32" name="b16"/>
          <p:cNvSpPr txBox="1"/>
          <p:nvPr/>
        </p:nvSpPr>
        <p:spPr>
          <a:xfrm>
            <a:off x="9804400" y="1676400"/>
            <a:ext cx="1803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noProof="1">
                <a:solidFill>
                  <a:srgbClr val="001142"/>
                </a:solidFill>
                <a:latin typeface="宋体" charset="0"/>
                <a:ea typeface="宋体" charset="0"/>
              </a:rPr>
              <a:t>评测与文档</a:t>
            </a:r>
            <a:endParaRPr lang="en-US" sz="1100" noProof="1">
              <a:latin typeface="宋体" charset="0"/>
              <a:ea typeface="宋体" charset="0"/>
            </a:endParaRPr>
          </a:p>
        </p:txBody>
      </p:sp>
      <p:sp>
        <p:nvSpPr>
          <p:cNvPr id="33" name="s5"/>
          <p:cNvSpPr/>
          <p:nvPr/>
        </p:nvSpPr>
        <p:spPr>
          <a:xfrm>
            <a:off x="9804400" y="2590800"/>
            <a:ext cx="1803400" cy="12700"/>
          </a:xfrm>
          <a:prstGeom prst="rect">
            <a:avLst/>
          </a:prstGeom>
          <a:solidFill>
            <a:srgbClr val="D6F1FF"/>
          </a:solidFill>
          <a:ln>
            <a:noFill/>
          </a:ln>
        </p:spPr>
      </p:sp>
      <p:sp>
        <p:nvSpPr>
          <p:cNvPr id="34" name="b17"/>
          <p:cNvSpPr txBox="1"/>
          <p:nvPr/>
        </p:nvSpPr>
        <p:spPr>
          <a:xfrm>
            <a:off x="9804400" y="2743200"/>
            <a:ext cx="1803400" cy="269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1940"/>
              </a:lnSpc>
              <a:spcBef>
                <a:spcPts val="10"/>
              </a:spcBef>
              <a:buChar char="•"/>
            </a:pP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三指标评测</a:t>
            </a:r>
            <a:endParaRPr lang="en-US" sz="950" noProof="1">
              <a:latin typeface="宋体" charset="0"/>
              <a:ea typeface="宋体" charset="0"/>
              <a:cs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对照实验</a:t>
            </a:r>
            <a:endParaRPr lang="en-US" sz="950" noProof="1">
              <a:latin typeface="宋体" charset="0"/>
              <a:ea typeface="宋体" charset="0"/>
              <a:cs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文档定稿</a:t>
            </a:r>
            <a:endParaRPr lang="en-US" sz="950" noProof="1">
              <a:latin typeface="宋体" charset="0"/>
              <a:ea typeface="宋体" charset="0"/>
              <a:cs typeface="宋体" charset="0"/>
            </a:endParaRPr>
          </a:p>
          <a:p>
            <a:pPr algn="l">
              <a:lnSpc>
                <a:spcPts val="1940"/>
              </a:lnSpc>
              <a:spcBef>
                <a:spcPts val="1400"/>
              </a:spcBef>
              <a:buChar char="•"/>
            </a:pPr>
            <a:r>
              <a:rPr lang="en-US" sz="95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slides 排版</a:t>
            </a:r>
            <a:endParaRPr lang="en-US" sz="95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35" name="pageno"/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noProof="1">
                <a:solidFill>
                  <a:srgbClr val="007ACC"/>
                </a:solidFill>
                <a:latin typeface="Liter" panose="02000503030000020004"/>
                <a:ea typeface="Liter" panose="02000503030000020004"/>
              </a:rPr>
              <a:t>07</a:t>
            </a:r>
            <a:endParaRPr lang="en-US" sz="90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381000" y="0"/>
            <a:ext cx="11430000" cy="762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3" name="rail"/>
          <p:cNvSpPr txBox="1"/>
          <p:nvPr/>
        </p:nvSpPr>
        <p:spPr>
          <a:xfrm>
            <a:off x="381000" y="254000"/>
            <a:ext cx="279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kern="0" spc="100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04 · 团队协作规范</a:t>
            </a:r>
            <a:endParaRPr lang="en-US" sz="900" kern="0" spc="100" noProof="1">
              <a:solidFill>
                <a:srgbClr val="007ACC"/>
              </a:solidFill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4" name="b2"/>
          <p:cNvSpPr txBox="1"/>
          <p:nvPr/>
        </p:nvSpPr>
        <p:spPr>
          <a:xfrm>
            <a:off x="381000" y="50800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20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建立严谨工程规范与协作流程，</a:t>
            </a:r>
            <a:r>
              <a:rPr lang="en-US" sz="2000" b="1" noProof="1">
                <a:solidFill>
                  <a:srgbClr val="007ACC"/>
                </a:solidFill>
                <a:latin typeface="宋体" charset="0"/>
                <a:ea typeface="宋体" charset="0"/>
              </a:rPr>
              <a:t>接口先行与代码审查驱动开发</a:t>
            </a:r>
            <a:endParaRPr lang="en-US" sz="2000" noProof="1">
              <a:latin typeface="宋体" charset="0"/>
              <a:ea typeface="宋体" charset="0"/>
            </a:endParaRPr>
          </a:p>
        </p:txBody>
      </p:sp>
      <p:sp>
        <p:nvSpPr>
          <p:cNvPr id="5" name="col1"/>
          <p:cNvSpPr/>
          <p:nvPr/>
        </p:nvSpPr>
        <p:spPr>
          <a:xfrm>
            <a:off x="381000" y="1117600"/>
            <a:ext cx="3556000" cy="4419600"/>
          </a:xfrm>
          <a:prstGeom prst="rect">
            <a:avLst/>
          </a:prstGeom>
          <a:solidFill>
            <a:srgbClr val="F5F9FD"/>
          </a:solidFill>
          <a:ln w="12700">
            <a:solidFill>
              <a:srgbClr val="C2E6FF"/>
            </a:solidFill>
          </a:ln>
        </p:spPr>
      </p:sp>
      <p:sp>
        <p:nvSpPr>
          <p:cNvPr id="6" name="col1bar"/>
          <p:cNvSpPr/>
          <p:nvPr/>
        </p:nvSpPr>
        <p:spPr>
          <a:xfrm>
            <a:off x="381000" y="1066800"/>
            <a:ext cx="3556000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7" name="col1head"/>
          <p:cNvSpPr/>
          <p:nvPr/>
        </p:nvSpPr>
        <p:spPr>
          <a:xfrm>
            <a:off x="381000" y="1117600"/>
            <a:ext cx="3556000" cy="4318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8" name="b3"/>
          <p:cNvSpPr txBox="1"/>
          <p:nvPr/>
        </p:nvSpPr>
        <p:spPr>
          <a:xfrm>
            <a:off x="558800" y="1117600"/>
            <a:ext cx="3200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sz="1300" b="1" noProof="1">
                <a:solidFill>
                  <a:srgbClr val="FFFFFF"/>
                </a:solidFill>
                <a:latin typeface="宋体" charset="0"/>
                <a:ea typeface="宋体" charset="0"/>
                <a:cs typeface="宋体" charset="0"/>
              </a:rPr>
              <a:t>代码管理与版本控制</a:t>
            </a:r>
            <a:endParaRPr lang="en-US" sz="1300" b="1" noProof="1">
              <a:solidFill>
                <a:srgbClr val="FFFFFF"/>
              </a:solidFill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9" name="m1"/>
          <p:cNvSpPr/>
          <p:nvPr/>
        </p:nvSpPr>
        <p:spPr>
          <a:xfrm>
            <a:off x="558800" y="19304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</p:sp>
      <p:sp>
        <p:nvSpPr>
          <p:cNvPr id="10" name="b4"/>
          <p:cNvSpPr txBox="1"/>
          <p:nvPr/>
        </p:nvSpPr>
        <p:spPr>
          <a:xfrm>
            <a:off x="736600" y="1854200"/>
            <a:ext cx="30226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代码托管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：统一基于 GitHub 仓库协作，严格遵守规范的 Git Commit Message 格式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1" name="sep1"/>
          <p:cNvSpPr/>
          <p:nvPr/>
        </p:nvSpPr>
        <p:spPr>
          <a:xfrm>
            <a:off x="736600" y="3048000"/>
            <a:ext cx="3022600" cy="12700"/>
          </a:xfrm>
          <a:prstGeom prst="rect">
            <a:avLst/>
          </a:prstGeom>
          <a:solidFill>
            <a:srgbClr val="C2E6FF"/>
          </a:solidFill>
          <a:ln>
            <a:noFill/>
          </a:ln>
        </p:spPr>
      </p:sp>
      <p:sp>
        <p:nvSpPr>
          <p:cNvPr id="12" name="m2"/>
          <p:cNvSpPr/>
          <p:nvPr/>
        </p:nvSpPr>
        <p:spPr>
          <a:xfrm>
            <a:off x="558800" y="32004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</p:sp>
      <p:sp>
        <p:nvSpPr>
          <p:cNvPr id="13" name="b5"/>
          <p:cNvSpPr txBox="1"/>
          <p:nvPr/>
        </p:nvSpPr>
        <p:spPr>
          <a:xfrm>
            <a:off x="736600" y="3124200"/>
            <a:ext cx="30226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分支策略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：主分支保持随时可发布，成员在 dev / feature 分支独立开发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4" name="sep2"/>
          <p:cNvSpPr/>
          <p:nvPr/>
        </p:nvSpPr>
        <p:spPr>
          <a:xfrm>
            <a:off x="736600" y="4318000"/>
            <a:ext cx="3022600" cy="12700"/>
          </a:xfrm>
          <a:prstGeom prst="rect">
            <a:avLst/>
          </a:prstGeom>
          <a:solidFill>
            <a:srgbClr val="C2E6FF"/>
          </a:solidFill>
          <a:ln>
            <a:noFill/>
          </a:ln>
        </p:spPr>
      </p:sp>
      <p:sp>
        <p:nvSpPr>
          <p:cNvPr id="15" name="m3"/>
          <p:cNvSpPr/>
          <p:nvPr/>
        </p:nvSpPr>
        <p:spPr>
          <a:xfrm>
            <a:off x="558800" y="44704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</p:sp>
      <p:sp>
        <p:nvSpPr>
          <p:cNvPr id="16" name="b6"/>
          <p:cNvSpPr txBox="1"/>
          <p:nvPr/>
        </p:nvSpPr>
        <p:spPr>
          <a:xfrm>
            <a:off x="736600" y="4394200"/>
            <a:ext cx="30226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审查合并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：开发测试完成后发起 PR / Merge Request，至少一名成员 Code Review 后合入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7" name="col2"/>
          <p:cNvSpPr/>
          <p:nvPr/>
        </p:nvSpPr>
        <p:spPr>
          <a:xfrm>
            <a:off x="4318000" y="1117600"/>
            <a:ext cx="3556000" cy="4419600"/>
          </a:xfrm>
          <a:prstGeom prst="rect">
            <a:avLst/>
          </a:prstGeom>
          <a:solidFill>
            <a:srgbClr val="F5F9FD"/>
          </a:solidFill>
          <a:ln w="12700">
            <a:solidFill>
              <a:srgbClr val="C2E6FF"/>
            </a:solidFill>
          </a:ln>
        </p:spPr>
      </p:sp>
      <p:sp>
        <p:nvSpPr>
          <p:cNvPr id="18" name="col2bar"/>
          <p:cNvSpPr/>
          <p:nvPr/>
        </p:nvSpPr>
        <p:spPr>
          <a:xfrm>
            <a:off x="4318000" y="1066800"/>
            <a:ext cx="3556000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19" name="col2head"/>
          <p:cNvSpPr/>
          <p:nvPr/>
        </p:nvSpPr>
        <p:spPr>
          <a:xfrm>
            <a:off x="4318000" y="1117600"/>
            <a:ext cx="3556000" cy="4318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20" name="b7"/>
          <p:cNvSpPr txBox="1"/>
          <p:nvPr/>
        </p:nvSpPr>
        <p:spPr>
          <a:xfrm>
            <a:off x="4495800" y="1117600"/>
            <a:ext cx="3200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sz="1300" b="1" noProof="1">
                <a:solidFill>
                  <a:srgbClr val="FFFFFF"/>
                </a:solidFill>
                <a:latin typeface="宋体" charset="0"/>
                <a:ea typeface="宋体" charset="0"/>
              </a:rPr>
              <a:t>接口契约与文档沉淀</a:t>
            </a:r>
            <a:endParaRPr lang="en-US" sz="1300" b="1" noProof="1">
              <a:solidFill>
                <a:srgbClr val="FFFFFF"/>
              </a:solidFill>
              <a:latin typeface="宋体" charset="0"/>
              <a:ea typeface="宋体" charset="0"/>
            </a:endParaRPr>
          </a:p>
        </p:txBody>
      </p:sp>
      <p:sp>
        <p:nvSpPr>
          <p:cNvPr id="21" name="m4"/>
          <p:cNvSpPr/>
          <p:nvPr/>
        </p:nvSpPr>
        <p:spPr>
          <a:xfrm>
            <a:off x="4495800" y="19304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</p:sp>
      <p:sp>
        <p:nvSpPr>
          <p:cNvPr id="22" name="b8"/>
          <p:cNvSpPr txBox="1"/>
          <p:nvPr/>
        </p:nvSpPr>
        <p:spPr>
          <a:xfrm>
            <a:off x="4673600" y="1854200"/>
            <a:ext cx="30226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接口契约先行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：严格遵循 docs/interfaces.md 定义 Python 接口，解耦 Web 层与算法层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3" name="sep3"/>
          <p:cNvSpPr/>
          <p:nvPr/>
        </p:nvSpPr>
        <p:spPr>
          <a:xfrm>
            <a:off x="4673600" y="3048000"/>
            <a:ext cx="3022600" cy="12700"/>
          </a:xfrm>
          <a:prstGeom prst="rect">
            <a:avLst/>
          </a:prstGeom>
          <a:solidFill>
            <a:srgbClr val="C2E6FF"/>
          </a:solidFill>
          <a:ln>
            <a:noFill/>
          </a:ln>
        </p:spPr>
      </p:sp>
      <p:sp>
        <p:nvSpPr>
          <p:cNvPr id="24" name="m5"/>
          <p:cNvSpPr/>
          <p:nvPr/>
        </p:nvSpPr>
        <p:spPr>
          <a:xfrm>
            <a:off x="4495800" y="32004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</p:sp>
      <p:sp>
        <p:nvSpPr>
          <p:cNvPr id="25" name="b9"/>
          <p:cNvSpPr txBox="1"/>
          <p:nvPr/>
        </p:nvSpPr>
        <p:spPr>
          <a:xfrm>
            <a:off x="4673600" y="3124200"/>
            <a:ext cx="30226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知识库管理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</a:rPr>
              <a:t>：采用语雀知识库沉淀软件需求规格说明书、设计文档与实验日志</a:t>
            </a:r>
            <a:endParaRPr lang="en-US" sz="1100" noProof="1">
              <a:latin typeface="宋体" charset="0"/>
              <a:ea typeface="宋体" charset="0"/>
            </a:endParaRPr>
          </a:p>
        </p:txBody>
      </p:sp>
      <p:sp>
        <p:nvSpPr>
          <p:cNvPr id="26" name="sep4"/>
          <p:cNvSpPr/>
          <p:nvPr/>
        </p:nvSpPr>
        <p:spPr>
          <a:xfrm>
            <a:off x="4673600" y="4318000"/>
            <a:ext cx="3022600" cy="12700"/>
          </a:xfrm>
          <a:prstGeom prst="rect">
            <a:avLst/>
          </a:prstGeom>
          <a:solidFill>
            <a:srgbClr val="C2E6FF"/>
          </a:solidFill>
          <a:ln>
            <a:noFill/>
          </a:ln>
        </p:spPr>
      </p:sp>
      <p:sp>
        <p:nvSpPr>
          <p:cNvPr id="27" name="m6"/>
          <p:cNvSpPr/>
          <p:nvPr/>
        </p:nvSpPr>
        <p:spPr>
          <a:xfrm>
            <a:off x="4495800" y="44704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</p:sp>
      <p:sp>
        <p:nvSpPr>
          <p:cNvPr id="28" name="b10"/>
          <p:cNvSpPr txBox="1"/>
          <p:nvPr/>
        </p:nvSpPr>
        <p:spPr>
          <a:xfrm>
            <a:off x="4673600" y="4394200"/>
            <a:ext cx="30226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任务跟踪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：使用 GitHub Issues 统一收集 Bug 反馈、功能需求并分配负责人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9" name="col3"/>
          <p:cNvSpPr/>
          <p:nvPr/>
        </p:nvSpPr>
        <p:spPr>
          <a:xfrm>
            <a:off x="8255000" y="1117600"/>
            <a:ext cx="3556000" cy="4419600"/>
          </a:xfrm>
          <a:prstGeom prst="rect">
            <a:avLst/>
          </a:prstGeom>
          <a:solidFill>
            <a:srgbClr val="F5F9FD"/>
          </a:solidFill>
          <a:ln w="12700">
            <a:solidFill>
              <a:srgbClr val="C2E6FF"/>
            </a:solidFill>
          </a:ln>
        </p:spPr>
      </p:sp>
      <p:sp>
        <p:nvSpPr>
          <p:cNvPr id="30" name="col3bar"/>
          <p:cNvSpPr/>
          <p:nvPr/>
        </p:nvSpPr>
        <p:spPr>
          <a:xfrm>
            <a:off x="8255000" y="1066800"/>
            <a:ext cx="3556000" cy="508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31" name="col3head"/>
          <p:cNvSpPr/>
          <p:nvPr/>
        </p:nvSpPr>
        <p:spPr>
          <a:xfrm>
            <a:off x="8255000" y="1117600"/>
            <a:ext cx="3556000" cy="4318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32" name="b11"/>
          <p:cNvSpPr txBox="1"/>
          <p:nvPr/>
        </p:nvSpPr>
        <p:spPr>
          <a:xfrm>
            <a:off x="8432800" y="1117600"/>
            <a:ext cx="3200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sz="1300" b="1" noProof="1">
                <a:solidFill>
                  <a:srgbClr val="FFFFFF"/>
                </a:solidFill>
                <a:latin typeface="宋体" charset="0"/>
                <a:ea typeface="宋体" charset="0"/>
              </a:rPr>
              <a:t>日常沟通与进度同步</a:t>
            </a:r>
            <a:endParaRPr lang="en-US" sz="1300" b="1" noProof="1">
              <a:solidFill>
                <a:srgbClr val="FFFFFF"/>
              </a:solidFill>
              <a:latin typeface="宋体" charset="0"/>
              <a:ea typeface="宋体" charset="0"/>
            </a:endParaRPr>
          </a:p>
        </p:txBody>
      </p:sp>
      <p:sp>
        <p:nvSpPr>
          <p:cNvPr id="33" name="m7"/>
          <p:cNvSpPr/>
          <p:nvPr/>
        </p:nvSpPr>
        <p:spPr>
          <a:xfrm>
            <a:off x="8432800" y="19304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</p:sp>
      <p:sp>
        <p:nvSpPr>
          <p:cNvPr id="34" name="b12"/>
          <p:cNvSpPr txBox="1"/>
          <p:nvPr/>
        </p:nvSpPr>
        <p:spPr>
          <a:xfrm>
            <a:off x="8610600" y="1854200"/>
            <a:ext cx="30226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即时沟通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</a:rPr>
              <a:t>：微信群进行日常高频沟通与阻塞问题即时反馈</a:t>
            </a:r>
            <a:endParaRPr lang="en-US" sz="1100" noProof="1">
              <a:latin typeface="宋体" charset="0"/>
              <a:ea typeface="宋体" charset="0"/>
            </a:endParaRPr>
          </a:p>
        </p:txBody>
      </p:sp>
      <p:sp>
        <p:nvSpPr>
          <p:cNvPr id="35" name="sep5"/>
          <p:cNvSpPr/>
          <p:nvPr/>
        </p:nvSpPr>
        <p:spPr>
          <a:xfrm>
            <a:off x="8610600" y="3403600"/>
            <a:ext cx="3022600" cy="12700"/>
          </a:xfrm>
          <a:prstGeom prst="rect">
            <a:avLst/>
          </a:prstGeom>
          <a:solidFill>
            <a:srgbClr val="C2E6FF"/>
          </a:solidFill>
          <a:ln>
            <a:noFill/>
          </a:ln>
        </p:spPr>
      </p:sp>
      <p:sp>
        <p:nvSpPr>
          <p:cNvPr id="36" name="m8"/>
          <p:cNvSpPr/>
          <p:nvPr/>
        </p:nvSpPr>
        <p:spPr>
          <a:xfrm>
            <a:off x="8432800" y="35306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</p:sp>
      <p:sp>
        <p:nvSpPr>
          <p:cNvPr id="37" name="b13"/>
          <p:cNvSpPr txBox="1"/>
          <p:nvPr/>
        </p:nvSpPr>
        <p:spPr>
          <a:xfrm>
            <a:off x="8610600" y="3454400"/>
            <a:ext cx="30226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定期对齐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</a:rPr>
              <a:t>：每周三定期线下例会，同步进展并进行接口联调</a:t>
            </a:r>
            <a:endParaRPr lang="en-US" sz="1100" noProof="1">
              <a:latin typeface="宋体" charset="0"/>
              <a:ea typeface="宋体" charset="0"/>
            </a:endParaRPr>
          </a:p>
        </p:txBody>
      </p:sp>
      <p:sp>
        <p:nvSpPr>
          <p:cNvPr id="38" name="pageno"/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noProof="1">
                <a:solidFill>
                  <a:srgbClr val="007ACC"/>
                </a:solidFill>
                <a:latin typeface="宋体" charset="0"/>
                <a:ea typeface="宋体" charset="0"/>
              </a:rPr>
              <a:t>08</a:t>
            </a:r>
            <a:endParaRPr lang="en-US" sz="900" noProof="1">
              <a:solidFill>
                <a:srgbClr val="007ACC"/>
              </a:solidFill>
              <a:latin typeface="宋体" charset="0"/>
              <a:ea typeface="宋体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381000" y="0"/>
            <a:ext cx="11430000" cy="762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3" name="rail"/>
          <p:cNvSpPr txBox="1"/>
          <p:nvPr/>
        </p:nvSpPr>
        <p:spPr>
          <a:xfrm>
            <a:off x="381000" y="254000"/>
            <a:ext cx="279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kern="0" spc="100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04 · 风险与保障机制</a:t>
            </a:r>
            <a:endParaRPr lang="en-US" sz="900" kern="0" spc="100" noProof="1">
              <a:solidFill>
                <a:srgbClr val="007ACC"/>
              </a:solidFill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4" name="b2"/>
          <p:cNvSpPr txBox="1"/>
          <p:nvPr/>
        </p:nvSpPr>
        <p:spPr>
          <a:xfrm>
            <a:off x="381000" y="50800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20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严守节点与双轮迭代，</a:t>
            </a:r>
            <a:r>
              <a:rPr lang="en-US" sz="2000" b="1" noProof="1">
                <a:solidFill>
                  <a:srgbClr val="007ACC"/>
                </a:solidFill>
                <a:latin typeface="宋体" charset="0"/>
                <a:ea typeface="宋体" charset="0"/>
              </a:rPr>
              <a:t>提前识别四大技术风险并制定应对预案</a:t>
            </a:r>
            <a:endParaRPr lang="en-US" sz="2000" noProof="1">
              <a:latin typeface="宋体" charset="0"/>
              <a:ea typeface="宋体" charset="0"/>
            </a:endParaRPr>
          </a:p>
        </p:txBody>
      </p:sp>
      <p:sp>
        <p:nvSpPr>
          <p:cNvPr id="5" name="leftPanel"/>
          <p:cNvSpPr/>
          <p:nvPr/>
        </p:nvSpPr>
        <p:spPr>
          <a:xfrm>
            <a:off x="381000" y="1066800"/>
            <a:ext cx="4572000" cy="4470400"/>
          </a:xfrm>
          <a:prstGeom prst="rect">
            <a:avLst/>
          </a:prstGeom>
          <a:solidFill>
            <a:srgbClr val="F0F8FF"/>
          </a:solidFill>
          <a:ln w="12700">
            <a:solidFill>
              <a:srgbClr val="C2E6FF"/>
            </a:solidFill>
          </a:ln>
        </p:spPr>
      </p:sp>
      <p:sp>
        <p:nvSpPr>
          <p:cNvPr id="6" name="b3"/>
          <p:cNvSpPr txBox="1"/>
          <p:nvPr/>
        </p:nvSpPr>
        <p:spPr>
          <a:xfrm>
            <a:off x="584200" y="1244600"/>
            <a:ext cx="4165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sz="13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关键里程碑与会议机制</a:t>
            </a:r>
            <a:endParaRPr lang="en-US" sz="1300" b="1" noProof="1">
              <a:solidFill>
                <a:srgbClr val="001142"/>
              </a:solidFill>
              <a:latin typeface="宋体" charset="0"/>
              <a:ea typeface="宋体" charset="0"/>
            </a:endParaRPr>
          </a:p>
        </p:txBody>
      </p:sp>
      <p:sp>
        <p:nvSpPr>
          <p:cNvPr id="7" name="lrule1"/>
          <p:cNvSpPr/>
          <p:nvPr/>
        </p:nvSpPr>
        <p:spPr>
          <a:xfrm>
            <a:off x="584200" y="1676400"/>
            <a:ext cx="4165600" cy="12700"/>
          </a:xfrm>
          <a:prstGeom prst="rect">
            <a:avLst/>
          </a:prstGeom>
          <a:solidFill>
            <a:srgbClr val="C2E6FF"/>
          </a:solidFill>
          <a:ln>
            <a:noFill/>
          </a:ln>
        </p:spPr>
      </p:sp>
      <p:sp>
        <p:nvSpPr>
          <p:cNvPr id="8" name="lm1"/>
          <p:cNvSpPr/>
          <p:nvPr/>
        </p:nvSpPr>
        <p:spPr>
          <a:xfrm>
            <a:off x="584200" y="19304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</p:sp>
      <p:sp>
        <p:nvSpPr>
          <p:cNvPr id="9" name="b4"/>
          <p:cNvSpPr txBox="1"/>
          <p:nvPr/>
        </p:nvSpPr>
        <p:spPr>
          <a:xfrm>
            <a:off x="762000" y="1854200"/>
            <a:ext cx="3987800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例会机制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</a:rPr>
              <a:t>：每周三举行线下推进例会，检查模块进展与联调接口；每周日晚进行代码合并与版本审查</a:t>
            </a:r>
            <a:endParaRPr lang="en-US" sz="1100" noProof="1">
              <a:latin typeface="宋体" charset="0"/>
              <a:ea typeface="宋体" charset="0"/>
            </a:endParaRPr>
          </a:p>
        </p:txBody>
      </p:sp>
      <p:sp>
        <p:nvSpPr>
          <p:cNvPr id="10" name="lrule2"/>
          <p:cNvSpPr/>
          <p:nvPr/>
        </p:nvSpPr>
        <p:spPr>
          <a:xfrm>
            <a:off x="762000" y="2946400"/>
            <a:ext cx="3987800" cy="12700"/>
          </a:xfrm>
          <a:prstGeom prst="rect">
            <a:avLst/>
          </a:prstGeom>
          <a:solidFill>
            <a:srgbClr val="C2E6FF"/>
          </a:solidFill>
          <a:ln>
            <a:noFill/>
          </a:ln>
        </p:spPr>
      </p:sp>
      <p:sp>
        <p:nvSpPr>
          <p:cNvPr id="11" name="lm2"/>
          <p:cNvSpPr/>
          <p:nvPr/>
        </p:nvSpPr>
        <p:spPr>
          <a:xfrm>
            <a:off x="584200" y="3200400"/>
            <a:ext cx="88900" cy="88900"/>
          </a:xfrm>
          <a:prstGeom prst="rect">
            <a:avLst/>
          </a:prstGeom>
          <a:solidFill>
            <a:srgbClr val="001142"/>
          </a:solidFill>
          <a:ln>
            <a:noFill/>
          </a:ln>
        </p:spPr>
      </p:sp>
      <p:sp>
        <p:nvSpPr>
          <p:cNvPr id="12" name="b5"/>
          <p:cNvSpPr txBox="1"/>
          <p:nvPr/>
        </p:nvSpPr>
        <p:spPr>
          <a:xfrm>
            <a:off x="762000" y="3124200"/>
            <a:ext cx="398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32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关键提交节点</a:t>
            </a:r>
            <a:endParaRPr lang="en-US" sz="1100" b="1" noProof="1">
              <a:solidFill>
                <a:srgbClr val="001142"/>
              </a:solidFill>
              <a:latin typeface="宋体" charset="0"/>
              <a:ea typeface="宋体" charset="0"/>
            </a:endParaRPr>
          </a:p>
        </p:txBody>
      </p:sp>
      <p:sp>
        <p:nvSpPr>
          <p:cNvPr id="13" name="nm1"/>
          <p:cNvSpPr/>
          <p:nvPr/>
        </p:nvSpPr>
        <p:spPr>
          <a:xfrm>
            <a:off x="762000" y="3670300"/>
            <a:ext cx="88900" cy="889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14" name="ms1"/>
          <p:cNvSpPr txBox="1"/>
          <p:nvPr/>
        </p:nvSpPr>
        <p:spPr>
          <a:xfrm>
            <a:off x="939800" y="35814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320"/>
              </a:lnSpc>
            </a:pP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10/09 Proposal 展示</a:t>
            </a:r>
            <a:endParaRPr lang="en-US" sz="1100" noProof="1">
              <a:solidFill>
                <a:srgbClr val="000000"/>
              </a:solidFill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5" name="nm2"/>
          <p:cNvSpPr/>
          <p:nvPr/>
        </p:nvSpPr>
        <p:spPr>
          <a:xfrm>
            <a:off x="762000" y="4051300"/>
            <a:ext cx="88900" cy="889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16" name="ms2"/>
          <p:cNvSpPr txBox="1"/>
          <p:nvPr/>
        </p:nvSpPr>
        <p:spPr>
          <a:xfrm>
            <a:off x="939800" y="39624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320"/>
              </a:lnSpc>
            </a:pP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10/10 提交 M1&amp;M2</a:t>
            </a:r>
            <a:endParaRPr lang="en-US" sz="1100" noProof="1">
              <a:solidFill>
                <a:srgbClr val="000000"/>
              </a:solidFill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7" name="nm3"/>
          <p:cNvSpPr/>
          <p:nvPr/>
        </p:nvSpPr>
        <p:spPr>
          <a:xfrm>
            <a:off x="762000" y="4432300"/>
            <a:ext cx="88900" cy="889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18" name="ms3"/>
          <p:cNvSpPr txBox="1"/>
          <p:nvPr/>
        </p:nvSpPr>
        <p:spPr>
          <a:xfrm>
            <a:off x="939800" y="43434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320"/>
              </a:lnSpc>
            </a:pP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10/24 提交 M3&amp;M4</a:t>
            </a:r>
            <a:endParaRPr lang="en-US" sz="1100" noProof="1">
              <a:solidFill>
                <a:srgbClr val="000000"/>
              </a:solidFill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9" name="nm4"/>
          <p:cNvSpPr/>
          <p:nvPr/>
        </p:nvSpPr>
        <p:spPr>
          <a:xfrm>
            <a:off x="762000" y="4813300"/>
            <a:ext cx="88900" cy="889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20" name="b6"/>
          <p:cNvSpPr txBox="1"/>
          <p:nvPr/>
        </p:nvSpPr>
        <p:spPr>
          <a:xfrm>
            <a:off x="939800" y="47244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320"/>
              </a:lnSpc>
            </a:pP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11/09 提交 M5</a:t>
            </a:r>
            <a:endParaRPr lang="en-US" sz="1100" noProof="1">
              <a:solidFill>
                <a:srgbClr val="000000"/>
              </a:solidFill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1" name="rightPanel"/>
          <p:cNvSpPr/>
          <p:nvPr/>
        </p:nvSpPr>
        <p:spPr>
          <a:xfrm>
            <a:off x="5143500" y="1066800"/>
            <a:ext cx="6667500" cy="447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</p:sp>
      <p:sp>
        <p:nvSpPr>
          <p:cNvPr id="22" name="b7"/>
          <p:cNvSpPr txBox="1"/>
          <p:nvPr/>
        </p:nvSpPr>
        <p:spPr>
          <a:xfrm>
            <a:off x="5346700" y="1244600"/>
            <a:ext cx="62611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560"/>
              </a:lnSpc>
            </a:pPr>
            <a:r>
              <a:rPr lang="en-US" sz="1300" b="1" noProof="1">
                <a:solidFill>
                  <a:srgbClr val="001142"/>
                </a:solidFill>
                <a:latin typeface="宋体" charset="0"/>
                <a:ea typeface="宋体" charset="0"/>
              </a:rPr>
              <a:t>四大核心风险与应对策略</a:t>
            </a:r>
            <a:endParaRPr lang="en-US" sz="1300" b="1" noProof="1">
              <a:solidFill>
                <a:srgbClr val="001142"/>
              </a:solidFill>
              <a:latin typeface="宋体" charset="0"/>
              <a:ea typeface="宋体" charset="0"/>
            </a:endParaRPr>
          </a:p>
        </p:txBody>
      </p:sp>
      <p:sp>
        <p:nvSpPr>
          <p:cNvPr id="23" name="rrule0"/>
          <p:cNvSpPr/>
          <p:nvPr/>
        </p:nvSpPr>
        <p:spPr>
          <a:xfrm>
            <a:off x="5346700" y="1676400"/>
            <a:ext cx="62611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4" name="w1"/>
          <p:cNvSpPr/>
          <p:nvPr/>
        </p:nvSpPr>
        <p:spPr>
          <a:xfrm>
            <a:off x="5346700" y="1905000"/>
            <a:ext cx="63500" cy="431800"/>
          </a:xfrm>
          <a:prstGeom prst="rect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25" name="b8"/>
          <p:cNvSpPr txBox="1"/>
          <p:nvPr/>
        </p:nvSpPr>
        <p:spPr>
          <a:xfrm>
            <a:off x="5549900" y="1854200"/>
            <a:ext cx="60579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风险 1 · 状态关系判定效果不达预期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</a:t>
            </a:r>
            <a:r>
              <a:rPr lang="en-US" sz="1100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关键路径成员只做核心算法，不承担辅助工作；先跑通机制再调优效果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6" name="w2"/>
          <p:cNvSpPr/>
          <p:nvPr/>
        </p:nvSpPr>
        <p:spPr>
          <a:xfrm>
            <a:off x="5346700" y="2857500"/>
            <a:ext cx="63500" cy="431800"/>
          </a:xfrm>
          <a:prstGeom prst="rect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27" name="b9"/>
          <p:cNvSpPr txBox="1"/>
          <p:nvPr/>
        </p:nvSpPr>
        <p:spPr>
          <a:xfrm>
            <a:off x="5549900" y="2806700"/>
            <a:ext cx="60579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风险 2 · 检索召回不足放大下游错误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</a:t>
            </a:r>
            <a:r>
              <a:rPr lang="en-US" sz="1100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设计多路检索并做去重合并，用 Recall@K 单独监控检索环节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8" name="w3"/>
          <p:cNvSpPr/>
          <p:nvPr/>
        </p:nvSpPr>
        <p:spPr>
          <a:xfrm>
            <a:off x="5346700" y="3810000"/>
            <a:ext cx="63500" cy="431800"/>
          </a:xfrm>
          <a:prstGeom prst="rect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29" name="b10"/>
          <p:cNvSpPr txBox="1"/>
          <p:nvPr/>
        </p:nvSpPr>
        <p:spPr>
          <a:xfrm>
            <a:off x="5549900" y="3759200"/>
            <a:ext cx="60579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风险 3 · 6 周内完成五个里程碑时间紧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</a:t>
            </a:r>
            <a:r>
              <a:rPr lang="en-US" sz="1100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每个里程碑两轮迭代 ＋ 独立缓冲；功能优先跑通端到端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30" name="w4"/>
          <p:cNvSpPr/>
          <p:nvPr/>
        </p:nvSpPr>
        <p:spPr>
          <a:xfrm>
            <a:off x="5346700" y="4762500"/>
            <a:ext cx="63500" cy="431800"/>
          </a:xfrm>
          <a:prstGeom prst="rect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31" name="b11"/>
          <p:cNvSpPr txBox="1"/>
          <p:nvPr/>
        </p:nvSpPr>
        <p:spPr>
          <a:xfrm>
            <a:off x="5549900" y="4711700"/>
            <a:ext cx="60579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10"/>
              </a:lnSpc>
            </a:pPr>
            <a:r>
              <a:rPr lang="en-US" sz="1100" b="1" noProof="1">
                <a:solidFill>
                  <a:srgbClr val="001142"/>
                </a:solidFill>
                <a:latin typeface="宋体" charset="0"/>
                <a:ea typeface="宋体" charset="0"/>
                <a:cs typeface="宋体" charset="0"/>
              </a:rPr>
              <a:t>风险 4 · 课程评测所用对话不公开</a:t>
            </a:r>
            <a:r>
              <a:rPr lang="en-US" sz="1100" noProof="1">
                <a:solidFill>
                  <a:srgbClr val="000000"/>
                </a:solidFill>
                <a:latin typeface="宋体" charset="0"/>
                <a:ea typeface="宋体" charset="0"/>
                <a:cs typeface="宋体" charset="0"/>
              </a:rPr>
              <a:t>：</a:t>
            </a:r>
            <a:r>
              <a:rPr lang="en-US" sz="1100" noProof="1">
                <a:solidFill>
                  <a:srgbClr val="007ACC"/>
                </a:solidFill>
                <a:latin typeface="宋体" charset="0"/>
                <a:ea typeface="宋体" charset="0"/>
                <a:cs typeface="宋体" charset="0"/>
              </a:rPr>
              <a:t>严格不使用 gold evidence 与答案，规则保持通用</a:t>
            </a:r>
            <a:endParaRPr lang="en-US" sz="110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32" name="pageno"/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noProof="1">
                <a:solidFill>
                  <a:srgbClr val="7FA8D4"/>
                </a:solidFill>
                <a:latin typeface="宋体" charset="0"/>
                <a:ea typeface="宋体" charset="0"/>
              </a:rPr>
              <a:t>09</a:t>
            </a:r>
            <a:endParaRPr lang="en-US" sz="900" noProof="1">
              <a:solidFill>
                <a:srgbClr val="7FA8D4"/>
              </a:solidFill>
              <a:latin typeface="宋体" charset="0"/>
              <a:ea typeface="宋体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1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381000" y="0"/>
            <a:ext cx="11430000" cy="762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3" name="rail"/>
          <p:cNvSpPr txBox="1"/>
          <p:nvPr/>
        </p:nvSpPr>
        <p:spPr>
          <a:xfrm>
            <a:off x="508000" y="2540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kern="0" spc="100" noProof="1">
                <a:solidFill>
                  <a:srgbClr val="A9CFF2"/>
                </a:solidFill>
                <a:latin typeface="宋体" charset="0"/>
                <a:ea typeface="宋体" charset="0"/>
                <a:cs typeface="宋体" charset="0"/>
              </a:rPr>
              <a:t>05 · 总结与交付承诺</a:t>
            </a:r>
            <a:endParaRPr lang="en-US" sz="900" kern="0" spc="100" noProof="1">
              <a:solidFill>
                <a:srgbClr val="A9CFF2"/>
              </a:solidFill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4" name="b2"/>
          <p:cNvSpPr txBox="1"/>
          <p:nvPr/>
        </p:nvSpPr>
        <p:spPr>
          <a:xfrm>
            <a:off x="508000" y="533400"/>
            <a:ext cx="11176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2400"/>
              </a:lnSpc>
            </a:pPr>
            <a:r>
              <a:rPr lang="en-US" sz="2000" b="1" noProof="1">
                <a:solidFill>
                  <a:srgbClr val="FFFFFF"/>
                </a:solidFill>
                <a:latin typeface="宋体" charset="0"/>
                <a:ea typeface="宋体" charset="0"/>
              </a:rPr>
              <a:t>彻底解决长程历史状态失效，</a:t>
            </a:r>
            <a:r>
              <a:rPr lang="en-US" sz="2000" b="1" noProof="1">
                <a:solidFill>
                  <a:srgbClr val="6FB8F5"/>
                </a:solidFill>
                <a:latin typeface="宋体" charset="0"/>
                <a:ea typeface="宋体" charset="0"/>
              </a:rPr>
              <a:t>按期高质量交付可运行问答系统</a:t>
            </a:r>
            <a:endParaRPr lang="en-US" sz="2000" noProof="1">
              <a:latin typeface="宋体" charset="0"/>
              <a:ea typeface="宋体" charset="0"/>
            </a:endParaRPr>
          </a:p>
        </p:txBody>
      </p:sp>
      <p:sp>
        <p:nvSpPr>
          <p:cNvPr id="5" name="tlh"/>
          <p:cNvSpPr/>
          <p:nvPr/>
        </p:nvSpPr>
        <p:spPr>
          <a:xfrm>
            <a:off x="508000" y="1143000"/>
            <a:ext cx="330200" cy="12700"/>
          </a:xfrm>
          <a:prstGeom prst="rect">
            <a:avLst/>
          </a:prstGeom>
          <a:solidFill>
            <a:srgbClr val="1E4A85"/>
          </a:solidFill>
          <a:ln>
            <a:noFill/>
          </a:ln>
        </p:spPr>
      </p:sp>
      <p:sp>
        <p:nvSpPr>
          <p:cNvPr id="6" name="tlv"/>
          <p:cNvSpPr/>
          <p:nvPr/>
        </p:nvSpPr>
        <p:spPr>
          <a:xfrm>
            <a:off x="508000" y="1143000"/>
            <a:ext cx="12700" cy="330200"/>
          </a:xfrm>
          <a:prstGeom prst="rect">
            <a:avLst/>
          </a:prstGeom>
          <a:solidFill>
            <a:srgbClr val="1E4A85"/>
          </a:solidFill>
          <a:ln>
            <a:noFill/>
          </a:ln>
        </p:spPr>
      </p:sp>
      <p:sp>
        <p:nvSpPr>
          <p:cNvPr id="7" name="trh"/>
          <p:cNvSpPr/>
          <p:nvPr/>
        </p:nvSpPr>
        <p:spPr>
          <a:xfrm>
            <a:off x="11353800" y="1143000"/>
            <a:ext cx="330200" cy="12700"/>
          </a:xfrm>
          <a:prstGeom prst="rect">
            <a:avLst/>
          </a:prstGeom>
          <a:solidFill>
            <a:srgbClr val="1E4A85"/>
          </a:solidFill>
          <a:ln>
            <a:noFill/>
          </a:ln>
        </p:spPr>
      </p:sp>
      <p:sp>
        <p:nvSpPr>
          <p:cNvPr id="8" name="trv"/>
          <p:cNvSpPr/>
          <p:nvPr/>
        </p:nvSpPr>
        <p:spPr>
          <a:xfrm>
            <a:off x="11671300" y="1143000"/>
            <a:ext cx="12700" cy="330200"/>
          </a:xfrm>
          <a:prstGeom prst="rect">
            <a:avLst/>
          </a:prstGeom>
          <a:solidFill>
            <a:srgbClr val="1E4A85"/>
          </a:solidFill>
          <a:ln>
            <a:noFill/>
          </a:ln>
        </p:spPr>
      </p:sp>
      <p:sp>
        <p:nvSpPr>
          <p:cNvPr id="9" name="blh"/>
          <p:cNvSpPr/>
          <p:nvPr/>
        </p:nvSpPr>
        <p:spPr>
          <a:xfrm>
            <a:off x="508000" y="5740400"/>
            <a:ext cx="330200" cy="12700"/>
          </a:xfrm>
          <a:prstGeom prst="rect">
            <a:avLst/>
          </a:prstGeom>
          <a:solidFill>
            <a:srgbClr val="1E4A85"/>
          </a:solidFill>
          <a:ln>
            <a:noFill/>
          </a:ln>
        </p:spPr>
      </p:sp>
      <p:sp>
        <p:nvSpPr>
          <p:cNvPr id="10" name="blv"/>
          <p:cNvSpPr/>
          <p:nvPr/>
        </p:nvSpPr>
        <p:spPr>
          <a:xfrm>
            <a:off x="508000" y="5410200"/>
            <a:ext cx="12700" cy="330200"/>
          </a:xfrm>
          <a:prstGeom prst="rect">
            <a:avLst/>
          </a:prstGeom>
          <a:solidFill>
            <a:srgbClr val="1E4A85"/>
          </a:solidFill>
          <a:ln>
            <a:noFill/>
          </a:ln>
        </p:spPr>
      </p:sp>
      <p:sp>
        <p:nvSpPr>
          <p:cNvPr id="11" name="brh"/>
          <p:cNvSpPr/>
          <p:nvPr/>
        </p:nvSpPr>
        <p:spPr>
          <a:xfrm>
            <a:off x="11353800" y="5740400"/>
            <a:ext cx="330200" cy="12700"/>
          </a:xfrm>
          <a:prstGeom prst="rect">
            <a:avLst/>
          </a:prstGeom>
          <a:solidFill>
            <a:srgbClr val="1E4A85"/>
          </a:solidFill>
          <a:ln>
            <a:noFill/>
          </a:ln>
        </p:spPr>
      </p:sp>
      <p:sp>
        <p:nvSpPr>
          <p:cNvPr id="12" name="brv"/>
          <p:cNvSpPr/>
          <p:nvPr/>
        </p:nvSpPr>
        <p:spPr>
          <a:xfrm>
            <a:off x="11671300" y="5410200"/>
            <a:ext cx="12700" cy="330200"/>
          </a:xfrm>
          <a:prstGeom prst="rect">
            <a:avLst/>
          </a:prstGeom>
          <a:solidFill>
            <a:srgbClr val="1E4A85"/>
          </a:solidFill>
          <a:ln>
            <a:noFill/>
          </a:ln>
        </p:spPr>
      </p:sp>
      <p:sp>
        <p:nvSpPr>
          <p:cNvPr id="13" name="panel1"/>
          <p:cNvSpPr/>
          <p:nvPr/>
        </p:nvSpPr>
        <p:spPr>
          <a:xfrm>
            <a:off x="508000" y="1320800"/>
            <a:ext cx="4914900" cy="3327400"/>
          </a:xfrm>
          <a:prstGeom prst="rect">
            <a:avLst/>
          </a:prstGeom>
          <a:solidFill>
            <a:srgbClr val="0A1D56"/>
          </a:solidFill>
          <a:ln w="12700">
            <a:solidFill>
              <a:srgbClr val="007ACC"/>
            </a:solidFill>
          </a:ln>
        </p:spPr>
      </p:sp>
      <p:sp>
        <p:nvSpPr>
          <p:cNvPr id="14" name="b3"/>
          <p:cNvSpPr txBox="1"/>
          <p:nvPr/>
        </p:nvSpPr>
        <p:spPr>
          <a:xfrm>
            <a:off x="711200" y="1473200"/>
            <a:ext cx="45085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680"/>
              </a:lnSpc>
            </a:pPr>
            <a:r>
              <a:rPr lang="en-US" sz="1400" b="1" noProof="1">
                <a:solidFill>
                  <a:srgbClr val="6FB8F5"/>
                </a:solidFill>
                <a:latin typeface="宋体" charset="0"/>
                <a:ea typeface="宋体" charset="0"/>
              </a:rPr>
              <a:t>项目可行性结论</a:t>
            </a:r>
            <a:endParaRPr lang="en-US" sz="1400" b="1" noProof="1">
              <a:solidFill>
                <a:srgbClr val="6FB8F5"/>
              </a:solidFill>
              <a:latin typeface="宋体" charset="0"/>
              <a:ea typeface="宋体" charset="0"/>
            </a:endParaRPr>
          </a:p>
        </p:txBody>
      </p:sp>
      <p:sp>
        <p:nvSpPr>
          <p:cNvPr id="15" name="b4"/>
          <p:cNvSpPr txBox="1"/>
          <p:nvPr/>
        </p:nvSpPr>
        <p:spPr>
          <a:xfrm>
            <a:off x="711200" y="1905000"/>
            <a:ext cx="4508500" cy="2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2510"/>
              </a:lnSpc>
            </a:pPr>
            <a:r>
              <a:rPr lang="en-US" sz="1100" noProof="1">
                <a:solidFill>
                  <a:srgbClr val="FFFFFF"/>
                </a:solidFill>
                <a:latin typeface="宋体" charset="0"/>
                <a:ea typeface="宋体" charset="0"/>
                <a:cs typeface="宋体" charset="0"/>
              </a:rPr>
              <a:t>课题难度适中且边界清晰，所需技术（结构化抽取、检索、大模型提示）均有成熟方案可参考；团队按模块分工、接口先行、双轮迭代推进，能在课程周期内交付可运行系统、结构化记忆 JSON、评测结果与项目报告。</a:t>
            </a:r>
            <a:endParaRPr lang="en-US" sz="1100" noProof="1">
              <a:solidFill>
                <a:srgbClr val="FFFFFF"/>
              </a:solidFill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6" name="panel2"/>
          <p:cNvSpPr/>
          <p:nvPr/>
        </p:nvSpPr>
        <p:spPr>
          <a:xfrm>
            <a:off x="5702300" y="1320800"/>
            <a:ext cx="5981700" cy="3327400"/>
          </a:xfrm>
          <a:prstGeom prst="rect">
            <a:avLst/>
          </a:prstGeom>
          <a:solidFill>
            <a:srgbClr val="0A1D56"/>
          </a:solidFill>
          <a:ln w="12700">
            <a:solidFill>
              <a:srgbClr val="007ACC"/>
            </a:solidFill>
          </a:ln>
        </p:spPr>
      </p:sp>
      <p:sp>
        <p:nvSpPr>
          <p:cNvPr id="17" name="b5"/>
          <p:cNvSpPr txBox="1"/>
          <p:nvPr/>
        </p:nvSpPr>
        <p:spPr>
          <a:xfrm>
            <a:off x="5905500" y="1473200"/>
            <a:ext cx="55753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680"/>
              </a:lnSpc>
            </a:pPr>
            <a:r>
              <a:rPr lang="en-US" sz="1400" b="1" noProof="1">
                <a:solidFill>
                  <a:srgbClr val="6FB8F5"/>
                </a:solidFill>
                <a:latin typeface="宋体" charset="0"/>
                <a:ea typeface="宋体" charset="0"/>
                <a:cs typeface="宋体" charset="0"/>
              </a:rPr>
              <a:t>项目四大最终交付成果</a:t>
            </a:r>
            <a:endParaRPr lang="en-US" sz="1400" b="1" noProof="1">
              <a:solidFill>
                <a:srgbClr val="6FB8F5"/>
              </a:solidFill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18" name="n1"/>
          <p:cNvSpPr/>
          <p:nvPr/>
        </p:nvSpPr>
        <p:spPr>
          <a:xfrm>
            <a:off x="5905500" y="1930400"/>
            <a:ext cx="215900" cy="2159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19" name="n1t"/>
          <p:cNvSpPr txBox="1"/>
          <p:nvPr/>
        </p:nvSpPr>
        <p:spPr>
          <a:xfrm>
            <a:off x="5905500" y="1930400"/>
            <a:ext cx="2159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080"/>
              </a:lnSpc>
            </a:pPr>
            <a:r>
              <a:rPr lang="en-US" sz="900" b="1" noProof="1">
                <a:solidFill>
                  <a:srgbClr val="FFFFFF"/>
                </a:solidFill>
                <a:latin typeface="宋体" charset="0"/>
                <a:ea typeface="宋体" charset="0"/>
              </a:rPr>
              <a:t>1</a:t>
            </a:r>
            <a:endParaRPr lang="en-US" sz="900" b="1" noProof="1">
              <a:solidFill>
                <a:srgbClr val="FFFFFF"/>
              </a:solidFill>
              <a:latin typeface="宋体" charset="0"/>
              <a:ea typeface="宋体" charset="0"/>
            </a:endParaRPr>
          </a:p>
        </p:txBody>
      </p:sp>
      <p:sp>
        <p:nvSpPr>
          <p:cNvPr id="20" name="b6"/>
          <p:cNvSpPr txBox="1"/>
          <p:nvPr/>
        </p:nvSpPr>
        <p:spPr>
          <a:xfrm>
            <a:off x="6248400" y="1879600"/>
            <a:ext cx="52324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40"/>
              </a:lnSpc>
            </a:pPr>
            <a:r>
              <a:rPr lang="en-US" sz="1050" b="1" noProof="1">
                <a:solidFill>
                  <a:srgbClr val="FFFFFF"/>
                </a:solidFill>
                <a:latin typeface="宋体" charset="0"/>
                <a:ea typeface="宋体" charset="0"/>
                <a:cs typeface="宋体" charset="0"/>
              </a:rPr>
              <a:t>可运行问答系统</a:t>
            </a:r>
            <a:r>
              <a:rPr lang="en-US" sz="1050" noProof="1">
                <a:solidFill>
                  <a:srgbClr val="FFFFFF"/>
                </a:solidFill>
                <a:latin typeface="宋体" charset="0"/>
                <a:ea typeface="宋体" charset="0"/>
                <a:cs typeface="宋体" charset="0"/>
              </a:rPr>
              <a:t>：命令行最小闭环与 Web 可视化全链路，支持状态演化与证据回溯</a:t>
            </a:r>
            <a:endParaRPr lang="en-US" sz="105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1" name="n2"/>
          <p:cNvSpPr/>
          <p:nvPr/>
        </p:nvSpPr>
        <p:spPr>
          <a:xfrm>
            <a:off x="5905500" y="2616200"/>
            <a:ext cx="215900" cy="2159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22" name="n2t"/>
          <p:cNvSpPr txBox="1"/>
          <p:nvPr/>
        </p:nvSpPr>
        <p:spPr>
          <a:xfrm>
            <a:off x="5905500" y="2616200"/>
            <a:ext cx="2159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080"/>
              </a:lnSpc>
            </a:pPr>
            <a:r>
              <a:rPr lang="en-US" sz="900" b="1" noProof="1">
                <a:solidFill>
                  <a:srgbClr val="FFFFFF"/>
                </a:solidFill>
                <a:latin typeface="宋体" charset="0"/>
                <a:ea typeface="宋体" charset="0"/>
              </a:rPr>
              <a:t>2</a:t>
            </a:r>
            <a:endParaRPr lang="en-US" sz="900" b="1" noProof="1">
              <a:solidFill>
                <a:srgbClr val="FFFFFF"/>
              </a:solidFill>
              <a:latin typeface="宋体" charset="0"/>
              <a:ea typeface="宋体" charset="0"/>
            </a:endParaRPr>
          </a:p>
        </p:txBody>
      </p:sp>
      <p:sp>
        <p:nvSpPr>
          <p:cNvPr id="23" name="b7"/>
          <p:cNvSpPr txBox="1"/>
          <p:nvPr/>
        </p:nvSpPr>
        <p:spPr>
          <a:xfrm>
            <a:off x="6248400" y="2565400"/>
            <a:ext cx="52324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40"/>
              </a:lnSpc>
            </a:pPr>
            <a:r>
              <a:rPr lang="en-US" sz="1050" b="1" noProof="1">
                <a:solidFill>
                  <a:srgbClr val="FFFFFF"/>
                </a:solidFill>
                <a:latin typeface="宋体" charset="0"/>
                <a:ea typeface="宋体" charset="0"/>
                <a:cs typeface="宋体" charset="0"/>
              </a:rPr>
              <a:t>结构化 Memory JSON</a:t>
            </a:r>
            <a:r>
              <a:rPr lang="en-US" sz="1050" noProof="1">
                <a:solidFill>
                  <a:srgbClr val="FFFFFF"/>
                </a:solidFill>
                <a:latin typeface="宋体" charset="0"/>
                <a:ea typeface="宋体" charset="0"/>
                <a:cs typeface="宋体" charset="0"/>
              </a:rPr>
              <a:t>：覆盖全部指定 LoCoMo 对话，实体、属性、时间、状态完备</a:t>
            </a:r>
            <a:endParaRPr lang="en-US" sz="105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4" name="n3"/>
          <p:cNvSpPr/>
          <p:nvPr/>
        </p:nvSpPr>
        <p:spPr>
          <a:xfrm>
            <a:off x="5905500" y="3302000"/>
            <a:ext cx="215900" cy="2159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25" name="n3t"/>
          <p:cNvSpPr txBox="1"/>
          <p:nvPr/>
        </p:nvSpPr>
        <p:spPr>
          <a:xfrm>
            <a:off x="5905500" y="3302000"/>
            <a:ext cx="2159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080"/>
              </a:lnSpc>
            </a:pPr>
            <a:r>
              <a:rPr lang="en-US" sz="900" b="1" noProof="1">
                <a:solidFill>
                  <a:srgbClr val="FFFFFF"/>
                </a:solidFill>
                <a:latin typeface="宋体" charset="0"/>
                <a:ea typeface="宋体" charset="0"/>
              </a:rPr>
              <a:t>3</a:t>
            </a:r>
            <a:endParaRPr lang="en-US" sz="900" b="1" noProof="1">
              <a:solidFill>
                <a:srgbClr val="FFFFFF"/>
              </a:solidFill>
              <a:latin typeface="宋体" charset="0"/>
              <a:ea typeface="宋体" charset="0"/>
            </a:endParaRPr>
          </a:p>
        </p:txBody>
      </p:sp>
      <p:sp>
        <p:nvSpPr>
          <p:cNvPr id="26" name="b8"/>
          <p:cNvSpPr txBox="1"/>
          <p:nvPr/>
        </p:nvSpPr>
        <p:spPr>
          <a:xfrm>
            <a:off x="6248400" y="3251200"/>
            <a:ext cx="52324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40"/>
              </a:lnSpc>
            </a:pPr>
            <a:r>
              <a:rPr lang="en-US" sz="1050" b="1" noProof="1">
                <a:solidFill>
                  <a:srgbClr val="FFFFFF"/>
                </a:solidFill>
                <a:latin typeface="宋体" charset="0"/>
                <a:ea typeface="宋体" charset="0"/>
                <a:cs typeface="宋体" charset="0"/>
              </a:rPr>
              <a:t>完整评测与对比报告</a:t>
            </a:r>
            <a:r>
              <a:rPr lang="en-US" sz="1050" noProof="1">
                <a:solidFill>
                  <a:srgbClr val="FFFFFF"/>
                </a:solidFill>
                <a:latin typeface="宋体" charset="0"/>
                <a:ea typeface="宋体" charset="0"/>
                <a:cs typeface="宋体" charset="0"/>
              </a:rPr>
              <a:t>：QA F1、Recall@K、状态更新准确率三指标及与双基线对照</a:t>
            </a:r>
            <a:endParaRPr lang="en-US" sz="105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27" name="n4"/>
          <p:cNvSpPr/>
          <p:nvPr/>
        </p:nvSpPr>
        <p:spPr>
          <a:xfrm>
            <a:off x="5905500" y="3987800"/>
            <a:ext cx="215900" cy="215900"/>
          </a:xfrm>
          <a:prstGeom prst="rect">
            <a:avLst/>
          </a:prstGeom>
          <a:solidFill>
            <a:srgbClr val="007ACC"/>
          </a:solidFill>
          <a:ln>
            <a:noFill/>
          </a:ln>
        </p:spPr>
      </p:sp>
      <p:sp>
        <p:nvSpPr>
          <p:cNvPr id="28" name="n4t"/>
          <p:cNvSpPr txBox="1"/>
          <p:nvPr/>
        </p:nvSpPr>
        <p:spPr>
          <a:xfrm>
            <a:off x="5905500" y="3987800"/>
            <a:ext cx="2159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080"/>
              </a:lnSpc>
            </a:pPr>
            <a:r>
              <a:rPr lang="en-US" sz="900" b="1" noProof="1">
                <a:solidFill>
                  <a:srgbClr val="FFFFFF"/>
                </a:solidFill>
                <a:latin typeface="宋体" charset="0"/>
                <a:ea typeface="宋体" charset="0"/>
              </a:rPr>
              <a:t>4</a:t>
            </a:r>
            <a:endParaRPr lang="en-US" sz="900" b="1" noProof="1">
              <a:solidFill>
                <a:srgbClr val="FFFFFF"/>
              </a:solidFill>
              <a:latin typeface="宋体" charset="0"/>
              <a:ea typeface="宋体" charset="0"/>
            </a:endParaRPr>
          </a:p>
        </p:txBody>
      </p:sp>
      <p:sp>
        <p:nvSpPr>
          <p:cNvPr id="29" name="b9"/>
          <p:cNvSpPr txBox="1"/>
          <p:nvPr/>
        </p:nvSpPr>
        <p:spPr>
          <a:xfrm>
            <a:off x="6248400" y="3937000"/>
            <a:ext cx="52324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ts val="2140"/>
              </a:lnSpc>
            </a:pPr>
            <a:r>
              <a:rPr lang="en-US" sz="1050" b="1" noProof="1">
                <a:solidFill>
                  <a:srgbClr val="FFFFFF"/>
                </a:solidFill>
                <a:latin typeface="宋体" charset="0"/>
                <a:ea typeface="宋体" charset="0"/>
                <a:cs typeface="宋体" charset="0"/>
              </a:rPr>
              <a:t>完备技术文档与复现包</a:t>
            </a:r>
            <a:r>
              <a:rPr lang="en-US" sz="1050" noProof="1">
                <a:solidFill>
                  <a:srgbClr val="FFFFFF"/>
                </a:solidFill>
                <a:latin typeface="宋体" charset="0"/>
                <a:ea typeface="宋体" charset="0"/>
                <a:cs typeface="宋体" charset="0"/>
              </a:rPr>
              <a:t>：需求规格说明书、设计文档、演示 PPT、演示环境与录屏备份</a:t>
            </a:r>
            <a:endParaRPr lang="en-US" sz="1050" noProof="1"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30" name="b10"/>
          <p:cNvSpPr txBox="1"/>
          <p:nvPr/>
        </p:nvSpPr>
        <p:spPr>
          <a:xfrm>
            <a:off x="508000" y="5130800"/>
            <a:ext cx="11176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ts val="1560"/>
              </a:lnSpc>
            </a:pPr>
            <a:r>
              <a:rPr lang="en-US" sz="1300" noProof="1">
                <a:solidFill>
                  <a:srgbClr val="C2E6FF"/>
                </a:solidFill>
                <a:latin typeface="宋体" charset="0"/>
                <a:ea typeface="宋体" charset="0"/>
                <a:cs typeface="宋体" charset="0"/>
              </a:rPr>
              <a:t>Q &amp; A · 欢迎各位老师与同学提问与交流</a:t>
            </a:r>
            <a:endParaRPr lang="en-US" sz="1300" noProof="1">
              <a:solidFill>
                <a:srgbClr val="C2E6FF"/>
              </a:solidFill>
              <a:latin typeface="宋体" charset="0"/>
              <a:ea typeface="宋体" charset="0"/>
              <a:cs typeface="宋体" charset="0"/>
            </a:endParaRPr>
          </a:p>
        </p:txBody>
      </p:sp>
      <p:sp>
        <p:nvSpPr>
          <p:cNvPr id="31" name="pageno"/>
          <p:cNvSpPr txBox="1"/>
          <p:nvPr/>
        </p:nvSpPr>
        <p:spPr>
          <a:xfrm>
            <a:off x="381000" y="647700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ts val="1080"/>
              </a:lnSpc>
            </a:pPr>
            <a:r>
              <a:rPr lang="en-US" sz="900" noProof="1">
                <a:solidFill>
                  <a:srgbClr val="7FA8D4"/>
                </a:solidFill>
                <a:latin typeface="宋体" charset="0"/>
                <a:ea typeface="宋体" charset="0"/>
              </a:rPr>
              <a:t>10</a:t>
            </a:r>
            <a:endParaRPr lang="en-US" sz="900" noProof="1">
              <a:solidFill>
                <a:srgbClr val="7FA8D4"/>
              </a:solidFill>
              <a:latin typeface="宋体" charset="0"/>
              <a:ea typeface="宋体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3465</Words>
  <Application>WPS 表格</Application>
  <PresentationFormat/>
  <Paragraphs>337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7" baseType="lpstr">
      <vt:lpstr>Arial</vt:lpstr>
      <vt:lpstr>宋体</vt:lpstr>
      <vt:lpstr>Wingdings</vt:lpstr>
      <vt:lpstr>Liter</vt:lpstr>
      <vt:lpstr>MiSans</vt:lpstr>
      <vt:lpstr>汉仪书宋二KW</vt:lpstr>
      <vt:lpstr>宋体</vt:lpstr>
      <vt:lpstr>微软雅黑</vt:lpstr>
      <vt:lpstr>汉仪旗黑</vt:lpstr>
      <vt:lpstr>Arial Unicode MS</vt:lpstr>
      <vt:lpstr>Calibri</vt:lpstr>
      <vt:lpstr>Helvetica Neue</vt:lpstr>
      <vt:lpstr>Liter</vt:lpstr>
      <vt:lpstr>MiSans</vt:lpstr>
      <vt:lpstr>Lantinghei TC Extralight</vt:lpstr>
      <vt:lpstr>华文仿宋</vt:lpstr>
      <vt:lpstr>PPTD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张崇洋</cp:lastModifiedBy>
  <cp:revision>1</cp:revision>
  <dcterms:created xsi:type="dcterms:W3CDTF">2026-10-08T12:58:55Z</dcterms:created>
  <dcterms:modified xsi:type="dcterms:W3CDTF">2026-10-08T12:58:55Z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  <property fmtid="{D5CDD505-2E9C-101B-9397-08002B2CF9AE}" pid="3" name="KSOProductBuildVer">
    <vt:lpwstr>2052-12.1.24031.24031</vt:lpwstr>
  </property>
  <property fmtid="{D5CDD505-2E9C-101B-9397-08002B2CF9AE}" pid="4" name="ICV">
    <vt:lpwstr>607B740B1D9B76CF8F93C76AC21F589F_43</vt:lpwstr>
  </property>
</Properties>
</file>