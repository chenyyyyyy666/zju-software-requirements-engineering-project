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embeddedFontLst>
    <p:embeddedFont>
      <p:font typeface="Liter" panose="02000503030000020004"/>
      <p:regular r:id="rId16"/>
    </p:embeddedFont>
    <p:embeddedFont>
      <p:font typeface="MiSans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 noProof="1">
                <a:solidFill>
                  <a:schemeClr val="tx1"/>
                </a:solidFill>
                <a:latin typeface="Liter" panose="02000503030000020004"/>
                <a:ea typeface="+mn-ea"/>
                <a:cs typeface="+mn-cs"/>
              </a:defRPr>
            </a:pPr>
            <a:r>
              <a:rPr lang="en-US" sz="1300" noProof="1">
                <a:solidFill>
                  <a:srgbClr val="001142"/>
                </a:solidFill>
              </a:rPr>
              <a:t>评测指标与基准方法对比框架</a:t>
            </a:r>
            <a:endParaRPr lang="en-US" sz="1300" noProof="1">
              <a:solidFill>
                <a:srgbClr val="001142"/>
              </a:solidFill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Text</c:v>
                </c:pt>
              </c:strCache>
            </c:strRef>
          </c:tx>
          <c:spPr>
            <a:solidFill>
              <a:srgbClr val="001142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问题回答 F1</c:v>
                </c:pt>
                <c:pt idx="1">
                  <c:v>Recall@1</c:v>
                </c:pt>
                <c:pt idx="2">
                  <c:v>Recall@5</c:v>
                </c:pt>
                <c:pt idx="3">
                  <c:v>状态更新准确率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Vector RAG</c:v>
                </c:pt>
              </c:strCache>
            </c:strRef>
          </c:tx>
          <c:spPr>
            <a:solidFill>
              <a:srgbClr val="8C9BA5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问题回答 F1</c:v>
                </c:pt>
                <c:pt idx="1">
                  <c:v>Recall@1</c:v>
                </c:pt>
                <c:pt idx="2">
                  <c:v>Recall@5</c:v>
                </c:pt>
                <c:pt idx="3">
                  <c:v>状态更新准确率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本组方法</c:v>
                </c:pt>
              </c:strCache>
            </c:strRef>
          </c:tx>
          <c:spPr>
            <a:solidFill>
              <a:srgbClr val="007ACC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问题回答 F1</c:v>
                </c:pt>
                <c:pt idx="1">
                  <c:v>Recall@1</c:v>
                </c:pt>
                <c:pt idx="2">
                  <c:v>Recall@5</c:v>
                </c:pt>
                <c:pt idx="3">
                  <c:v>状态更新准确率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2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9E4E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 noProof="1">
                <a:solidFill>
                  <a:srgbClr val="637784"/>
                </a:solidFill>
                <a:latin typeface="Liter" panose="020005030300000200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7620" cap="flat" cmpd="sng" algn="ctr">
              <a:solidFill>
                <a:srgbClr val="ED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 noProof="1">
                <a:solidFill>
                  <a:srgbClr val="637784"/>
                </a:solidFill>
                <a:latin typeface="Liter" panose="020005030300000200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 noProof="1">
              <a:solidFill>
                <a:srgbClr val="1A1A1A"/>
              </a:solidFill>
              <a:latin typeface="Liter" panose="020005030300000200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851e9df-f2c2-4f63-b3e9-3d59a01ddf08}"/>
      </c:ext>
    </c:extLst>
  </c:chart>
  <c:spPr>
    <a:noFill/>
    <a:ln>
      <a:noFill/>
    </a:ln>
  </c:spPr>
  <c:txPr>
    <a:bodyPr/>
    <a:lstStyle/>
    <a:p>
      <a:pPr>
        <a:defRPr lang="zh-CN" b="0" i="0" u="none" strike="noStrike" noProof="1">
          <a:latin typeface="Liter" panose="02000503030000020004"/>
        </a:defRPr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op-rule"/>
          <p:cNvSpPr/>
          <p:nvPr/>
        </p:nvSpPr>
        <p:spPr>
          <a:xfrm>
            <a:off x="381000" y="381000"/>
            <a:ext cx="114300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3" name="b1"/>
          <p:cNvSpPr txBox="1"/>
          <p:nvPr/>
        </p:nvSpPr>
        <p:spPr>
          <a:xfrm>
            <a:off x="508000" y="1054100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4415"/>
              </a:lnSpc>
            </a:pPr>
            <a:r>
              <a:rPr lang="en-US" sz="32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「Project Proposal」</a:t>
            </a:r>
            <a:endParaRPr lang="en-US" sz="3200" noProof="1"/>
          </a:p>
        </p:txBody>
      </p:sp>
      <p:sp>
        <p:nvSpPr>
          <p:cNvPr id="4" name="b2"/>
          <p:cNvSpPr txBox="1"/>
          <p:nvPr/>
        </p:nvSpPr>
        <p:spPr>
          <a:xfrm>
            <a:off x="508000" y="1981200"/>
            <a:ext cx="1117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4990"/>
              </a:lnSpc>
            </a:pPr>
            <a:r>
              <a:rPr lang="en-US" sz="32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长程对话动态状态解析</a:t>
            </a:r>
            <a:endParaRPr lang="en-US" sz="3200" noProof="1"/>
          </a:p>
          <a:p>
            <a:pPr algn="l">
              <a:lnSpc>
                <a:spcPts val="4990"/>
              </a:lnSpc>
            </a:pPr>
            <a:r>
              <a:rPr lang="en-US" sz="32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与有效记忆管理</a:t>
            </a:r>
            <a:endParaRPr lang="en-US" sz="3200" noProof="1"/>
          </a:p>
        </p:txBody>
      </p:sp>
      <p:sp>
        <p:nvSpPr>
          <p:cNvPr id="5" name="cover-subtitle-rule"/>
          <p:cNvSpPr/>
          <p:nvPr/>
        </p:nvSpPr>
        <p:spPr>
          <a:xfrm>
            <a:off x="508000" y="3619500"/>
            <a:ext cx="7620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6" name="b3"/>
          <p:cNvSpPr txBox="1"/>
          <p:nvPr/>
        </p:nvSpPr>
        <p:spPr>
          <a:xfrm>
            <a:off x="508000" y="3873500"/>
            <a:ext cx="11176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70"/>
              </a:lnSpc>
            </a:pPr>
            <a:r>
              <a:rPr lang="en-US" sz="1400" noProof="1">
                <a:solidFill>
                  <a:srgbClr val="001142"/>
                </a:solidFill>
                <a:latin typeface="Liter" panose="02000503030000020004"/>
                <a:ea typeface="MiSans"/>
              </a:rPr>
              <a:t>基于 LoCoMo 数据集的结构化抽取、动态状态判定与有效记忆检索系统</a:t>
            </a:r>
            <a:endParaRPr lang="en-US" sz="1400" noProof="1"/>
          </a:p>
        </p:txBody>
      </p:sp>
      <p:sp>
        <p:nvSpPr>
          <p:cNvPr id="7" name="metadata-rule"/>
          <p:cNvSpPr/>
          <p:nvPr/>
        </p:nvSpPr>
        <p:spPr>
          <a:xfrm>
            <a:off x="508000" y="4940300"/>
            <a:ext cx="11176000" cy="127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8" name="b4"/>
          <p:cNvSpPr txBox="1"/>
          <p:nvPr/>
        </p:nvSpPr>
        <p:spPr>
          <a:xfrm>
            <a:off x="508000" y="5181600"/>
            <a:ext cx="24765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637784"/>
                </a:solidFill>
                <a:latin typeface="Liter" panose="02000503030000020004"/>
                <a:ea typeface="MiSans"/>
              </a:rPr>
              <a:t>课程领域</a:t>
            </a:r>
            <a:endParaRPr lang="en-US" sz="1300" noProof="1"/>
          </a:p>
        </p:txBody>
      </p:sp>
      <p:sp>
        <p:nvSpPr>
          <p:cNvPr id="9" name="b5"/>
          <p:cNvSpPr txBox="1"/>
          <p:nvPr/>
        </p:nvSpPr>
        <p:spPr>
          <a:xfrm>
            <a:off x="508000" y="5664200"/>
            <a:ext cx="24638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1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大语言模型与长程对话记忆</a:t>
            </a:r>
            <a:endParaRPr lang="en-US" sz="1100" noProof="1"/>
          </a:p>
        </p:txBody>
      </p:sp>
      <p:sp>
        <p:nvSpPr>
          <p:cNvPr id="10" name="metadata-separator-1"/>
          <p:cNvSpPr/>
          <p:nvPr/>
        </p:nvSpPr>
        <p:spPr>
          <a:xfrm>
            <a:off x="3175000" y="5207000"/>
            <a:ext cx="12700" cy="9398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11" name="b6"/>
          <p:cNvSpPr txBox="1"/>
          <p:nvPr/>
        </p:nvSpPr>
        <p:spPr>
          <a:xfrm>
            <a:off x="3302000" y="5181600"/>
            <a:ext cx="24765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637784"/>
                </a:solidFill>
                <a:latin typeface="Liter" panose="02000503030000020004"/>
                <a:ea typeface="MiSans"/>
              </a:rPr>
              <a:t>方案定位</a:t>
            </a:r>
            <a:endParaRPr lang="en-US" sz="1300" noProof="1"/>
          </a:p>
        </p:txBody>
      </p:sp>
      <p:sp>
        <p:nvSpPr>
          <p:cNvPr id="12" name="b7"/>
          <p:cNvSpPr txBox="1"/>
          <p:nvPr/>
        </p:nvSpPr>
        <p:spPr>
          <a:xfrm>
            <a:off x="3302000" y="5664200"/>
            <a:ext cx="24638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1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检索 + 动态状态关系解析</a:t>
            </a:r>
            <a:endParaRPr lang="en-US" sz="1100" noProof="1"/>
          </a:p>
        </p:txBody>
      </p:sp>
      <p:sp>
        <p:nvSpPr>
          <p:cNvPr id="13" name="metadata-separator-2"/>
          <p:cNvSpPr/>
          <p:nvPr/>
        </p:nvSpPr>
        <p:spPr>
          <a:xfrm>
            <a:off x="5969000" y="5207000"/>
            <a:ext cx="12700" cy="9398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14" name="b8"/>
          <p:cNvSpPr txBox="1"/>
          <p:nvPr/>
        </p:nvSpPr>
        <p:spPr>
          <a:xfrm>
            <a:off x="6096000" y="5181600"/>
            <a:ext cx="24765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637784"/>
                </a:solidFill>
                <a:latin typeface="Liter" panose="02000503030000020004"/>
                <a:ea typeface="MiSans"/>
              </a:rPr>
              <a:t>汇报人</a:t>
            </a:r>
            <a:endParaRPr lang="en-US" sz="1300" noProof="1"/>
          </a:p>
        </p:txBody>
      </p:sp>
      <p:sp>
        <p:nvSpPr>
          <p:cNvPr id="15" name="b9"/>
          <p:cNvSpPr txBox="1"/>
          <p:nvPr/>
        </p:nvSpPr>
        <p:spPr>
          <a:xfrm>
            <a:off x="6096000" y="5664200"/>
            <a:ext cx="24638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1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陈易 · 鲁瑞特 · 于国庆 · 许子萌 · 张崇洋</a:t>
            </a:r>
            <a:endParaRPr lang="en-US" sz="1100" noProof="1"/>
          </a:p>
        </p:txBody>
      </p:sp>
      <p:sp>
        <p:nvSpPr>
          <p:cNvPr id="16" name="metadata-separator-3"/>
          <p:cNvSpPr/>
          <p:nvPr/>
        </p:nvSpPr>
        <p:spPr>
          <a:xfrm>
            <a:off x="8763000" y="5207000"/>
            <a:ext cx="12700" cy="9398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17" name="b10"/>
          <p:cNvSpPr txBox="1"/>
          <p:nvPr/>
        </p:nvSpPr>
        <p:spPr>
          <a:xfrm>
            <a:off x="8890000" y="5181600"/>
            <a:ext cx="24765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637784"/>
                </a:solidFill>
                <a:latin typeface="Liter" panose="02000503030000020004"/>
                <a:ea typeface="MiSans"/>
              </a:rPr>
              <a:t>汇报日期</a:t>
            </a:r>
            <a:endParaRPr lang="en-US" sz="1300" noProof="1"/>
          </a:p>
        </p:txBody>
      </p:sp>
      <p:sp>
        <p:nvSpPr>
          <p:cNvPr id="18" name="b11"/>
          <p:cNvSpPr txBox="1"/>
          <p:nvPr/>
        </p:nvSpPr>
        <p:spPr>
          <a:xfrm>
            <a:off x="8890000" y="5664200"/>
            <a:ext cx="24638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1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10/9 </a:t>
            </a:r>
            <a:endParaRPr lang="en-US" sz="1100" noProof="1"/>
          </a:p>
        </p:txBody>
      </p:sp>
      <p:sp>
        <p:nvSpPr>
          <p:cNvPr id="19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01 / 10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01 背景与痛点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一、问题背景与痛点：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状态演化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与过期记忆挑战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仅检索相关信息无法判断有效性，必须显式判定记忆保留、更新替代或冲突</a:t>
            </a:r>
            <a:endParaRPr lang="en-US" sz="1400" noProof="1"/>
          </a:p>
        </p:txBody>
      </p:sp>
      <p:sp>
        <p:nvSpPr>
          <p:cNvPr id="6" name="grid-vertical"/>
          <p:cNvSpPr/>
          <p:nvPr/>
        </p:nvSpPr>
        <p:spPr>
          <a:xfrm>
            <a:off x="6032500" y="1892300"/>
            <a:ext cx="12700" cy="32385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7" name="grid-horizontal"/>
          <p:cNvSpPr/>
          <p:nvPr/>
        </p:nvSpPr>
        <p:spPr>
          <a:xfrm>
            <a:off x="508000" y="3556000"/>
            <a:ext cx="11176000" cy="127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8" name="number-bg-0"/>
          <p:cNvSpPr/>
          <p:nvPr/>
        </p:nvSpPr>
        <p:spPr>
          <a:xfrm>
            <a:off x="508000" y="1943100"/>
            <a:ext cx="431800" cy="342900"/>
          </a:xfrm>
          <a:prstGeom prst="roundRect">
            <a:avLst>
              <a:gd name="adj" fmla="val 6000"/>
            </a:avLst>
          </a:prstGeom>
          <a:solidFill>
            <a:srgbClr val="EBF5FC"/>
          </a:solidFill>
          <a:ln>
            <a:noFill/>
          </a:ln>
        </p:spPr>
      </p:sp>
      <p:sp>
        <p:nvSpPr>
          <p:cNvPr id="9" name="b3"/>
          <p:cNvSpPr txBox="1"/>
          <p:nvPr/>
        </p:nvSpPr>
        <p:spPr>
          <a:xfrm>
            <a:off x="584200" y="1993900"/>
            <a:ext cx="31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01</a:t>
            </a:r>
            <a:endParaRPr lang="en-US" sz="1300" noProof="1"/>
          </a:p>
        </p:txBody>
      </p:sp>
      <p:sp>
        <p:nvSpPr>
          <p:cNvPr id="10" name="b4"/>
          <p:cNvSpPr txBox="1"/>
          <p:nvPr/>
        </p:nvSpPr>
        <p:spPr>
          <a:xfrm>
            <a:off x="1117600" y="196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3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长程对话中状态持续变化</a:t>
            </a:r>
            <a:endParaRPr lang="en-US" sz="1400" noProof="1"/>
          </a:p>
        </p:txBody>
      </p:sp>
      <p:sp>
        <p:nvSpPr>
          <p:cNvPr id="11" name="b5"/>
          <p:cNvSpPr txBox="1"/>
          <p:nvPr/>
        </p:nvSpPr>
        <p:spPr>
          <a:xfrm>
            <a:off x="1117600" y="24511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用户的工作、居住、计划、偏好等信息在多会话之间不断被更新，例如从“在准备领养申请”演进到“通过领养面试”。</a:t>
            </a:r>
            <a:endParaRPr lang="en-US" sz="1100" noProof="1"/>
          </a:p>
        </p:txBody>
      </p:sp>
      <p:sp>
        <p:nvSpPr>
          <p:cNvPr id="12" name="number-bg-1"/>
          <p:cNvSpPr/>
          <p:nvPr/>
        </p:nvSpPr>
        <p:spPr>
          <a:xfrm>
            <a:off x="6337300" y="1943100"/>
            <a:ext cx="431800" cy="342900"/>
          </a:xfrm>
          <a:prstGeom prst="roundRect">
            <a:avLst>
              <a:gd name="adj" fmla="val 6000"/>
            </a:avLst>
          </a:prstGeom>
          <a:solidFill>
            <a:srgbClr val="EBF5FC"/>
          </a:solidFill>
          <a:ln>
            <a:noFill/>
          </a:ln>
        </p:spPr>
      </p:sp>
      <p:sp>
        <p:nvSpPr>
          <p:cNvPr id="13" name="b6"/>
          <p:cNvSpPr txBox="1"/>
          <p:nvPr/>
        </p:nvSpPr>
        <p:spPr>
          <a:xfrm>
            <a:off x="6413500" y="1993900"/>
            <a:ext cx="31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02</a:t>
            </a:r>
            <a:endParaRPr lang="en-US" sz="1300" noProof="1"/>
          </a:p>
        </p:txBody>
      </p:sp>
      <p:sp>
        <p:nvSpPr>
          <p:cNvPr id="14" name="b7"/>
          <p:cNvSpPr txBox="1"/>
          <p:nvPr/>
        </p:nvSpPr>
        <p:spPr>
          <a:xfrm>
            <a:off x="6946900" y="196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3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普通向量检索无法区分新旧信息</a:t>
            </a:r>
            <a:endParaRPr lang="en-US" sz="1400" noProof="1"/>
          </a:p>
        </p:txBody>
      </p:sp>
      <p:sp>
        <p:nvSpPr>
          <p:cNvPr id="15" name="b8"/>
          <p:cNvSpPr txBox="1"/>
          <p:nvPr/>
        </p:nvSpPr>
        <p:spPr>
          <a:xfrm>
            <a:off x="6946900" y="24511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仅按语义相似度召回，可能同时召回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当前状态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与已被后续信息更新的历史状态，模型无法判断哪条仍然有效。</a:t>
            </a:r>
            <a:endParaRPr lang="en-US" sz="1100" noProof="1"/>
          </a:p>
        </p:txBody>
      </p:sp>
      <p:sp>
        <p:nvSpPr>
          <p:cNvPr id="16" name="number-bg-2"/>
          <p:cNvSpPr/>
          <p:nvPr/>
        </p:nvSpPr>
        <p:spPr>
          <a:xfrm>
            <a:off x="508000" y="3797300"/>
            <a:ext cx="431800" cy="342900"/>
          </a:xfrm>
          <a:prstGeom prst="roundRect">
            <a:avLst>
              <a:gd name="adj" fmla="val 6000"/>
            </a:avLst>
          </a:prstGeom>
          <a:solidFill>
            <a:srgbClr val="EBF5FC"/>
          </a:solidFill>
          <a:ln>
            <a:noFill/>
          </a:ln>
        </p:spPr>
      </p:sp>
      <p:sp>
        <p:nvSpPr>
          <p:cNvPr id="17" name="b9"/>
          <p:cNvSpPr txBox="1"/>
          <p:nvPr/>
        </p:nvSpPr>
        <p:spPr>
          <a:xfrm>
            <a:off x="584200" y="3848100"/>
            <a:ext cx="31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03</a:t>
            </a:r>
            <a:endParaRPr lang="en-US" sz="1300" noProof="1"/>
          </a:p>
        </p:txBody>
      </p:sp>
      <p:sp>
        <p:nvSpPr>
          <p:cNvPr id="18" name="b10"/>
          <p:cNvSpPr txBox="1"/>
          <p:nvPr/>
        </p:nvSpPr>
        <p:spPr>
          <a:xfrm>
            <a:off x="1117600" y="38227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3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错误决策与过期答案隐蔽性高</a:t>
            </a:r>
            <a:endParaRPr lang="en-US" sz="1400" noProof="1"/>
          </a:p>
        </p:txBody>
      </p:sp>
      <p:sp>
        <p:nvSpPr>
          <p:cNvPr id="19" name="b11"/>
          <p:cNvSpPr txBox="1"/>
          <p:nvPr/>
        </p:nvSpPr>
        <p:spPr>
          <a:xfrm>
            <a:off x="1117600" y="43053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系统基于已失效的历史状态回答当前问题，产生错误回答或错误决策，且错误往往难以在生成端被直接察觉。</a:t>
            </a:r>
            <a:endParaRPr lang="en-US" sz="1100" noProof="1"/>
          </a:p>
        </p:txBody>
      </p:sp>
      <p:sp>
        <p:nvSpPr>
          <p:cNvPr id="20" name="number-bg-3"/>
          <p:cNvSpPr/>
          <p:nvPr/>
        </p:nvSpPr>
        <p:spPr>
          <a:xfrm>
            <a:off x="6337300" y="3797300"/>
            <a:ext cx="431800" cy="342900"/>
          </a:xfrm>
          <a:prstGeom prst="roundRect">
            <a:avLst>
              <a:gd name="adj" fmla="val 6000"/>
            </a:avLst>
          </a:prstGeom>
          <a:solidFill>
            <a:srgbClr val="EBF5FC"/>
          </a:solidFill>
          <a:ln>
            <a:noFill/>
          </a:ln>
        </p:spPr>
      </p:sp>
      <p:sp>
        <p:nvSpPr>
          <p:cNvPr id="21" name="b12"/>
          <p:cNvSpPr txBox="1"/>
          <p:nvPr/>
        </p:nvSpPr>
        <p:spPr>
          <a:xfrm>
            <a:off x="6413500" y="3848100"/>
            <a:ext cx="31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04</a:t>
            </a:r>
            <a:endParaRPr lang="en-US" sz="1300" noProof="1"/>
          </a:p>
        </p:txBody>
      </p:sp>
      <p:sp>
        <p:nvSpPr>
          <p:cNvPr id="22" name="b13"/>
          <p:cNvSpPr txBox="1"/>
          <p:nvPr/>
        </p:nvSpPr>
        <p:spPr>
          <a:xfrm>
            <a:off x="6946900" y="38227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3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LoCoMo 课程数据特征</a:t>
            </a:r>
            <a:endParaRPr lang="en-US" sz="1400" noProof="1"/>
          </a:p>
        </p:txBody>
      </p:sp>
      <p:sp>
        <p:nvSpPr>
          <p:cNvPr id="23" name="b14"/>
          <p:cNvSpPr txBox="1"/>
          <p:nvPr/>
        </p:nvSpPr>
        <p:spPr>
          <a:xfrm>
            <a:off x="6946900" y="43053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每段对话平均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588.2 轮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、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27.2 个会话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、约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1.66 万 token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，并提供问答、证据轮次与事件摘要标注，真实刻画状态演化。</a:t>
            </a:r>
            <a:endParaRPr lang="en-US" sz="1100" noProof="1"/>
          </a:p>
        </p:txBody>
      </p:sp>
      <p:sp>
        <p:nvSpPr>
          <p:cNvPr id="24" name="conclusion-background"/>
          <p:cNvSpPr/>
          <p:nvPr/>
        </p:nvSpPr>
        <p:spPr>
          <a:xfrm>
            <a:off x="508000" y="5359400"/>
            <a:ext cx="11176000" cy="914400"/>
          </a:xfrm>
          <a:prstGeom prst="rect">
            <a:avLst/>
          </a:prstGeom>
          <a:solidFill>
            <a:srgbClr val="D6F1FF"/>
          </a:solidFill>
          <a:ln>
            <a:noFill/>
          </a:ln>
        </p:spPr>
      </p:sp>
      <p:sp>
        <p:nvSpPr>
          <p:cNvPr id="25" name="conclusion-accent"/>
          <p:cNvSpPr/>
          <p:nvPr/>
        </p:nvSpPr>
        <p:spPr>
          <a:xfrm>
            <a:off x="508000" y="5359400"/>
            <a:ext cx="5080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6" name="b15"/>
          <p:cNvSpPr txBox="1"/>
          <p:nvPr/>
        </p:nvSpPr>
        <p:spPr>
          <a:xfrm>
            <a:off x="736600" y="5549900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3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核心判断</a:t>
            </a:r>
            <a:endParaRPr lang="en-US" sz="1300" noProof="1"/>
          </a:p>
        </p:txBody>
      </p:sp>
      <p:sp>
        <p:nvSpPr>
          <p:cNvPr id="27" name="b16"/>
          <p:cNvSpPr txBox="1"/>
          <p:nvPr/>
        </p:nvSpPr>
        <p:spPr>
          <a:xfrm>
            <a:off x="2260600" y="5537200"/>
            <a:ext cx="919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320"/>
              </a:lnSpc>
            </a:pPr>
            <a:r>
              <a:rPr lang="en-US" sz="1400" noProof="1">
                <a:solidFill>
                  <a:srgbClr val="001142"/>
                </a:solidFill>
                <a:latin typeface="Liter" panose="02000503030000020004"/>
                <a:ea typeface="MiSans"/>
              </a:rPr>
              <a:t>仅“检索到相关信息”并不足够，还需要显式判断记忆之间是 </a:t>
            </a:r>
            <a:r>
              <a:rPr lang="en-US" sz="14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RETAIN、UPDATE（SUPERSEDE）还是 CONFLICT</a:t>
            </a:r>
            <a:r>
              <a:rPr lang="en-US" sz="1400" noProof="1">
                <a:solidFill>
                  <a:srgbClr val="001142"/>
                </a:solidFill>
                <a:latin typeface="Liter" panose="02000503030000020004"/>
                <a:ea typeface="MiSans"/>
              </a:rPr>
              <a:t>，才能确定当前有效记忆。</a:t>
            </a:r>
            <a:endParaRPr lang="en-US" sz="1400" noProof="1"/>
          </a:p>
        </p:txBody>
      </p:sp>
      <p:sp>
        <p:nvSpPr>
          <p:cNvPr id="28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02 / 10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02 目标范围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二、目标范围：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五大核心交付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与端到端系统边界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构建从原始对话到动态状态解析、有效记忆检索、Web 展示与基准评测的闭环</a:t>
            </a:r>
            <a:endParaRPr lang="en-US" sz="1400" noProof="1"/>
          </a:p>
        </p:txBody>
      </p:sp>
      <p:sp>
        <p:nvSpPr>
          <p:cNvPr id="6" name="delivery-label-bg-0"/>
          <p:cNvSpPr/>
          <p:nvPr/>
        </p:nvSpPr>
        <p:spPr>
          <a:xfrm>
            <a:off x="508000" y="1841500"/>
            <a:ext cx="2006600" cy="7493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7" name="b3"/>
          <p:cNvSpPr txBox="1"/>
          <p:nvPr/>
        </p:nvSpPr>
        <p:spPr>
          <a:xfrm>
            <a:off x="660400" y="1955800"/>
            <a:ext cx="1701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6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01 结构化记忆构建</a:t>
            </a:r>
            <a:endParaRPr lang="en-US" sz="1300" noProof="1"/>
          </a:p>
        </p:txBody>
      </p:sp>
      <p:sp>
        <p:nvSpPr>
          <p:cNvPr id="8" name="b4"/>
          <p:cNvSpPr txBox="1"/>
          <p:nvPr/>
        </p:nvSpPr>
        <p:spPr>
          <a:xfrm>
            <a:off x="2743200" y="1930400"/>
            <a:ext cx="5486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从原始对话抽取人物、事件、时间、状态，统一导出为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JSON 格式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，并可精确回溯到原始对话出处轮次。</a:t>
            </a:r>
            <a:endParaRPr lang="en-US" sz="1100" noProof="1"/>
          </a:p>
        </p:txBody>
      </p:sp>
      <p:sp>
        <p:nvSpPr>
          <p:cNvPr id="9" name="delivery-separator-0"/>
          <p:cNvSpPr/>
          <p:nvPr/>
        </p:nvSpPr>
        <p:spPr>
          <a:xfrm>
            <a:off x="2743200" y="2628900"/>
            <a:ext cx="5486400" cy="127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10" name="delivery-label-bg-1"/>
          <p:cNvSpPr/>
          <p:nvPr/>
        </p:nvSpPr>
        <p:spPr>
          <a:xfrm>
            <a:off x="508000" y="2705100"/>
            <a:ext cx="2006600" cy="7493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11" name="b5"/>
          <p:cNvSpPr txBox="1"/>
          <p:nvPr/>
        </p:nvSpPr>
        <p:spPr>
          <a:xfrm>
            <a:off x="660400" y="2819400"/>
            <a:ext cx="1701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6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02 动态状态解析</a:t>
            </a:r>
            <a:endParaRPr lang="en-US" sz="1300" noProof="1"/>
          </a:p>
        </p:txBody>
      </p:sp>
      <p:sp>
        <p:nvSpPr>
          <p:cNvPr id="12" name="b6"/>
          <p:cNvSpPr txBox="1"/>
          <p:nvPr/>
        </p:nvSpPr>
        <p:spPr>
          <a:xfrm>
            <a:off x="2743200" y="2794000"/>
            <a:ext cx="5486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判定记忆之间的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RETAIN / UPDATE（SUPERSEDE）/ CONFLICT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关系，精准过滤过期状态，确定当前有效记忆。</a:t>
            </a:r>
            <a:endParaRPr lang="en-US" sz="1100" noProof="1"/>
          </a:p>
        </p:txBody>
      </p:sp>
      <p:sp>
        <p:nvSpPr>
          <p:cNvPr id="13" name="delivery-separator-1"/>
          <p:cNvSpPr/>
          <p:nvPr/>
        </p:nvSpPr>
        <p:spPr>
          <a:xfrm>
            <a:off x="2743200" y="3492500"/>
            <a:ext cx="5486400" cy="127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14" name="delivery-label-bg-2"/>
          <p:cNvSpPr/>
          <p:nvPr/>
        </p:nvSpPr>
        <p:spPr>
          <a:xfrm>
            <a:off x="508000" y="3568700"/>
            <a:ext cx="2006600" cy="7493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15" name="b7"/>
          <p:cNvSpPr txBox="1"/>
          <p:nvPr/>
        </p:nvSpPr>
        <p:spPr>
          <a:xfrm>
            <a:off x="660400" y="3683000"/>
            <a:ext cx="1701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6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03 有效记忆</a:t>
            </a:r>
            <a:endParaRPr lang="en-US" sz="1300" noProof="1"/>
          </a:p>
          <a:p>
            <a:pPr algn="l">
              <a:lnSpc>
                <a:spcPts val="206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检索与生成</a:t>
            </a:r>
            <a:endParaRPr lang="en-US" sz="1300" noProof="1"/>
          </a:p>
        </p:txBody>
      </p:sp>
      <p:sp>
        <p:nvSpPr>
          <p:cNvPr id="16" name="b8"/>
          <p:cNvSpPr txBox="1"/>
          <p:nvPr/>
        </p:nvSpPr>
        <p:spPr>
          <a:xfrm>
            <a:off x="2743200" y="3657600"/>
            <a:ext cx="5486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采用两阶段链路：检索相关记忆 → 解析状态 → 调用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DeepSeek API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生成最终准确答案。</a:t>
            </a:r>
            <a:endParaRPr lang="en-US" sz="1100" noProof="1"/>
          </a:p>
        </p:txBody>
      </p:sp>
      <p:sp>
        <p:nvSpPr>
          <p:cNvPr id="17" name="delivery-separator-2"/>
          <p:cNvSpPr/>
          <p:nvPr/>
        </p:nvSpPr>
        <p:spPr>
          <a:xfrm>
            <a:off x="2743200" y="4356100"/>
            <a:ext cx="5486400" cy="127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18" name="delivery-label-bg-3"/>
          <p:cNvSpPr/>
          <p:nvPr/>
        </p:nvSpPr>
        <p:spPr>
          <a:xfrm>
            <a:off x="508000" y="4432300"/>
            <a:ext cx="2006600" cy="7493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19" name="b9"/>
          <p:cNvSpPr txBox="1"/>
          <p:nvPr/>
        </p:nvSpPr>
        <p:spPr>
          <a:xfrm>
            <a:off x="660400" y="4546600"/>
            <a:ext cx="1701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6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04 Web 应用与可视化</a:t>
            </a:r>
            <a:endParaRPr lang="en-US" sz="1300" noProof="1"/>
          </a:p>
        </p:txBody>
      </p:sp>
      <p:sp>
        <p:nvSpPr>
          <p:cNvPr id="20" name="b10"/>
          <p:cNvSpPr txBox="1"/>
          <p:nvPr/>
        </p:nvSpPr>
        <p:spPr>
          <a:xfrm>
            <a:off x="2743200" y="4521200"/>
            <a:ext cx="5486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搭建轻量 Web 界面，直观展示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结构化记忆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、原始证据轮次以及状态演化过程与关系视图。</a:t>
            </a:r>
            <a:endParaRPr lang="en-US" sz="1100" noProof="1"/>
          </a:p>
        </p:txBody>
      </p:sp>
      <p:sp>
        <p:nvSpPr>
          <p:cNvPr id="21" name="delivery-separator-3"/>
          <p:cNvSpPr/>
          <p:nvPr/>
        </p:nvSpPr>
        <p:spPr>
          <a:xfrm>
            <a:off x="2743200" y="5219700"/>
            <a:ext cx="5486400" cy="127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22" name="delivery-label-bg-4"/>
          <p:cNvSpPr/>
          <p:nvPr/>
        </p:nvSpPr>
        <p:spPr>
          <a:xfrm>
            <a:off x="508000" y="5295900"/>
            <a:ext cx="2006600" cy="7493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23" name="b11"/>
          <p:cNvSpPr txBox="1"/>
          <p:nvPr/>
        </p:nvSpPr>
        <p:spPr>
          <a:xfrm>
            <a:off x="660400" y="5410200"/>
            <a:ext cx="1701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6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05 评测与对照分析</a:t>
            </a:r>
            <a:endParaRPr lang="en-US" sz="1300" noProof="1"/>
          </a:p>
        </p:txBody>
      </p:sp>
      <p:sp>
        <p:nvSpPr>
          <p:cNvPr id="24" name="b12"/>
          <p:cNvSpPr txBox="1"/>
          <p:nvPr/>
        </p:nvSpPr>
        <p:spPr>
          <a:xfrm>
            <a:off x="2743200" y="5384800"/>
            <a:ext cx="5486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按三个量化指标系统评测，并与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Full Text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、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Vector RAG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两种主流基准方法展开全面对照分析。</a:t>
            </a:r>
            <a:endParaRPr lang="en-US" sz="1100" noProof="1"/>
          </a:p>
        </p:txBody>
      </p:sp>
      <p:sp>
        <p:nvSpPr>
          <p:cNvPr id="25" name="boundary-bg"/>
          <p:cNvSpPr/>
          <p:nvPr/>
        </p:nvSpPr>
        <p:spPr>
          <a:xfrm>
            <a:off x="8610600" y="1841500"/>
            <a:ext cx="3073400" cy="431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26" name="boundary-top-rule"/>
          <p:cNvSpPr/>
          <p:nvPr/>
        </p:nvSpPr>
        <p:spPr>
          <a:xfrm>
            <a:off x="8610600" y="1841500"/>
            <a:ext cx="30734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7" name="b13"/>
          <p:cNvSpPr txBox="1"/>
          <p:nvPr/>
        </p:nvSpPr>
        <p:spPr>
          <a:xfrm>
            <a:off x="8851900" y="2095500"/>
            <a:ext cx="25527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边界原则</a:t>
            </a:r>
            <a:endParaRPr lang="en-US" sz="1300" noProof="1"/>
          </a:p>
        </p:txBody>
      </p:sp>
      <p:sp>
        <p:nvSpPr>
          <p:cNvPr id="28" name="b14"/>
          <p:cNvSpPr txBox="1"/>
          <p:nvPr/>
        </p:nvSpPr>
        <p:spPr>
          <a:xfrm>
            <a:off x="8851900" y="2628900"/>
            <a:ext cx="2552700" cy="2247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3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聚焦核心算法与状态判定机制，不进行模型训练或微调；后续根据实验结果决定是否增加维度检索或图关系检索，控制实现复杂度。</a:t>
            </a:r>
            <a:endParaRPr lang="en-US" sz="1100" noProof="1"/>
          </a:p>
        </p:txBody>
      </p:sp>
      <p:sp>
        <p:nvSpPr>
          <p:cNvPr id="29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03 / 10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03 数据方案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三、数据方案：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LoCoMo 对话抽取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 Memory 规范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从 6 段原始对话构建原子事实 Memory，严格隔离金标准与答案，确保证据可回溯</a:t>
            </a:r>
            <a:endParaRPr lang="en-US" sz="1400" noProof="1"/>
          </a:p>
        </p:txBody>
      </p:sp>
      <p:sp>
        <p:nvSpPr>
          <p:cNvPr id="6" name="spec-bg-0"/>
          <p:cNvSpPr/>
          <p:nvPr/>
        </p:nvSpPr>
        <p:spPr>
          <a:xfrm>
            <a:off x="508000" y="1892300"/>
            <a:ext cx="5461000" cy="203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</p:sp>
      <p:sp>
        <p:nvSpPr>
          <p:cNvPr id="7" name="b3"/>
          <p:cNvSpPr txBox="1"/>
          <p:nvPr/>
        </p:nvSpPr>
        <p:spPr>
          <a:xfrm>
            <a:off x="736600" y="2095500"/>
            <a:ext cx="5003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数据范围与清洗</a:t>
            </a:r>
            <a:endParaRPr lang="en-US" sz="1300" noProof="1"/>
          </a:p>
        </p:txBody>
      </p:sp>
      <p:sp>
        <p:nvSpPr>
          <p:cNvPr id="8" name="b4"/>
          <p:cNvSpPr txBox="1"/>
          <p:nvPr/>
        </p:nvSpPr>
        <p:spPr>
          <a:xfrm>
            <a:off x="736600" y="2578100"/>
            <a:ext cx="50038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使用课程指定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6 段 LoCoMo 对话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（4 段开发、2 段独立测试，编号待公布）；仅从原始对话构建记忆，过滤图片链接与多模态字段，gold evidence、标准答案及标注摘要严格不进入抽取与检索。</a:t>
            </a:r>
            <a:endParaRPr lang="en-US" sz="1100" noProof="1"/>
          </a:p>
        </p:txBody>
      </p:sp>
      <p:sp>
        <p:nvSpPr>
          <p:cNvPr id="9" name="spec-bg-1"/>
          <p:cNvSpPr/>
          <p:nvPr/>
        </p:nvSpPr>
        <p:spPr>
          <a:xfrm>
            <a:off x="6223000" y="1892300"/>
            <a:ext cx="5461000" cy="2032000"/>
          </a:xfrm>
          <a:prstGeom prst="rect">
            <a:avLst/>
          </a:prstGeom>
          <a:solidFill>
            <a:srgbClr val="D6F1FF"/>
          </a:solidFill>
          <a:ln w="10160">
            <a:solidFill>
              <a:srgbClr val="D9E4EC"/>
            </a:solidFill>
          </a:ln>
        </p:spPr>
      </p:sp>
      <p:sp>
        <p:nvSpPr>
          <p:cNvPr id="10" name="b5"/>
          <p:cNvSpPr txBox="1"/>
          <p:nvPr/>
        </p:nvSpPr>
        <p:spPr>
          <a:xfrm>
            <a:off x="6451600" y="2095500"/>
            <a:ext cx="5003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抽取与 Memory 结构</a:t>
            </a:r>
            <a:endParaRPr lang="en-US" sz="1300" noProof="1"/>
          </a:p>
        </p:txBody>
      </p:sp>
      <p:sp>
        <p:nvSpPr>
          <p:cNvPr id="11" name="b6"/>
          <p:cNvSpPr txBox="1"/>
          <p:nvPr/>
        </p:nvSpPr>
        <p:spPr>
          <a:xfrm>
            <a:off x="6451600" y="2578100"/>
            <a:ext cx="50038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按会话分块将人物、事件和状态抽取为原子事实。每条记录包含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唯一 ID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、事实内容、实体/属性/值、会话时间、事件时间及来源轮次列表；前后状态分别保留供推理模块判定。</a:t>
            </a:r>
            <a:endParaRPr lang="en-US" sz="1100" noProof="1"/>
          </a:p>
        </p:txBody>
      </p:sp>
      <p:sp>
        <p:nvSpPr>
          <p:cNvPr id="12" name="spec-bg-2"/>
          <p:cNvSpPr/>
          <p:nvPr/>
        </p:nvSpPr>
        <p:spPr>
          <a:xfrm>
            <a:off x="508000" y="4140200"/>
            <a:ext cx="5461000" cy="203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</p:sp>
      <p:sp>
        <p:nvSpPr>
          <p:cNvPr id="13" name="b7"/>
          <p:cNvSpPr txBox="1"/>
          <p:nvPr/>
        </p:nvSpPr>
        <p:spPr>
          <a:xfrm>
            <a:off x="736600" y="4343400"/>
            <a:ext cx="5003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存储与两路召回</a:t>
            </a:r>
            <a:endParaRPr lang="en-US" sz="1300" noProof="1"/>
          </a:p>
        </p:txBody>
      </p:sp>
      <p:sp>
        <p:nvSpPr>
          <p:cNvPr id="14" name="b8"/>
          <p:cNvSpPr txBox="1"/>
          <p:nvPr/>
        </p:nvSpPr>
        <p:spPr>
          <a:xfrm>
            <a:off x="736600" y="4826000"/>
            <a:ext cx="50038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按对话导出并复用 outputs/memory/&lt;conversation_id&gt;.json，配套原始证据；已实现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BM25 与 MiniLM 向量召回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，通过 RRF 按 Memory ID 合并去重与排序。</a:t>
            </a:r>
            <a:endParaRPr lang="en-US" sz="1100" noProof="1"/>
          </a:p>
        </p:txBody>
      </p:sp>
      <p:sp>
        <p:nvSpPr>
          <p:cNvPr id="15" name="spec-bg-3"/>
          <p:cNvSpPr/>
          <p:nvPr/>
        </p:nvSpPr>
        <p:spPr>
          <a:xfrm>
            <a:off x="6223000" y="4140200"/>
            <a:ext cx="5461000" cy="2032000"/>
          </a:xfrm>
          <a:prstGeom prst="rect">
            <a:avLst/>
          </a:prstGeom>
          <a:solidFill>
            <a:srgbClr val="D6F1FF"/>
          </a:solidFill>
          <a:ln w="10160">
            <a:solidFill>
              <a:srgbClr val="D9E4EC"/>
            </a:solidFill>
          </a:ln>
        </p:spPr>
      </p:sp>
      <p:sp>
        <p:nvSpPr>
          <p:cNvPr id="16" name="b9"/>
          <p:cNvSpPr txBox="1"/>
          <p:nvPr/>
        </p:nvSpPr>
        <p:spPr>
          <a:xfrm>
            <a:off x="6451600" y="4343400"/>
            <a:ext cx="5003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示例与验收重点</a:t>
            </a:r>
            <a:endParaRPr lang="en-US" sz="1300" noProof="1"/>
          </a:p>
        </p:txBody>
      </p:sp>
      <p:sp>
        <p:nvSpPr>
          <p:cNvPr id="17" name="b10"/>
          <p:cNvSpPr txBox="1"/>
          <p:nvPr/>
        </p:nvSpPr>
        <p:spPr>
          <a:xfrm>
            <a:off x="6451600" y="4826000"/>
            <a:ext cx="50038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课件第 12 页 Caroline / D19:1“上周五通过领养面试”，抽取为 Caroline · adoption_status · passed adoption agency interviews（保留 last Friday 与原始证据）。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验收重点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：JSON 可读写、证据可回溯、对话间不串库。</a:t>
            </a:r>
            <a:endParaRPr lang="en-US" sz="1100" noProof="1"/>
          </a:p>
        </p:txBody>
      </p:sp>
      <p:sp>
        <p:nvSpPr>
          <p:cNvPr id="18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04 / 10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04 技术方案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四、技术方案：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两阶段检索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与四类状态关系判定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核心思路：不直接把历史检索结果交给模型，而在生成前增加一层“动态状态解析”</a:t>
            </a:r>
            <a:endParaRPr lang="en-US" sz="1400" noProof="1"/>
          </a:p>
        </p:txBody>
      </p:sp>
      <p:sp>
        <p:nvSpPr>
          <p:cNvPr id="6" name="top-rule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7" name="pipeline-bg"/>
          <p:cNvSpPr/>
          <p:nvPr/>
        </p:nvSpPr>
        <p:spPr>
          <a:xfrm>
            <a:off x="508000" y="1892300"/>
            <a:ext cx="11176000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pipeline-accent"/>
          <p:cNvSpPr/>
          <p:nvPr/>
        </p:nvSpPr>
        <p:spPr>
          <a:xfrm>
            <a:off x="508000" y="1892300"/>
            <a:ext cx="50800" cy="13335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9" name="b3"/>
          <p:cNvSpPr txBox="1"/>
          <p:nvPr/>
        </p:nvSpPr>
        <p:spPr>
          <a:xfrm>
            <a:off x="736600" y="2095500"/>
            <a:ext cx="10668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整体处理流水线</a:t>
            </a:r>
            <a:endParaRPr lang="en-US" sz="1300" noProof="1"/>
          </a:p>
        </p:txBody>
      </p:sp>
      <p:sp>
        <p:nvSpPr>
          <p:cNvPr id="10" name="b4"/>
          <p:cNvSpPr txBox="1"/>
          <p:nvPr/>
        </p:nvSpPr>
        <p:spPr>
          <a:xfrm>
            <a:off x="736600" y="2514600"/>
            <a:ext cx="10668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记忆构建（抽取原子事实保留证据轮次） → 多路检索（BM25+MiniLM 向量召回） → Query 分析（提取人物/时间/属性/事件/状态 5 维约束） →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动态状态关系判定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→ 有效记忆选择 → DeepSeek 答案生成。</a:t>
            </a:r>
            <a:endParaRPr lang="en-US" sz="1100" noProof="1"/>
          </a:p>
        </p:txBody>
      </p:sp>
      <p:sp>
        <p:nvSpPr>
          <p:cNvPr id="11" name="relations-bg"/>
          <p:cNvSpPr/>
          <p:nvPr/>
        </p:nvSpPr>
        <p:spPr>
          <a:xfrm>
            <a:off x="508000" y="3454400"/>
            <a:ext cx="11176000" cy="166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lation-status-0"/>
          <p:cNvSpPr/>
          <p:nvPr/>
        </p:nvSpPr>
        <p:spPr>
          <a:xfrm>
            <a:off x="736600" y="3644900"/>
            <a:ext cx="101600" cy="101600"/>
          </a:xfrm>
          <a:prstGeom prst="ellipse">
            <a:avLst/>
          </a:prstGeom>
          <a:solidFill>
            <a:srgbClr val="00948A"/>
          </a:solidFill>
          <a:ln>
            <a:noFill/>
          </a:ln>
        </p:spPr>
      </p:sp>
      <p:sp>
        <p:nvSpPr>
          <p:cNvPr id="13" name="b5"/>
          <p:cNvSpPr txBox="1"/>
          <p:nvPr/>
        </p:nvSpPr>
        <p:spPr>
          <a:xfrm>
            <a:off x="952500" y="3606800"/>
            <a:ext cx="2146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95"/>
              </a:lnSpc>
            </a:pPr>
            <a:r>
              <a:rPr lang="en-US" sz="1300" b="1" noProof="1">
                <a:solidFill>
                  <a:srgbClr val="00948A"/>
                </a:solidFill>
                <a:latin typeface="Liter" panose="02000503030000020004"/>
                <a:ea typeface="MiSans"/>
              </a:rPr>
              <a:t>RETAIN</a:t>
            </a:r>
            <a:endParaRPr lang="en-US" sz="1300" noProof="1"/>
          </a:p>
        </p:txBody>
      </p:sp>
      <p:sp>
        <p:nvSpPr>
          <p:cNvPr id="14" name="b6"/>
          <p:cNvSpPr txBox="1"/>
          <p:nvPr/>
        </p:nvSpPr>
        <p:spPr>
          <a:xfrm>
            <a:off x="736600" y="4102100"/>
            <a:ext cx="2336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0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两条记忆描述的是可以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同时成立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的信息，不需要替换，共同保留。</a:t>
            </a:r>
            <a:endParaRPr lang="en-US" sz="1100" noProof="1"/>
          </a:p>
        </p:txBody>
      </p:sp>
      <p:sp>
        <p:nvSpPr>
          <p:cNvPr id="15" name="relation-rule-1"/>
          <p:cNvSpPr/>
          <p:nvPr/>
        </p:nvSpPr>
        <p:spPr>
          <a:xfrm>
            <a:off x="3302000" y="3594100"/>
            <a:ext cx="12700" cy="13589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16" name="relation-status-1"/>
          <p:cNvSpPr/>
          <p:nvPr/>
        </p:nvSpPr>
        <p:spPr>
          <a:xfrm>
            <a:off x="3530600" y="3644900"/>
            <a:ext cx="101600" cy="1016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7" name="b7"/>
          <p:cNvSpPr txBox="1"/>
          <p:nvPr/>
        </p:nvSpPr>
        <p:spPr>
          <a:xfrm>
            <a:off x="3746500" y="3606800"/>
            <a:ext cx="2146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9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UPDATE</a:t>
            </a:r>
            <a:endParaRPr lang="en-US" sz="1300" noProof="1"/>
          </a:p>
        </p:txBody>
      </p:sp>
      <p:sp>
        <p:nvSpPr>
          <p:cNvPr id="18" name="b8"/>
          <p:cNvSpPr txBox="1"/>
          <p:nvPr/>
        </p:nvSpPr>
        <p:spPr>
          <a:xfrm>
            <a:off x="3530600" y="4102100"/>
            <a:ext cx="2336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0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后续信息对已有状态进行了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补充或修改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，应使用更新后的状态。</a:t>
            </a:r>
            <a:endParaRPr lang="en-US" sz="1100" noProof="1"/>
          </a:p>
        </p:txBody>
      </p:sp>
      <p:sp>
        <p:nvSpPr>
          <p:cNvPr id="19" name="relation-rule-2"/>
          <p:cNvSpPr/>
          <p:nvPr/>
        </p:nvSpPr>
        <p:spPr>
          <a:xfrm>
            <a:off x="6096000" y="3594100"/>
            <a:ext cx="12700" cy="13589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20" name="relation-status-2"/>
          <p:cNvSpPr/>
          <p:nvPr/>
        </p:nvSpPr>
        <p:spPr>
          <a:xfrm>
            <a:off x="6324600" y="3644900"/>
            <a:ext cx="101600" cy="101600"/>
          </a:xfrm>
          <a:prstGeom prst="ellipse">
            <a:avLst/>
          </a:prstGeom>
          <a:solidFill>
            <a:srgbClr val="001142"/>
          </a:solidFill>
          <a:ln>
            <a:noFill/>
          </a:ln>
        </p:spPr>
      </p:sp>
      <p:sp>
        <p:nvSpPr>
          <p:cNvPr id="21" name="b9"/>
          <p:cNvSpPr txBox="1"/>
          <p:nvPr/>
        </p:nvSpPr>
        <p:spPr>
          <a:xfrm>
            <a:off x="6540500" y="3606800"/>
            <a:ext cx="2146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9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SUPERSEDE</a:t>
            </a:r>
            <a:endParaRPr lang="en-US" sz="1300" noProof="1"/>
          </a:p>
        </p:txBody>
      </p:sp>
      <p:sp>
        <p:nvSpPr>
          <p:cNvPr id="22" name="b10"/>
          <p:cNvSpPr txBox="1"/>
          <p:nvPr/>
        </p:nvSpPr>
        <p:spPr>
          <a:xfrm>
            <a:off x="6324600" y="4102100"/>
            <a:ext cx="2336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0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新记忆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明确取代旧记忆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，旧状态不再作为当前有效状态使用。</a:t>
            </a:r>
            <a:endParaRPr lang="en-US" sz="1100" noProof="1"/>
          </a:p>
        </p:txBody>
      </p:sp>
      <p:sp>
        <p:nvSpPr>
          <p:cNvPr id="23" name="relation-rule-3"/>
          <p:cNvSpPr/>
          <p:nvPr/>
        </p:nvSpPr>
        <p:spPr>
          <a:xfrm>
            <a:off x="8890000" y="3594100"/>
            <a:ext cx="12700" cy="13589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24" name="relation-status-3"/>
          <p:cNvSpPr/>
          <p:nvPr/>
        </p:nvSpPr>
        <p:spPr>
          <a:xfrm>
            <a:off x="9118600" y="3644900"/>
            <a:ext cx="101600" cy="101600"/>
          </a:xfrm>
          <a:prstGeom prst="ellipse">
            <a:avLst/>
          </a:prstGeom>
          <a:solidFill>
            <a:srgbClr val="E02424"/>
          </a:solidFill>
          <a:ln>
            <a:noFill/>
          </a:ln>
        </p:spPr>
      </p:sp>
      <p:sp>
        <p:nvSpPr>
          <p:cNvPr id="25" name="b11"/>
          <p:cNvSpPr txBox="1"/>
          <p:nvPr/>
        </p:nvSpPr>
        <p:spPr>
          <a:xfrm>
            <a:off x="9334500" y="3606800"/>
            <a:ext cx="2146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95"/>
              </a:lnSpc>
            </a:pPr>
            <a:r>
              <a:rPr lang="en-US" sz="1300" b="1" noProof="1">
                <a:solidFill>
                  <a:srgbClr val="E02424"/>
                </a:solidFill>
                <a:latin typeface="Liter" panose="02000503030000020004"/>
                <a:ea typeface="MiSans"/>
              </a:rPr>
              <a:t>CONFLICT</a:t>
            </a:r>
            <a:endParaRPr lang="en-US" sz="1300" noProof="1"/>
          </a:p>
        </p:txBody>
      </p:sp>
      <p:sp>
        <p:nvSpPr>
          <p:cNvPr id="26" name="b12"/>
          <p:cNvSpPr txBox="1"/>
          <p:nvPr/>
        </p:nvSpPr>
        <p:spPr>
          <a:xfrm>
            <a:off x="9118600" y="4102100"/>
            <a:ext cx="2336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0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两条记忆存在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无法同时成立的矛盾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，结合时间、上下文与证据进一步仲裁。</a:t>
            </a:r>
            <a:endParaRPr lang="en-US" sz="1100" noProof="1"/>
          </a:p>
        </p:txBody>
      </p:sp>
      <p:sp>
        <p:nvSpPr>
          <p:cNvPr id="27" name="method-bg"/>
          <p:cNvSpPr/>
          <p:nvPr/>
        </p:nvSpPr>
        <p:spPr>
          <a:xfrm>
            <a:off x="508000" y="5372100"/>
            <a:ext cx="11176000" cy="889000"/>
          </a:xfrm>
          <a:prstGeom prst="rect">
            <a:avLst/>
          </a:prstGeom>
          <a:solidFill>
            <a:srgbClr val="D6F1FF"/>
          </a:solidFill>
          <a:ln>
            <a:noFill/>
          </a:ln>
        </p:spPr>
      </p:sp>
      <p:sp>
        <p:nvSpPr>
          <p:cNvPr id="28" name="b13"/>
          <p:cNvSpPr txBox="1"/>
          <p:nvPr/>
        </p:nvSpPr>
        <p:spPr>
          <a:xfrm>
            <a:off x="736600" y="5499100"/>
            <a:ext cx="107061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方案取舍与技术优势</a:t>
            </a:r>
            <a:endParaRPr lang="en-US" sz="1300" noProof="1"/>
          </a:p>
        </p:txBody>
      </p:sp>
      <p:sp>
        <p:nvSpPr>
          <p:cNvPr id="29" name="b14"/>
          <p:cNvSpPr txBox="1"/>
          <p:nvPr/>
        </p:nvSpPr>
        <p:spPr>
          <a:xfrm>
            <a:off x="736600" y="5867400"/>
            <a:ext cx="10706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5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参考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DimMem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结构化记忆与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MRAgent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主动检索思想，重点聚焦四类状态关系判定；不微调模型，统一调用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DeepSeek API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完成抽取、判断与生成。</a:t>
            </a:r>
            <a:endParaRPr lang="en-US" sz="1100" noProof="1"/>
          </a:p>
        </p:txBody>
      </p:sp>
      <p:sp>
        <p:nvSpPr>
          <p:cNvPr id="30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05 / 10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05 系统架构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五、系统架构与界面设想：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离线/在线双链路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与交互视图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离线完成记忆构建与索引，在线实现多路检索、状态解析、DeepSeek 答案生成与演化展示</a:t>
            </a:r>
            <a:endParaRPr lang="en-US" sz="1400" noProof="1"/>
          </a:p>
        </p:txBody>
      </p:sp>
      <p:sp>
        <p:nvSpPr>
          <p:cNvPr id="6" name="top-rule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7" name="architecture-bg"/>
          <p:cNvSpPr/>
          <p:nvPr/>
        </p:nvSpPr>
        <p:spPr>
          <a:xfrm>
            <a:off x="508000" y="1816100"/>
            <a:ext cx="6477000" cy="4432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E4EC"/>
            </a:solidFill>
          </a:ln>
        </p:spPr>
      </p:sp>
      <p:sp>
        <p:nvSpPr>
          <p:cNvPr id="8" name="offline-label"/>
          <p:cNvSpPr txBox="1"/>
          <p:nvPr/>
        </p:nvSpPr>
        <p:spPr>
          <a:xfrm>
            <a:off x="685800" y="1955800"/>
            <a:ext cx="2667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离线：记忆构建</a:t>
            </a:r>
            <a:endParaRPr lang="en-US" sz="900" noProof="1"/>
          </a:p>
        </p:txBody>
      </p:sp>
      <p:sp>
        <p:nvSpPr>
          <p:cNvPr id="9" name="online-label"/>
          <p:cNvSpPr txBox="1"/>
          <p:nvPr/>
        </p:nvSpPr>
        <p:spPr>
          <a:xfrm>
            <a:off x="685800" y="3124200"/>
            <a:ext cx="3175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在线：问答与可视化</a:t>
            </a:r>
            <a:endParaRPr lang="en-US" sz="900" noProof="1"/>
          </a:p>
        </p:txBody>
      </p:sp>
      <p:sp>
        <p:nvSpPr>
          <p:cNvPr id="10" name="dialogue"/>
          <p:cNvSpPr/>
          <p:nvPr/>
        </p:nvSpPr>
        <p:spPr>
          <a:xfrm>
            <a:off x="698500" y="2286000"/>
            <a:ext cx="1143000" cy="5588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11" name="dialogue-label"/>
          <p:cNvSpPr txBox="1"/>
          <p:nvPr/>
        </p:nvSpPr>
        <p:spPr>
          <a:xfrm>
            <a:off x="774700" y="2387600"/>
            <a:ext cx="990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LoCoMo 对话</a:t>
            </a:r>
            <a:endParaRPr lang="en-US" sz="1100" noProof="1"/>
          </a:p>
        </p:txBody>
      </p:sp>
      <p:sp>
        <p:nvSpPr>
          <p:cNvPr id="12" name="memory"/>
          <p:cNvSpPr/>
          <p:nvPr/>
        </p:nvSpPr>
        <p:spPr>
          <a:xfrm>
            <a:off x="2247900" y="2286000"/>
            <a:ext cx="1143000" cy="5588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13" name="memory-label"/>
          <p:cNvSpPr txBox="1"/>
          <p:nvPr/>
        </p:nvSpPr>
        <p:spPr>
          <a:xfrm>
            <a:off x="2324100" y="2387600"/>
            <a:ext cx="990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记忆构建模块</a:t>
            </a:r>
            <a:endParaRPr lang="en-US" sz="1100" noProof="1"/>
          </a:p>
        </p:txBody>
      </p:sp>
      <p:sp>
        <p:nvSpPr>
          <p:cNvPr id="14" name="json"/>
          <p:cNvSpPr/>
          <p:nvPr/>
        </p:nvSpPr>
        <p:spPr>
          <a:xfrm>
            <a:off x="3810000" y="2286000"/>
            <a:ext cx="1473200" cy="558800"/>
          </a:xfrm>
          <a:prstGeom prst="rect">
            <a:avLst/>
          </a:prstGeom>
          <a:solidFill>
            <a:srgbClr val="D6F1FF"/>
          </a:solidFill>
          <a:ln>
            <a:noFill/>
          </a:ln>
        </p:spPr>
      </p:sp>
      <p:sp>
        <p:nvSpPr>
          <p:cNvPr id="15" name="json-label"/>
          <p:cNvSpPr txBox="1"/>
          <p:nvPr/>
        </p:nvSpPr>
        <p:spPr>
          <a:xfrm>
            <a:off x="3886200" y="2387600"/>
            <a:ext cx="1320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结构化</a:t>
            </a:r>
            <a:endParaRPr lang="en-US" sz="1100" noProof="1"/>
          </a:p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Memory JSON</a:t>
            </a:r>
            <a:endParaRPr lang="en-US" sz="1100" noProof="1"/>
          </a:p>
        </p:txBody>
      </p:sp>
      <p:sp>
        <p:nvSpPr>
          <p:cNvPr id="16" name="index"/>
          <p:cNvSpPr/>
          <p:nvPr/>
        </p:nvSpPr>
        <p:spPr>
          <a:xfrm>
            <a:off x="5676900" y="2286000"/>
            <a:ext cx="1117600" cy="5588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17" name="index-label"/>
          <p:cNvSpPr txBox="1"/>
          <p:nvPr/>
        </p:nvSpPr>
        <p:spPr>
          <a:xfrm>
            <a:off x="5753100" y="2387600"/>
            <a:ext cx="965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检索索引</a:t>
            </a:r>
            <a:endParaRPr lang="en-US" sz="1100" noProof="1"/>
          </a:p>
        </p:txBody>
      </p:sp>
      <p:sp>
        <p:nvSpPr>
          <p:cNvPr id="18" name="question"/>
          <p:cNvSpPr/>
          <p:nvPr/>
        </p:nvSpPr>
        <p:spPr>
          <a:xfrm>
            <a:off x="698500" y="3530600"/>
            <a:ext cx="1143000" cy="5588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19" name="question-label"/>
          <p:cNvSpPr txBox="1"/>
          <p:nvPr/>
        </p:nvSpPr>
        <p:spPr>
          <a:xfrm>
            <a:off x="774700" y="3632200"/>
            <a:ext cx="990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用户问题</a:t>
            </a:r>
            <a:endParaRPr lang="en-US" sz="1100" noProof="1"/>
          </a:p>
        </p:txBody>
      </p:sp>
      <p:sp>
        <p:nvSpPr>
          <p:cNvPr id="20" name="frontend"/>
          <p:cNvSpPr/>
          <p:nvPr/>
        </p:nvSpPr>
        <p:spPr>
          <a:xfrm>
            <a:off x="2247900" y="3530600"/>
            <a:ext cx="1143000" cy="5588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21" name="frontend-label"/>
          <p:cNvSpPr txBox="1"/>
          <p:nvPr/>
        </p:nvSpPr>
        <p:spPr>
          <a:xfrm>
            <a:off x="2324100" y="3632200"/>
            <a:ext cx="990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Web 前端</a:t>
            </a:r>
            <a:endParaRPr lang="en-US" sz="1100" noProof="1"/>
          </a:p>
        </p:txBody>
      </p:sp>
      <p:sp>
        <p:nvSpPr>
          <p:cNvPr id="22" name="api"/>
          <p:cNvSpPr/>
          <p:nvPr/>
        </p:nvSpPr>
        <p:spPr>
          <a:xfrm>
            <a:off x="3810000" y="3530600"/>
            <a:ext cx="1473200" cy="558800"/>
          </a:xfrm>
          <a:prstGeom prst="rect">
            <a:avLst/>
          </a:prstGeom>
          <a:solidFill>
            <a:srgbClr val="D6F1FF"/>
          </a:solidFill>
          <a:ln>
            <a:noFill/>
          </a:ln>
        </p:spPr>
      </p:sp>
      <p:sp>
        <p:nvSpPr>
          <p:cNvPr id="23" name="api-label"/>
          <p:cNvSpPr txBox="1"/>
          <p:nvPr/>
        </p:nvSpPr>
        <p:spPr>
          <a:xfrm>
            <a:off x="3886200" y="3632200"/>
            <a:ext cx="1320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Web 后端 API</a:t>
            </a:r>
            <a:endParaRPr lang="en-US" sz="1100" noProof="1"/>
          </a:p>
        </p:txBody>
      </p:sp>
      <p:sp>
        <p:nvSpPr>
          <p:cNvPr id="24" name="candidate"/>
          <p:cNvSpPr/>
          <p:nvPr/>
        </p:nvSpPr>
        <p:spPr>
          <a:xfrm>
            <a:off x="5676900" y="3530600"/>
            <a:ext cx="1117600" cy="5588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25" name="candidate-label"/>
          <p:cNvSpPr txBox="1"/>
          <p:nvPr/>
        </p:nvSpPr>
        <p:spPr>
          <a:xfrm>
            <a:off x="5753100" y="3632200"/>
            <a:ext cx="965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候选记忆</a:t>
            </a:r>
            <a:endParaRPr lang="en-US" sz="1100" noProof="1"/>
          </a:p>
        </p:txBody>
      </p:sp>
      <p:sp>
        <p:nvSpPr>
          <p:cNvPr id="26" name="state"/>
          <p:cNvSpPr/>
          <p:nvPr/>
        </p:nvSpPr>
        <p:spPr>
          <a:xfrm>
            <a:off x="5676900" y="4673600"/>
            <a:ext cx="1117600" cy="736600"/>
          </a:xfrm>
          <a:prstGeom prst="rect">
            <a:avLst/>
          </a:prstGeom>
          <a:solidFill>
            <a:srgbClr val="001142"/>
          </a:solidFill>
          <a:ln>
            <a:noFill/>
          </a:ln>
        </p:spPr>
      </p:sp>
      <p:sp>
        <p:nvSpPr>
          <p:cNvPr id="27" name="state-label"/>
          <p:cNvSpPr txBox="1"/>
          <p:nvPr/>
        </p:nvSpPr>
        <p:spPr>
          <a:xfrm>
            <a:off x="5753100" y="4775200"/>
            <a:ext cx="96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FFFFFF"/>
                </a:solidFill>
                <a:latin typeface="Liter" panose="02000503030000020004"/>
                <a:ea typeface="MiSans"/>
              </a:rPr>
              <a:t>状态解析与有效记忆选择</a:t>
            </a:r>
            <a:endParaRPr lang="en-US" sz="1100" noProof="1"/>
          </a:p>
        </p:txBody>
      </p:sp>
      <p:sp>
        <p:nvSpPr>
          <p:cNvPr id="28" name="answer"/>
          <p:cNvSpPr/>
          <p:nvPr/>
        </p:nvSpPr>
        <p:spPr>
          <a:xfrm>
            <a:off x="3810000" y="4673600"/>
            <a:ext cx="1473200" cy="7366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29" name="answer-label"/>
          <p:cNvSpPr txBox="1"/>
          <p:nvPr/>
        </p:nvSpPr>
        <p:spPr>
          <a:xfrm>
            <a:off x="3886200" y="4775200"/>
            <a:ext cx="1320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DeepSeek 答案生成</a:t>
            </a:r>
            <a:endParaRPr lang="en-US" sz="1100" noProof="1"/>
          </a:p>
        </p:txBody>
      </p:sp>
      <p:sp>
        <p:nvSpPr>
          <p:cNvPr id="30" name="views"/>
          <p:cNvSpPr/>
          <p:nvPr/>
        </p:nvSpPr>
        <p:spPr>
          <a:xfrm>
            <a:off x="2247900" y="4673600"/>
            <a:ext cx="1143000" cy="7366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1" name="views-label"/>
          <p:cNvSpPr txBox="1"/>
          <p:nvPr/>
        </p:nvSpPr>
        <p:spPr>
          <a:xfrm>
            <a:off x="2324100" y="4775200"/>
            <a:ext cx="990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记忆证据与</a:t>
            </a:r>
            <a:endParaRPr lang="en-US" sz="1100" noProof="1"/>
          </a:p>
          <a:p>
            <a:pPr algn="l">
              <a:lnSpc>
                <a:spcPts val="1610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关系视图</a:t>
            </a:r>
            <a:endParaRPr lang="en-US" sz="1100" noProof="1"/>
          </a:p>
        </p:txBody>
      </p:sp>
      <p:sp>
        <p:nvSpPr>
          <p:cNvPr id="32" name="view-bg-0"/>
          <p:cNvSpPr/>
          <p:nvPr/>
        </p:nvSpPr>
        <p:spPr>
          <a:xfrm>
            <a:off x="7251700" y="1816100"/>
            <a:ext cx="2133600" cy="13970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3" name="b3"/>
          <p:cNvSpPr txBox="1"/>
          <p:nvPr/>
        </p:nvSpPr>
        <p:spPr>
          <a:xfrm>
            <a:off x="7416800" y="1981200"/>
            <a:ext cx="18034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问答主页面</a:t>
            </a:r>
            <a:endParaRPr lang="en-US" sz="1300" noProof="1"/>
          </a:p>
        </p:txBody>
      </p:sp>
      <p:sp>
        <p:nvSpPr>
          <p:cNvPr id="34" name="b4"/>
          <p:cNvSpPr txBox="1"/>
          <p:nvPr/>
        </p:nvSpPr>
        <p:spPr>
          <a:xfrm>
            <a:off x="7416800" y="2425700"/>
            <a:ext cx="1803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展示用户问题、生成答案及引用的有效记忆。</a:t>
            </a:r>
            <a:endParaRPr lang="en-US" sz="1100" noProof="1"/>
          </a:p>
        </p:txBody>
      </p:sp>
      <p:sp>
        <p:nvSpPr>
          <p:cNvPr id="35" name="view-bg-1"/>
          <p:cNvSpPr/>
          <p:nvPr/>
        </p:nvSpPr>
        <p:spPr>
          <a:xfrm>
            <a:off x="9550400" y="1816100"/>
            <a:ext cx="2133600" cy="13970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6" name="b5"/>
          <p:cNvSpPr txBox="1"/>
          <p:nvPr/>
        </p:nvSpPr>
        <p:spPr>
          <a:xfrm>
            <a:off x="9715500" y="1981200"/>
            <a:ext cx="18034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记忆浏览页</a:t>
            </a:r>
            <a:endParaRPr lang="en-US" sz="1300" noProof="1"/>
          </a:p>
        </p:txBody>
      </p:sp>
      <p:sp>
        <p:nvSpPr>
          <p:cNvPr id="37" name="b6"/>
          <p:cNvSpPr txBox="1"/>
          <p:nvPr/>
        </p:nvSpPr>
        <p:spPr>
          <a:xfrm>
            <a:off x="9715500" y="2425700"/>
            <a:ext cx="1803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按对话完整查看导出的结构化 Memory JSON。</a:t>
            </a:r>
            <a:endParaRPr lang="en-US" sz="1100" noProof="1"/>
          </a:p>
        </p:txBody>
      </p:sp>
      <p:sp>
        <p:nvSpPr>
          <p:cNvPr id="38" name="view-bg-2"/>
          <p:cNvSpPr/>
          <p:nvPr/>
        </p:nvSpPr>
        <p:spPr>
          <a:xfrm>
            <a:off x="7251700" y="3390900"/>
            <a:ext cx="2133600" cy="13970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9" name="b7"/>
          <p:cNvSpPr txBox="1"/>
          <p:nvPr/>
        </p:nvSpPr>
        <p:spPr>
          <a:xfrm>
            <a:off x="7416800" y="3556000"/>
            <a:ext cx="18034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证据详情页</a:t>
            </a:r>
            <a:endParaRPr lang="en-US" sz="1300" noProof="1"/>
          </a:p>
        </p:txBody>
      </p:sp>
      <p:sp>
        <p:nvSpPr>
          <p:cNvPr id="40" name="b8"/>
          <p:cNvSpPr txBox="1"/>
          <p:nvPr/>
        </p:nvSpPr>
        <p:spPr>
          <a:xfrm>
            <a:off x="7416800" y="4000500"/>
            <a:ext cx="1803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点击记忆可精确回看对应的原始对话轮次。</a:t>
            </a:r>
            <a:endParaRPr lang="en-US" sz="1100" noProof="1"/>
          </a:p>
        </p:txBody>
      </p:sp>
      <p:sp>
        <p:nvSpPr>
          <p:cNvPr id="41" name="view-bg-3"/>
          <p:cNvSpPr/>
          <p:nvPr/>
        </p:nvSpPr>
        <p:spPr>
          <a:xfrm>
            <a:off x="9550400" y="3390900"/>
            <a:ext cx="2133600" cy="13970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42" name="b9"/>
          <p:cNvSpPr txBox="1"/>
          <p:nvPr/>
        </p:nvSpPr>
        <p:spPr>
          <a:xfrm>
            <a:off x="9715500" y="3556000"/>
            <a:ext cx="18034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状态演化视图</a:t>
            </a:r>
            <a:endParaRPr lang="en-US" sz="1300" noProof="1"/>
          </a:p>
        </p:txBody>
      </p:sp>
      <p:sp>
        <p:nvSpPr>
          <p:cNvPr id="43" name="b10"/>
          <p:cNvSpPr txBox="1"/>
          <p:nvPr/>
        </p:nvSpPr>
        <p:spPr>
          <a:xfrm>
            <a:off x="9715500" y="4000500"/>
            <a:ext cx="1803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5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动态展示 RETAIN、UPDATE、SUPERSEDE、CONFLICT 关系及当前有效状态。</a:t>
            </a:r>
            <a:endParaRPr lang="en-US" sz="1100" noProof="1"/>
          </a:p>
        </p:txBody>
      </p:sp>
      <p:sp>
        <p:nvSpPr>
          <p:cNvPr id="44" name="interface-bg"/>
          <p:cNvSpPr/>
          <p:nvPr/>
        </p:nvSpPr>
        <p:spPr>
          <a:xfrm>
            <a:off x="7251700" y="4991100"/>
            <a:ext cx="4432300" cy="125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interface-top-rule"/>
          <p:cNvSpPr/>
          <p:nvPr/>
        </p:nvSpPr>
        <p:spPr>
          <a:xfrm>
            <a:off x="7251700" y="4991100"/>
            <a:ext cx="4432300" cy="12700"/>
          </a:xfrm>
          <a:prstGeom prst="rect">
            <a:avLst/>
          </a:prstGeom>
          <a:solidFill>
            <a:srgbClr val="D9E4EC"/>
          </a:solidFill>
          <a:ln>
            <a:noFill/>
          </a:ln>
        </p:spPr>
      </p:sp>
      <p:sp>
        <p:nvSpPr>
          <p:cNvPr id="46" name="b11"/>
          <p:cNvSpPr txBox="1"/>
          <p:nvPr/>
        </p:nvSpPr>
        <p:spPr>
          <a:xfrm>
            <a:off x="7416800" y="5143500"/>
            <a:ext cx="410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模块与接口规范</a:t>
            </a:r>
            <a:endParaRPr lang="en-US" sz="1300" noProof="1"/>
          </a:p>
        </p:txBody>
      </p:sp>
      <p:sp>
        <p:nvSpPr>
          <p:cNvPr id="47" name="b12"/>
          <p:cNvSpPr txBox="1"/>
          <p:nvPr/>
        </p:nvSpPr>
        <p:spPr>
          <a:xfrm>
            <a:off x="7416800" y="5575300"/>
            <a:ext cx="41021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9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后端调用 src/memory/、src/index/、src/reasoning/ Python 接口，接口以 docs/interfaces.md 为准，前后端解耦。</a:t>
            </a:r>
            <a:endParaRPr lang="en-US" sz="1100" noProof="1"/>
          </a:p>
        </p:txBody>
      </p:sp>
      <p:sp>
        <p:nvSpPr>
          <p:cNvPr id="48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06 / 10</a:t>
            </a:r>
            <a:endParaRPr lang="en-US" sz="900" noProof="1"/>
          </a:p>
        </p:txBody>
      </p:sp>
      <p:sp>
        <p:nvSpPr>
          <p:cNvPr id="49" name="link-dialogue-memory"/>
          <p:cNvSpPr/>
          <p:nvPr/>
        </p:nvSpPr>
        <p:spPr>
          <a:xfrm>
            <a:off x="1841500" y="2552700"/>
            <a:ext cx="406400" cy="25400"/>
          </a:xfrm>
          <a:custGeom>
            <a:avLst/>
            <a:gdLst/>
            <a:ahLst/>
            <a:cxnLst/>
            <a:rect l="l" t="t" r="r" b="b"/>
            <a:pathLst>
              <a:path w="406400" h="25400">
                <a:moveTo>
                  <a:pt x="0" y="12700"/>
                </a:moveTo>
                <a:lnTo>
                  <a:pt x="406400" y="127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0" name="link-memory-json"/>
          <p:cNvSpPr/>
          <p:nvPr/>
        </p:nvSpPr>
        <p:spPr>
          <a:xfrm>
            <a:off x="3390900" y="2552700"/>
            <a:ext cx="419100" cy="25400"/>
          </a:xfrm>
          <a:custGeom>
            <a:avLst/>
            <a:gdLst/>
            <a:ahLst/>
            <a:cxnLst/>
            <a:rect l="l" t="t" r="r" b="b"/>
            <a:pathLst>
              <a:path w="419100" h="25400">
                <a:moveTo>
                  <a:pt x="0" y="12700"/>
                </a:moveTo>
                <a:lnTo>
                  <a:pt x="419100" y="127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1" name="link-json-index"/>
          <p:cNvSpPr/>
          <p:nvPr/>
        </p:nvSpPr>
        <p:spPr>
          <a:xfrm>
            <a:off x="5283200" y="2552700"/>
            <a:ext cx="393700" cy="25400"/>
          </a:xfrm>
          <a:custGeom>
            <a:avLst/>
            <a:gdLst/>
            <a:ahLst/>
            <a:cxnLst/>
            <a:rect l="l" t="t" r="r" b="b"/>
            <a:pathLst>
              <a:path w="393700" h="25400">
                <a:moveTo>
                  <a:pt x="0" y="12700"/>
                </a:moveTo>
                <a:lnTo>
                  <a:pt x="393700" y="127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2" name="link-question-frontend"/>
          <p:cNvSpPr/>
          <p:nvPr/>
        </p:nvSpPr>
        <p:spPr>
          <a:xfrm>
            <a:off x="1841500" y="3797300"/>
            <a:ext cx="406400" cy="25400"/>
          </a:xfrm>
          <a:custGeom>
            <a:avLst/>
            <a:gdLst/>
            <a:ahLst/>
            <a:cxnLst/>
            <a:rect l="l" t="t" r="r" b="b"/>
            <a:pathLst>
              <a:path w="406400" h="25400">
                <a:moveTo>
                  <a:pt x="0" y="12700"/>
                </a:moveTo>
                <a:lnTo>
                  <a:pt x="406400" y="127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3" name="link-frontend-api"/>
          <p:cNvSpPr/>
          <p:nvPr/>
        </p:nvSpPr>
        <p:spPr>
          <a:xfrm>
            <a:off x="3390900" y="3797300"/>
            <a:ext cx="419100" cy="25400"/>
          </a:xfrm>
          <a:custGeom>
            <a:avLst/>
            <a:gdLst/>
            <a:ahLst/>
            <a:cxnLst/>
            <a:rect l="l" t="t" r="r" b="b"/>
            <a:pathLst>
              <a:path w="419100" h="25400">
                <a:moveTo>
                  <a:pt x="0" y="12700"/>
                </a:moveTo>
                <a:lnTo>
                  <a:pt x="419100" y="12700"/>
                </a:lnTo>
              </a:path>
            </a:pathLst>
          </a:custGeom>
          <a:noFill/>
          <a:ln w="15240">
            <a:solidFill>
              <a:srgbClr val="007ACC"/>
            </a:solidFill>
            <a:headEnd type="arrow"/>
            <a:tailEnd type="arrow"/>
          </a:ln>
        </p:spPr>
      </p:sp>
      <p:sp>
        <p:nvSpPr>
          <p:cNvPr id="54" name="link-api-index"/>
          <p:cNvSpPr/>
          <p:nvPr/>
        </p:nvSpPr>
        <p:spPr>
          <a:xfrm>
            <a:off x="4781804" y="2844800"/>
            <a:ext cx="1278001" cy="685800"/>
          </a:xfrm>
          <a:custGeom>
            <a:avLst/>
            <a:gdLst/>
            <a:ahLst/>
            <a:cxnLst/>
            <a:rect l="l" t="t" r="r" b="b"/>
            <a:pathLst>
              <a:path w="1278001" h="685800">
                <a:moveTo>
                  <a:pt x="0" y="685800"/>
                </a:moveTo>
                <a:lnTo>
                  <a:pt x="0" y="342900"/>
                </a:lnTo>
                <a:lnTo>
                  <a:pt x="1278001" y="342900"/>
                </a:lnTo>
                <a:lnTo>
                  <a:pt x="1278001" y="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5" name="link-index-candidate"/>
          <p:cNvSpPr/>
          <p:nvPr/>
        </p:nvSpPr>
        <p:spPr>
          <a:xfrm>
            <a:off x="6398895" y="2844800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5400" h="685800">
                <a:moveTo>
                  <a:pt x="12700" y="0"/>
                </a:moveTo>
                <a:lnTo>
                  <a:pt x="12700" y="6858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6" name="link-candidate-state"/>
          <p:cNvSpPr/>
          <p:nvPr/>
        </p:nvSpPr>
        <p:spPr>
          <a:xfrm>
            <a:off x="6223000" y="4089400"/>
            <a:ext cx="25400" cy="584200"/>
          </a:xfrm>
          <a:custGeom>
            <a:avLst/>
            <a:gdLst/>
            <a:ahLst/>
            <a:cxnLst/>
            <a:rect l="l" t="t" r="r" b="b"/>
            <a:pathLst>
              <a:path w="25400" h="584200">
                <a:moveTo>
                  <a:pt x="12700" y="0"/>
                </a:moveTo>
                <a:lnTo>
                  <a:pt x="12700" y="5842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7" name="link-state-answer"/>
          <p:cNvSpPr/>
          <p:nvPr/>
        </p:nvSpPr>
        <p:spPr>
          <a:xfrm>
            <a:off x="5283200" y="5029200"/>
            <a:ext cx="393700" cy="25400"/>
          </a:xfrm>
          <a:custGeom>
            <a:avLst/>
            <a:gdLst/>
            <a:ahLst/>
            <a:cxnLst/>
            <a:rect l="l" t="t" r="r" b="b"/>
            <a:pathLst>
              <a:path w="393700" h="25400">
                <a:moveTo>
                  <a:pt x="393700" y="1270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8" name="link-answer-api"/>
          <p:cNvSpPr/>
          <p:nvPr/>
        </p:nvSpPr>
        <p:spPr>
          <a:xfrm>
            <a:off x="4769104" y="4089400"/>
            <a:ext cx="25400" cy="584200"/>
          </a:xfrm>
          <a:custGeom>
            <a:avLst/>
            <a:gdLst/>
            <a:ahLst/>
            <a:cxnLst/>
            <a:rect l="l" t="t" r="r" b="b"/>
            <a:pathLst>
              <a:path w="25400" h="584200">
                <a:moveTo>
                  <a:pt x="12700" y="584200"/>
                </a:moveTo>
                <a:lnTo>
                  <a:pt x="12700" y="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  <p:sp>
        <p:nvSpPr>
          <p:cNvPr id="59" name="link-json-api"/>
          <p:cNvSpPr/>
          <p:nvPr/>
        </p:nvSpPr>
        <p:spPr>
          <a:xfrm>
            <a:off x="4298696" y="2844800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5400" h="685800">
                <a:moveTo>
                  <a:pt x="12700" y="0"/>
                </a:moveTo>
                <a:lnTo>
                  <a:pt x="12700" y="685800"/>
                </a:lnTo>
              </a:path>
            </a:pathLst>
          </a:custGeom>
          <a:noFill/>
          <a:ln w="15240">
            <a:solidFill>
              <a:srgbClr val="637784"/>
            </a:solidFill>
            <a:tailEnd type="arrow"/>
          </a:ln>
        </p:spPr>
      </p:sp>
      <p:sp>
        <p:nvSpPr>
          <p:cNvPr id="60" name="link-api-views"/>
          <p:cNvSpPr/>
          <p:nvPr/>
        </p:nvSpPr>
        <p:spPr>
          <a:xfrm>
            <a:off x="2819400" y="4089400"/>
            <a:ext cx="1491996" cy="584200"/>
          </a:xfrm>
          <a:custGeom>
            <a:avLst/>
            <a:gdLst/>
            <a:ahLst/>
            <a:cxnLst/>
            <a:rect l="l" t="t" r="r" b="b"/>
            <a:pathLst>
              <a:path w="1491996" h="584200">
                <a:moveTo>
                  <a:pt x="1491996" y="0"/>
                </a:moveTo>
                <a:lnTo>
                  <a:pt x="1491996" y="292100"/>
                </a:lnTo>
                <a:lnTo>
                  <a:pt x="0" y="292100"/>
                </a:lnTo>
                <a:lnTo>
                  <a:pt x="0" y="584200"/>
                </a:lnTo>
              </a:path>
            </a:pathLst>
          </a:custGeom>
          <a:noFill/>
          <a:ln w="15240">
            <a:solidFill>
              <a:srgbClr val="007ACC"/>
            </a:solidFill>
            <a:tailEnd type="arrow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06 评测方案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六、评测方案与预期指标：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三维量化指标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与双基准对照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系统评估答案质量、检索召回与状态判断准确率，与 Full Text 和 Vector RAG 全面对照</a:t>
            </a:r>
            <a:endParaRPr lang="en-US" sz="1400" noProof="1"/>
          </a:p>
        </p:txBody>
      </p:sp>
      <p:sp>
        <p:nvSpPr>
          <p:cNvPr id="6" name="metric-bg-0"/>
          <p:cNvSpPr/>
          <p:nvPr/>
        </p:nvSpPr>
        <p:spPr>
          <a:xfrm>
            <a:off x="508000" y="1879600"/>
            <a:ext cx="4559300" cy="12827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7" name="metric-accent-0"/>
          <p:cNvSpPr/>
          <p:nvPr/>
        </p:nvSpPr>
        <p:spPr>
          <a:xfrm>
            <a:off x="508000" y="1879600"/>
            <a:ext cx="38100" cy="12827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8" name="b3"/>
          <p:cNvSpPr txBox="1"/>
          <p:nvPr/>
        </p:nvSpPr>
        <p:spPr>
          <a:xfrm>
            <a:off x="711200" y="2032000"/>
            <a:ext cx="4165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问题回答 F1</a:t>
            </a:r>
            <a:endParaRPr lang="en-US" sz="1300" noProof="1"/>
          </a:p>
        </p:txBody>
      </p:sp>
      <p:sp>
        <p:nvSpPr>
          <p:cNvPr id="9" name="b4"/>
          <p:cNvSpPr txBox="1"/>
          <p:nvPr/>
        </p:nvSpPr>
        <p:spPr>
          <a:xfrm>
            <a:off x="711200" y="2438400"/>
            <a:ext cx="41656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9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使用 LoCoMo 官方评测脚本，计算系统答案与标准答案的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词级 F1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，汇总报告平均值。</a:t>
            </a:r>
            <a:endParaRPr lang="en-US" sz="1100" noProof="1"/>
          </a:p>
        </p:txBody>
      </p:sp>
      <p:sp>
        <p:nvSpPr>
          <p:cNvPr id="10" name="metric-bg-1"/>
          <p:cNvSpPr/>
          <p:nvPr/>
        </p:nvSpPr>
        <p:spPr>
          <a:xfrm>
            <a:off x="508000" y="3340100"/>
            <a:ext cx="4559300" cy="12827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11" name="metric-accent-1"/>
          <p:cNvSpPr/>
          <p:nvPr/>
        </p:nvSpPr>
        <p:spPr>
          <a:xfrm>
            <a:off x="508000" y="3340100"/>
            <a:ext cx="38100" cy="12827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2" name="b5"/>
          <p:cNvSpPr txBox="1"/>
          <p:nvPr/>
        </p:nvSpPr>
        <p:spPr>
          <a:xfrm>
            <a:off x="711200" y="3492500"/>
            <a:ext cx="4165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证据检索 Recall@K</a:t>
            </a:r>
            <a:endParaRPr lang="en-US" sz="1300" noProof="1"/>
          </a:p>
        </p:txBody>
      </p:sp>
      <p:sp>
        <p:nvSpPr>
          <p:cNvPr id="13" name="b6"/>
          <p:cNvSpPr txBox="1"/>
          <p:nvPr/>
        </p:nvSpPr>
        <p:spPr>
          <a:xfrm>
            <a:off x="711200" y="3898900"/>
            <a:ext cx="41656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9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将 gold evidence 对齐到原始证据轮次，分别报告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Recall@1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与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Recall@5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，监控检索覆盖率。</a:t>
            </a:r>
            <a:endParaRPr lang="en-US" sz="1100" noProof="1"/>
          </a:p>
        </p:txBody>
      </p:sp>
      <p:sp>
        <p:nvSpPr>
          <p:cNvPr id="14" name="metric-bg-2"/>
          <p:cNvSpPr/>
          <p:nvPr/>
        </p:nvSpPr>
        <p:spPr>
          <a:xfrm>
            <a:off x="508000" y="4800600"/>
            <a:ext cx="4559300" cy="12827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15" name="metric-accent-2"/>
          <p:cNvSpPr/>
          <p:nvPr/>
        </p:nvSpPr>
        <p:spPr>
          <a:xfrm>
            <a:off x="508000" y="4800600"/>
            <a:ext cx="38100" cy="12827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6" name="b7"/>
          <p:cNvSpPr txBox="1"/>
          <p:nvPr/>
        </p:nvSpPr>
        <p:spPr>
          <a:xfrm>
            <a:off x="711200" y="4953000"/>
            <a:ext cx="4165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状态更新准确率</a:t>
            </a:r>
            <a:endParaRPr lang="en-US" sz="1300" noProof="1"/>
          </a:p>
        </p:txBody>
      </p:sp>
      <p:sp>
        <p:nvSpPr>
          <p:cNvPr id="17" name="b8"/>
          <p:cNvSpPr txBox="1"/>
          <p:nvPr/>
        </p:nvSpPr>
        <p:spPr>
          <a:xfrm>
            <a:off x="711200" y="5359400"/>
            <a:ext cx="41656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9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评估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RETAIN / UPDATE / SUPERSEDE / CONFLICT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4 类关系判定准确率与混淆情况，避免中间错误被掩盖。</a:t>
            </a:r>
            <a:endParaRPr lang="en-US" sz="1100" noProof="1"/>
          </a:p>
        </p:txBody>
      </p:sp>
      <p:graphicFrame>
        <p:nvGraphicFramePr>
          <p:cNvPr id="18" name="evaluation-framework"/>
          <p:cNvGraphicFramePr/>
          <p:nvPr/>
        </p:nvGraphicFramePr>
        <p:xfrm>
          <a:off x="5397500" y="1854200"/>
          <a:ext cx="6286500" cy="260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measurement-status"/>
          <p:cNvSpPr txBox="1"/>
          <p:nvPr/>
        </p:nvSpPr>
        <p:spPr>
          <a:xfrm>
            <a:off x="5397500" y="4521200"/>
            <a:ext cx="6286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46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F1、平均 token 及本组状态准确率待测；</a:t>
            </a:r>
            <a:endParaRPr lang="en-US" sz="900" noProof="1"/>
          </a:p>
          <a:p>
            <a:pPr algn="l">
              <a:lnSpc>
                <a:spcPts val="146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Full Text 的检索与状态指标、Vector RAG 的状态指标不适用。</a:t>
            </a:r>
            <a:endParaRPr lang="en-US" sz="900" noProof="1"/>
          </a:p>
        </p:txBody>
      </p:sp>
      <p:sp>
        <p:nvSpPr>
          <p:cNvPr id="20" name="b9"/>
          <p:cNvSpPr txBox="1"/>
          <p:nvPr/>
        </p:nvSpPr>
        <p:spPr>
          <a:xfrm>
            <a:off x="5397500" y="5054600"/>
            <a:ext cx="6286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对照实验设计</a:t>
            </a:r>
            <a:endParaRPr lang="en-US" sz="1300" noProof="1"/>
          </a:p>
        </p:txBody>
      </p:sp>
      <p:sp>
        <p:nvSpPr>
          <p:cNvPr id="21" name="b10"/>
          <p:cNvSpPr txBox="1"/>
          <p:nvPr/>
        </p:nvSpPr>
        <p:spPr>
          <a:xfrm>
            <a:off x="5397500" y="5435600"/>
            <a:ext cx="6286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统一对比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Full Text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（全文输入）、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Vector RAG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（仅向量检索不解析状态）与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本组方法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（记忆构建+检索+状态解析）。</a:t>
            </a:r>
            <a:endParaRPr lang="en-US" sz="1100" noProof="1"/>
          </a:p>
        </p:txBody>
      </p:sp>
      <p:sp>
        <p:nvSpPr>
          <p:cNvPr id="22" name="b11"/>
          <p:cNvSpPr txBox="1"/>
          <p:nvPr/>
        </p:nvSpPr>
        <p:spPr>
          <a:xfrm>
            <a:off x="5397500" y="5918200"/>
            <a:ext cx="180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数据划分与日志</a:t>
            </a:r>
            <a:endParaRPr lang="en-US" sz="1300" noProof="1"/>
          </a:p>
        </p:txBody>
      </p:sp>
      <p:sp>
        <p:nvSpPr>
          <p:cNvPr id="23" name="b12"/>
          <p:cNvSpPr txBox="1"/>
          <p:nvPr/>
        </p:nvSpPr>
        <p:spPr>
          <a:xfrm>
            <a:off x="7327900" y="5880100"/>
            <a:ext cx="43561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7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4 段开发集用于调参，2 段测试集用于最终盲测验证；评测入口接收 locomo.json 并输出标准 answers.json，同步记录平均 token。</a:t>
            </a:r>
            <a:endParaRPr lang="en-US" sz="1100" noProof="1"/>
          </a:p>
        </p:txBody>
      </p:sp>
      <p:sp>
        <p:nvSpPr>
          <p:cNvPr id="24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07 / 10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07 功能路线图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七、功能路线图：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五大里程碑演进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与推进时序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6 周周期内完成五个里程碑，每个里程碑安排两轮迭代并预留独立缓冲时段</a:t>
            </a:r>
            <a:endParaRPr lang="en-US" sz="1400" noProof="1"/>
          </a:p>
        </p:txBody>
      </p:sp>
      <p:sp>
        <p:nvSpPr>
          <p:cNvPr id="6" name="milestone-bg-0"/>
          <p:cNvSpPr/>
          <p:nvPr/>
        </p:nvSpPr>
        <p:spPr>
          <a:xfrm>
            <a:off x="508000" y="1968500"/>
            <a:ext cx="3556000" cy="31115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7" name="milestone-top-0"/>
          <p:cNvSpPr/>
          <p:nvPr/>
        </p:nvSpPr>
        <p:spPr>
          <a:xfrm>
            <a:off x="508000" y="1968500"/>
            <a:ext cx="35560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8" name="b3"/>
          <p:cNvSpPr txBox="1"/>
          <p:nvPr/>
        </p:nvSpPr>
        <p:spPr>
          <a:xfrm>
            <a:off x="723900" y="2247900"/>
            <a:ext cx="312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里程碑 1–2 · 10/10 截止</a:t>
            </a:r>
            <a:endParaRPr lang="en-US" sz="1300" noProof="1"/>
          </a:p>
        </p:txBody>
      </p:sp>
      <p:sp>
        <p:nvSpPr>
          <p:cNvPr id="9" name="b4"/>
          <p:cNvSpPr txBox="1"/>
          <p:nvPr/>
        </p:nvSpPr>
        <p:spPr>
          <a:xfrm>
            <a:off x="723900" y="2857500"/>
            <a:ext cx="312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35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团队工作流与 Proposal 展示</a:t>
            </a:r>
            <a:endParaRPr lang="en-US" sz="1400" noProof="1"/>
          </a:p>
        </p:txBody>
      </p:sp>
      <p:sp>
        <p:nvSpPr>
          <p:cNvPr id="10" name="b5"/>
          <p:cNvSpPr txBox="1"/>
          <p:nvPr/>
        </p:nvSpPr>
        <p:spPr>
          <a:xfrm>
            <a:off x="723900" y="3835400"/>
            <a:ext cx="31242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交付团队工作流文档与 Proposal 演示（10/9 展示）；完成分工与计划确定，方案获得认可。</a:t>
            </a:r>
            <a:endParaRPr lang="en-US" sz="1100" noProof="1"/>
          </a:p>
        </p:txBody>
      </p:sp>
      <p:sp>
        <p:nvSpPr>
          <p:cNvPr id="11" name="milestone-bg-1"/>
          <p:cNvSpPr/>
          <p:nvPr/>
        </p:nvSpPr>
        <p:spPr>
          <a:xfrm>
            <a:off x="4318000" y="1968500"/>
            <a:ext cx="3556000" cy="31115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12" name="milestone-top-1"/>
          <p:cNvSpPr/>
          <p:nvPr/>
        </p:nvSpPr>
        <p:spPr>
          <a:xfrm>
            <a:off x="4318000" y="1968500"/>
            <a:ext cx="35560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3" name="b6"/>
          <p:cNvSpPr txBox="1"/>
          <p:nvPr/>
        </p:nvSpPr>
        <p:spPr>
          <a:xfrm>
            <a:off x="4533900" y="2247900"/>
            <a:ext cx="312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里程碑 3–4 · 10/24 截止</a:t>
            </a:r>
            <a:endParaRPr lang="en-US" sz="1300" noProof="1"/>
          </a:p>
        </p:txBody>
      </p:sp>
      <p:sp>
        <p:nvSpPr>
          <p:cNvPr id="14" name="b7"/>
          <p:cNvSpPr txBox="1"/>
          <p:nvPr/>
        </p:nvSpPr>
        <p:spPr>
          <a:xfrm>
            <a:off x="4533900" y="2857500"/>
            <a:ext cx="312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35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规格说明、编码与端到端跑通</a:t>
            </a:r>
            <a:endParaRPr lang="en-US" sz="1400" noProof="1"/>
          </a:p>
        </p:txBody>
      </p:sp>
      <p:sp>
        <p:nvSpPr>
          <p:cNvPr id="15" name="b8"/>
          <p:cNvSpPr txBox="1"/>
          <p:nvPr/>
        </p:nvSpPr>
        <p:spPr>
          <a:xfrm>
            <a:off x="4533900" y="3835400"/>
            <a:ext cx="31242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交付需求规格说明书、设计编码与测试；实现端到端流水线跑通：一段对话 → 记忆 → 检索 → 状态解析 → 答案。</a:t>
            </a:r>
            <a:endParaRPr lang="en-US" sz="1100" noProof="1"/>
          </a:p>
        </p:txBody>
      </p:sp>
      <p:sp>
        <p:nvSpPr>
          <p:cNvPr id="16" name="milestone-bg-2"/>
          <p:cNvSpPr/>
          <p:nvPr/>
        </p:nvSpPr>
        <p:spPr>
          <a:xfrm>
            <a:off x="8128000" y="1968500"/>
            <a:ext cx="3556000" cy="31115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17" name="milestone-top-2"/>
          <p:cNvSpPr/>
          <p:nvPr/>
        </p:nvSpPr>
        <p:spPr>
          <a:xfrm>
            <a:off x="8128000" y="1968500"/>
            <a:ext cx="35560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8" name="b9"/>
          <p:cNvSpPr txBox="1"/>
          <p:nvPr/>
        </p:nvSpPr>
        <p:spPr>
          <a:xfrm>
            <a:off x="8343900" y="2247900"/>
            <a:ext cx="312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3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里程碑 5 · 11/9 截止</a:t>
            </a:r>
            <a:endParaRPr lang="en-US" sz="1300" noProof="1"/>
          </a:p>
        </p:txBody>
      </p:sp>
      <p:sp>
        <p:nvSpPr>
          <p:cNvPr id="19" name="b10"/>
          <p:cNvSpPr txBox="1"/>
          <p:nvPr/>
        </p:nvSpPr>
        <p:spPr>
          <a:xfrm>
            <a:off x="8343900" y="2857500"/>
            <a:ext cx="312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35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最终报告与系统交付</a:t>
            </a:r>
            <a:endParaRPr lang="en-US" sz="1400" noProof="1"/>
          </a:p>
        </p:txBody>
      </p:sp>
      <p:sp>
        <p:nvSpPr>
          <p:cNvPr id="20" name="b11"/>
          <p:cNvSpPr txBox="1"/>
          <p:nvPr/>
        </p:nvSpPr>
        <p:spPr>
          <a:xfrm>
            <a:off x="8343900" y="3835400"/>
            <a:ext cx="31242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1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交付最终报告与完整可运行系统；完成三指标评测与 baseline 对照分析。</a:t>
            </a:r>
            <a:endParaRPr lang="en-US" sz="1100" noProof="1"/>
          </a:p>
        </p:txBody>
      </p:sp>
      <p:sp>
        <p:nvSpPr>
          <p:cNvPr id="21" name="conclusion-background"/>
          <p:cNvSpPr/>
          <p:nvPr/>
        </p:nvSpPr>
        <p:spPr>
          <a:xfrm>
            <a:off x="508000" y="5397500"/>
            <a:ext cx="11176000" cy="863600"/>
          </a:xfrm>
          <a:prstGeom prst="rect">
            <a:avLst/>
          </a:prstGeom>
          <a:solidFill>
            <a:srgbClr val="D6F1FF"/>
          </a:solidFill>
          <a:ln>
            <a:noFill/>
          </a:ln>
        </p:spPr>
      </p:sp>
      <p:sp>
        <p:nvSpPr>
          <p:cNvPr id="22" name="conclusion-accent"/>
          <p:cNvSpPr/>
          <p:nvPr/>
        </p:nvSpPr>
        <p:spPr>
          <a:xfrm>
            <a:off x="508000" y="5397500"/>
            <a:ext cx="50800" cy="8636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3" name="b12"/>
          <p:cNvSpPr txBox="1"/>
          <p:nvPr/>
        </p:nvSpPr>
        <p:spPr>
          <a:xfrm>
            <a:off x="736600" y="5588000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3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推进时序</a:t>
            </a:r>
            <a:endParaRPr lang="en-US" sz="1300" noProof="1"/>
          </a:p>
        </p:txBody>
      </p:sp>
      <p:sp>
        <p:nvSpPr>
          <p:cNvPr id="24" name="b13"/>
          <p:cNvSpPr txBox="1"/>
          <p:nvPr/>
        </p:nvSpPr>
        <p:spPr>
          <a:xfrm>
            <a:off x="2260600" y="5575300"/>
            <a:ext cx="9194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2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核心功能推进顺序：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记忆构建 → 检索 → 状态关系判定 → 答案生成 → Web 可视化 → 评测与对照实验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25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08 / 10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08 分工与计划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八、分工与计划：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五人模块化分工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与关键节点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职责边界清晰、模块接口先行，确保各模块并行推进与平滑集成</a:t>
            </a:r>
            <a:endParaRPr lang="en-US" sz="1400" noProof="1"/>
          </a:p>
        </p:txBody>
      </p:sp>
      <p:sp>
        <p:nvSpPr>
          <p:cNvPr id="6" name="member-bg-0"/>
          <p:cNvSpPr/>
          <p:nvPr/>
        </p:nvSpPr>
        <p:spPr>
          <a:xfrm>
            <a:off x="508000" y="1955800"/>
            <a:ext cx="2032000" cy="31369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7" name="member-name-bg-0"/>
          <p:cNvSpPr/>
          <p:nvPr/>
        </p:nvSpPr>
        <p:spPr>
          <a:xfrm>
            <a:off x="508000" y="1955800"/>
            <a:ext cx="2032000" cy="546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8" name="b3"/>
          <p:cNvSpPr txBox="1"/>
          <p:nvPr/>
        </p:nvSpPr>
        <p:spPr>
          <a:xfrm>
            <a:off x="673100" y="2082800"/>
            <a:ext cx="170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FFFFFF"/>
                </a:solidFill>
                <a:latin typeface="Liter" panose="02000503030000020004"/>
                <a:ea typeface="MiSans"/>
              </a:rPr>
              <a:t>陈易</a:t>
            </a:r>
            <a:endParaRPr lang="en-US" sz="1300" noProof="1"/>
          </a:p>
        </p:txBody>
      </p:sp>
      <p:sp>
        <p:nvSpPr>
          <p:cNvPr id="9" name="b4"/>
          <p:cNvSpPr txBox="1"/>
          <p:nvPr/>
        </p:nvSpPr>
        <p:spPr>
          <a:xfrm>
            <a:off x="673100" y="2768600"/>
            <a:ext cx="17018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52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项目管理与集成架构</a:t>
            </a:r>
            <a:endParaRPr lang="en-US" sz="1400" noProof="1"/>
          </a:p>
        </p:txBody>
      </p:sp>
      <p:sp>
        <p:nvSpPr>
          <p:cNvPr id="10" name="b5"/>
          <p:cNvSpPr txBox="1"/>
          <p:nvPr/>
        </p:nvSpPr>
        <p:spPr>
          <a:xfrm>
            <a:off x="673100" y="3835400"/>
            <a:ext cx="1701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负责计划与追踪、仓库与权限、架构决策、集成与评测接口、演示环境搭建。</a:t>
            </a:r>
            <a:endParaRPr lang="en-US" sz="1100" noProof="1"/>
          </a:p>
        </p:txBody>
      </p:sp>
      <p:sp>
        <p:nvSpPr>
          <p:cNvPr id="11" name="member-bg-1"/>
          <p:cNvSpPr/>
          <p:nvPr/>
        </p:nvSpPr>
        <p:spPr>
          <a:xfrm>
            <a:off x="2794000" y="1955800"/>
            <a:ext cx="2032000" cy="31369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12" name="member-name-bg-1"/>
          <p:cNvSpPr/>
          <p:nvPr/>
        </p:nvSpPr>
        <p:spPr>
          <a:xfrm>
            <a:off x="2794000" y="1955800"/>
            <a:ext cx="2032000" cy="546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3" name="b6"/>
          <p:cNvSpPr txBox="1"/>
          <p:nvPr/>
        </p:nvSpPr>
        <p:spPr>
          <a:xfrm>
            <a:off x="2959100" y="2082800"/>
            <a:ext cx="170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FFFFFF"/>
                </a:solidFill>
                <a:latin typeface="Liter" panose="02000503030000020004"/>
                <a:ea typeface="MiSans"/>
              </a:rPr>
              <a:t>鲁瑞特</a:t>
            </a:r>
            <a:endParaRPr lang="en-US" sz="1300" noProof="1"/>
          </a:p>
        </p:txBody>
      </p:sp>
      <p:sp>
        <p:nvSpPr>
          <p:cNvPr id="14" name="b7"/>
          <p:cNvSpPr txBox="1"/>
          <p:nvPr/>
        </p:nvSpPr>
        <p:spPr>
          <a:xfrm>
            <a:off x="2959100" y="2768600"/>
            <a:ext cx="17018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52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数据、记忆与检索基础设施</a:t>
            </a:r>
            <a:endParaRPr lang="en-US" sz="1400" noProof="1"/>
          </a:p>
        </p:txBody>
      </p:sp>
      <p:sp>
        <p:nvSpPr>
          <p:cNvPr id="15" name="b8"/>
          <p:cNvSpPr txBox="1"/>
          <p:nvPr/>
        </p:nvSpPr>
        <p:spPr>
          <a:xfrm>
            <a:off x="2959100" y="3835400"/>
            <a:ext cx="1701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负责 Memory 结构设计、结构化抽取、JSON 导出与检索接口实现。</a:t>
            </a:r>
            <a:endParaRPr lang="en-US" sz="1100" noProof="1"/>
          </a:p>
        </p:txBody>
      </p:sp>
      <p:sp>
        <p:nvSpPr>
          <p:cNvPr id="16" name="member-bg-2"/>
          <p:cNvSpPr/>
          <p:nvPr/>
        </p:nvSpPr>
        <p:spPr>
          <a:xfrm>
            <a:off x="5080000" y="1955800"/>
            <a:ext cx="2032000" cy="31369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17" name="member-name-bg-2"/>
          <p:cNvSpPr/>
          <p:nvPr/>
        </p:nvSpPr>
        <p:spPr>
          <a:xfrm>
            <a:off x="5080000" y="1955800"/>
            <a:ext cx="2032000" cy="546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8" name="b9"/>
          <p:cNvSpPr txBox="1"/>
          <p:nvPr/>
        </p:nvSpPr>
        <p:spPr>
          <a:xfrm>
            <a:off x="5245100" y="2082800"/>
            <a:ext cx="170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FFFFFF"/>
                </a:solidFill>
                <a:latin typeface="Liter" panose="02000503030000020004"/>
                <a:ea typeface="MiSans"/>
              </a:rPr>
              <a:t>于国庆</a:t>
            </a:r>
            <a:endParaRPr lang="en-US" sz="1300" noProof="1"/>
          </a:p>
        </p:txBody>
      </p:sp>
      <p:sp>
        <p:nvSpPr>
          <p:cNvPr id="19" name="b10"/>
          <p:cNvSpPr txBox="1"/>
          <p:nvPr/>
        </p:nvSpPr>
        <p:spPr>
          <a:xfrm>
            <a:off x="5245100" y="2768600"/>
            <a:ext cx="17018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52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动态状态解析与推理</a:t>
            </a:r>
            <a:endParaRPr lang="en-US" sz="1400" noProof="1"/>
          </a:p>
        </p:txBody>
      </p:sp>
      <p:sp>
        <p:nvSpPr>
          <p:cNvPr id="20" name="b11"/>
          <p:cNvSpPr txBox="1"/>
          <p:nvPr/>
        </p:nvSpPr>
        <p:spPr>
          <a:xfrm>
            <a:off x="5245100" y="3835400"/>
            <a:ext cx="1701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负责关系判定、有效记忆选择、Prompt 工程与 DeepSeek 答案生成。</a:t>
            </a:r>
            <a:endParaRPr lang="en-US" sz="1100" noProof="1"/>
          </a:p>
        </p:txBody>
      </p:sp>
      <p:sp>
        <p:nvSpPr>
          <p:cNvPr id="21" name="member-bg-3"/>
          <p:cNvSpPr/>
          <p:nvPr/>
        </p:nvSpPr>
        <p:spPr>
          <a:xfrm>
            <a:off x="7366000" y="1955800"/>
            <a:ext cx="2032000" cy="31369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22" name="member-name-bg-3"/>
          <p:cNvSpPr/>
          <p:nvPr/>
        </p:nvSpPr>
        <p:spPr>
          <a:xfrm>
            <a:off x="7366000" y="1955800"/>
            <a:ext cx="2032000" cy="546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3" name="b12"/>
          <p:cNvSpPr txBox="1"/>
          <p:nvPr/>
        </p:nvSpPr>
        <p:spPr>
          <a:xfrm>
            <a:off x="7531100" y="2082800"/>
            <a:ext cx="170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FFFFFF"/>
                </a:solidFill>
                <a:latin typeface="Liter" panose="02000503030000020004"/>
                <a:ea typeface="MiSans"/>
              </a:rPr>
              <a:t>许子萌</a:t>
            </a:r>
            <a:endParaRPr lang="en-US" sz="1300" noProof="1"/>
          </a:p>
        </p:txBody>
      </p:sp>
      <p:sp>
        <p:nvSpPr>
          <p:cNvPr id="24" name="b13"/>
          <p:cNvSpPr txBox="1"/>
          <p:nvPr/>
        </p:nvSpPr>
        <p:spPr>
          <a:xfrm>
            <a:off x="7531100" y="2768600"/>
            <a:ext cx="17018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52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Web 与可视化界面</a:t>
            </a:r>
            <a:endParaRPr lang="en-US" sz="1400" noProof="1"/>
          </a:p>
        </p:txBody>
      </p:sp>
      <p:sp>
        <p:nvSpPr>
          <p:cNvPr id="25" name="b14"/>
          <p:cNvSpPr txBox="1"/>
          <p:nvPr/>
        </p:nvSpPr>
        <p:spPr>
          <a:xfrm>
            <a:off x="7531100" y="3835400"/>
            <a:ext cx="1701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负责记忆与证据视图、状态演化展示与演示素材准备。</a:t>
            </a:r>
            <a:endParaRPr lang="en-US" sz="1100" noProof="1"/>
          </a:p>
        </p:txBody>
      </p:sp>
      <p:sp>
        <p:nvSpPr>
          <p:cNvPr id="26" name="member-bg-4"/>
          <p:cNvSpPr/>
          <p:nvPr/>
        </p:nvSpPr>
        <p:spPr>
          <a:xfrm>
            <a:off x="9652000" y="1955800"/>
            <a:ext cx="2032000" cy="3136900"/>
          </a:xfrm>
          <a:prstGeom prst="rect">
            <a:avLst/>
          </a:prstGeom>
          <a:solidFill>
            <a:srgbClr val="F5F8FA"/>
          </a:solidFill>
          <a:ln>
            <a:noFill/>
          </a:ln>
        </p:spPr>
      </p:sp>
      <p:sp>
        <p:nvSpPr>
          <p:cNvPr id="27" name="member-name-bg-4"/>
          <p:cNvSpPr/>
          <p:nvPr/>
        </p:nvSpPr>
        <p:spPr>
          <a:xfrm>
            <a:off x="9652000" y="1955800"/>
            <a:ext cx="2032000" cy="5461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8" name="b15"/>
          <p:cNvSpPr txBox="1"/>
          <p:nvPr/>
        </p:nvSpPr>
        <p:spPr>
          <a:xfrm>
            <a:off x="9817100" y="2082800"/>
            <a:ext cx="170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US" sz="1300" b="1" noProof="1">
                <a:solidFill>
                  <a:srgbClr val="FFFFFF"/>
                </a:solidFill>
                <a:latin typeface="Liter" panose="02000503030000020004"/>
                <a:ea typeface="MiSans"/>
              </a:rPr>
              <a:t>张崇洋</a:t>
            </a:r>
            <a:endParaRPr lang="en-US" sz="1300" noProof="1"/>
          </a:p>
        </p:txBody>
      </p:sp>
      <p:sp>
        <p:nvSpPr>
          <p:cNvPr id="29" name="b16"/>
          <p:cNvSpPr txBox="1"/>
          <p:nvPr/>
        </p:nvSpPr>
        <p:spPr>
          <a:xfrm>
            <a:off x="9817100" y="2768600"/>
            <a:ext cx="17018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520"/>
              </a:lnSpc>
            </a:pPr>
            <a:r>
              <a:rPr lang="en-US" sz="14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评测与文档</a:t>
            </a:r>
            <a:endParaRPr lang="en-US" sz="1400" noProof="1"/>
          </a:p>
        </p:txBody>
      </p:sp>
      <p:sp>
        <p:nvSpPr>
          <p:cNvPr id="30" name="b17"/>
          <p:cNvSpPr txBox="1"/>
          <p:nvPr/>
        </p:nvSpPr>
        <p:spPr>
          <a:xfrm>
            <a:off x="9817100" y="3835400"/>
            <a:ext cx="1701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18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负责三指标评测、基准对照实验、文档定稿与 Slides 排版。</a:t>
            </a:r>
            <a:endParaRPr lang="en-US" sz="1100" noProof="1"/>
          </a:p>
        </p:txBody>
      </p:sp>
      <p:sp>
        <p:nvSpPr>
          <p:cNvPr id="31" name="conclusion-background"/>
          <p:cNvSpPr/>
          <p:nvPr/>
        </p:nvSpPr>
        <p:spPr>
          <a:xfrm>
            <a:off x="508000" y="5410200"/>
            <a:ext cx="11176000" cy="850900"/>
          </a:xfrm>
          <a:prstGeom prst="rect">
            <a:avLst/>
          </a:prstGeom>
          <a:solidFill>
            <a:srgbClr val="D6F1FF"/>
          </a:solidFill>
          <a:ln>
            <a:noFill/>
          </a:ln>
        </p:spPr>
      </p:sp>
      <p:sp>
        <p:nvSpPr>
          <p:cNvPr id="32" name="conclusion-accent"/>
          <p:cNvSpPr/>
          <p:nvPr/>
        </p:nvSpPr>
        <p:spPr>
          <a:xfrm>
            <a:off x="508000" y="5410200"/>
            <a:ext cx="50800" cy="8509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33" name="b18"/>
          <p:cNvSpPr txBox="1"/>
          <p:nvPr/>
        </p:nvSpPr>
        <p:spPr>
          <a:xfrm>
            <a:off x="736600" y="5600700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3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关键节点</a:t>
            </a:r>
            <a:endParaRPr lang="en-US" sz="1300" noProof="1"/>
          </a:p>
        </p:txBody>
      </p:sp>
      <p:sp>
        <p:nvSpPr>
          <p:cNvPr id="34" name="b19"/>
          <p:cNvSpPr txBox="1"/>
          <p:nvPr/>
        </p:nvSpPr>
        <p:spPr>
          <a:xfrm>
            <a:off x="2260600" y="5588000"/>
            <a:ext cx="9194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20"/>
              </a:lnSpc>
            </a:pP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10/10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提交里程碑 1、2（Proposal 于 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10/9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展示）；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10/24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提交里程碑 3、4；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11/9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 提交最终报告。</a:t>
            </a:r>
            <a:endParaRPr lang="en-US" sz="1100" noProof="1"/>
          </a:p>
        </p:txBody>
      </p:sp>
      <p:sp>
        <p:nvSpPr>
          <p:cNvPr id="35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09 / 10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rail"/>
          <p:cNvSpPr/>
          <p:nvPr/>
        </p:nvSpPr>
        <p:spPr>
          <a:xfrm>
            <a:off x="508000" y="304800"/>
            <a:ext cx="2794000" cy="279400"/>
          </a:xfrm>
          <a:prstGeom prst="rect">
            <a:avLst/>
          </a:prstGeom>
          <a:solidFill>
            <a:srgbClr val="EBF5FC"/>
          </a:soli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635000" y="355600"/>
            <a:ext cx="2565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295"/>
              </a:lnSpc>
            </a:pPr>
            <a:r>
              <a:rPr lang="en-US" sz="9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09 风险与可行性</a:t>
            </a:r>
            <a:endParaRPr lang="en-US" sz="900" noProof="1"/>
          </a:p>
        </p:txBody>
      </p:sp>
      <p:sp>
        <p:nvSpPr>
          <p:cNvPr id="4" name="b1"/>
          <p:cNvSpPr txBox="1"/>
          <p:nvPr/>
        </p:nvSpPr>
        <p:spPr>
          <a:xfrm>
            <a:off x="508000" y="825500"/>
            <a:ext cx="11176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64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九、风险与可行性小结：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四大风险应对</a:t>
            </a: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与可行性结论</a:t>
            </a:r>
            <a:endParaRPr lang="en-US" sz="2000" noProof="1"/>
          </a:p>
        </p:txBody>
      </p:sp>
      <p:sp>
        <p:nvSpPr>
          <p:cNvPr id="5" name="b2"/>
          <p:cNvSpPr txBox="1"/>
          <p:nvPr/>
        </p:nvSpPr>
        <p:spPr>
          <a:xfrm>
            <a:off x="508000" y="133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15"/>
              </a:lnSpc>
            </a:pPr>
            <a:r>
              <a:rPr lang="en-US" sz="14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课题难度适中、边界清晰、技术成熟、双轮迭代，能在课程周期内高质量交付</a:t>
            </a:r>
            <a:endParaRPr lang="en-US" sz="1400" noProof="1"/>
          </a:p>
        </p:txBody>
      </p:sp>
      <p:sp>
        <p:nvSpPr>
          <p:cNvPr id="6" name="risk-bg-0"/>
          <p:cNvSpPr/>
          <p:nvPr/>
        </p:nvSpPr>
        <p:spPr>
          <a:xfrm>
            <a:off x="508000" y="1917700"/>
            <a:ext cx="54610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</p:sp>
      <p:sp>
        <p:nvSpPr>
          <p:cNvPr id="7" name="risk-status-0"/>
          <p:cNvSpPr/>
          <p:nvPr/>
        </p:nvSpPr>
        <p:spPr>
          <a:xfrm>
            <a:off x="698500" y="2133600"/>
            <a:ext cx="101600" cy="101600"/>
          </a:xfrm>
          <a:prstGeom prst="ellipse">
            <a:avLst/>
          </a:prstGeom>
          <a:solidFill>
            <a:srgbClr val="E02424"/>
          </a:solidFill>
          <a:ln>
            <a:noFill/>
          </a:ln>
        </p:spPr>
      </p:sp>
      <p:sp>
        <p:nvSpPr>
          <p:cNvPr id="8" name="b3"/>
          <p:cNvSpPr txBox="1"/>
          <p:nvPr/>
        </p:nvSpPr>
        <p:spPr>
          <a:xfrm>
            <a:off x="927100" y="2082800"/>
            <a:ext cx="4826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风险 01 · 状态关系判定效果不及预期</a:t>
            </a:r>
            <a:endParaRPr lang="en-US" sz="1300" noProof="1"/>
          </a:p>
        </p:txBody>
      </p:sp>
      <p:sp>
        <p:nvSpPr>
          <p:cNvPr id="9" name="b4"/>
          <p:cNvSpPr txBox="1"/>
          <p:nvPr/>
        </p:nvSpPr>
        <p:spPr>
          <a:xfrm>
            <a:off x="698500" y="2590800"/>
            <a:ext cx="508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影响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：影响最终答题正确率。</a:t>
            </a: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应对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：关键路径成员只做核心算法，不承担辅助工作；先跑通机制再持续优化。</a:t>
            </a:r>
            <a:endParaRPr lang="en-US" sz="1100" noProof="1"/>
          </a:p>
        </p:txBody>
      </p:sp>
      <p:sp>
        <p:nvSpPr>
          <p:cNvPr id="10" name="risk-bg-1"/>
          <p:cNvSpPr/>
          <p:nvPr/>
        </p:nvSpPr>
        <p:spPr>
          <a:xfrm>
            <a:off x="6223000" y="1917700"/>
            <a:ext cx="54610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</p:sp>
      <p:sp>
        <p:nvSpPr>
          <p:cNvPr id="11" name="risk-status-1"/>
          <p:cNvSpPr/>
          <p:nvPr/>
        </p:nvSpPr>
        <p:spPr>
          <a:xfrm>
            <a:off x="6413500" y="2133600"/>
            <a:ext cx="101600" cy="101600"/>
          </a:xfrm>
          <a:prstGeom prst="ellipse">
            <a:avLst/>
          </a:prstGeom>
          <a:solidFill>
            <a:srgbClr val="E02424"/>
          </a:solidFill>
          <a:ln>
            <a:noFill/>
          </a:ln>
        </p:spPr>
      </p:sp>
      <p:sp>
        <p:nvSpPr>
          <p:cNvPr id="12" name="b5"/>
          <p:cNvSpPr txBox="1"/>
          <p:nvPr/>
        </p:nvSpPr>
        <p:spPr>
          <a:xfrm>
            <a:off x="6642100" y="2082800"/>
            <a:ext cx="4826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风险 02 · 检索召回不足放大下游错误</a:t>
            </a:r>
            <a:endParaRPr lang="en-US" sz="1300" noProof="1"/>
          </a:p>
        </p:txBody>
      </p:sp>
      <p:sp>
        <p:nvSpPr>
          <p:cNvPr id="13" name="b6"/>
          <p:cNvSpPr txBox="1"/>
          <p:nvPr/>
        </p:nvSpPr>
        <p:spPr>
          <a:xfrm>
            <a:off x="6413500" y="2590800"/>
            <a:ext cx="508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影响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：证据缺失导致答错。</a:t>
            </a: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应对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：设计多路检索并做去重合并，使用 Recall@K 单独监控检索环节。</a:t>
            </a:r>
            <a:endParaRPr lang="en-US" sz="1100" noProof="1"/>
          </a:p>
        </p:txBody>
      </p:sp>
      <p:sp>
        <p:nvSpPr>
          <p:cNvPr id="14" name="risk-bg-2"/>
          <p:cNvSpPr/>
          <p:nvPr/>
        </p:nvSpPr>
        <p:spPr>
          <a:xfrm>
            <a:off x="508000" y="3670300"/>
            <a:ext cx="54610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</p:sp>
      <p:sp>
        <p:nvSpPr>
          <p:cNvPr id="15" name="risk-status-2"/>
          <p:cNvSpPr/>
          <p:nvPr/>
        </p:nvSpPr>
        <p:spPr>
          <a:xfrm>
            <a:off x="698500" y="3886200"/>
            <a:ext cx="101600" cy="101600"/>
          </a:xfrm>
          <a:prstGeom prst="ellipse">
            <a:avLst/>
          </a:prstGeom>
          <a:solidFill>
            <a:srgbClr val="E3A008"/>
          </a:solidFill>
          <a:ln>
            <a:noFill/>
          </a:ln>
        </p:spPr>
      </p:sp>
      <p:sp>
        <p:nvSpPr>
          <p:cNvPr id="16" name="b7"/>
          <p:cNvSpPr txBox="1"/>
          <p:nvPr/>
        </p:nvSpPr>
        <p:spPr>
          <a:xfrm>
            <a:off x="927100" y="3835400"/>
            <a:ext cx="4826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风险 03 · 6 周完成五个里程碑时间紧</a:t>
            </a:r>
            <a:endParaRPr lang="en-US" sz="1300" noProof="1"/>
          </a:p>
        </p:txBody>
      </p:sp>
      <p:sp>
        <p:nvSpPr>
          <p:cNvPr id="17" name="b8"/>
          <p:cNvSpPr txBox="1"/>
          <p:nvPr/>
        </p:nvSpPr>
        <p:spPr>
          <a:xfrm>
            <a:off x="698500" y="4343400"/>
            <a:ext cx="508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影响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：中期与最终延期。</a:t>
            </a: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应对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：每个里程碑两轮迭代 + 独立缓冲时段；功能优先跑通端到端。</a:t>
            </a:r>
            <a:endParaRPr lang="en-US" sz="1100" noProof="1"/>
          </a:p>
        </p:txBody>
      </p:sp>
      <p:sp>
        <p:nvSpPr>
          <p:cNvPr id="18" name="risk-bg-3"/>
          <p:cNvSpPr/>
          <p:nvPr/>
        </p:nvSpPr>
        <p:spPr>
          <a:xfrm>
            <a:off x="6223000" y="3670300"/>
            <a:ext cx="54610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</p:sp>
      <p:sp>
        <p:nvSpPr>
          <p:cNvPr id="19" name="risk-status-3"/>
          <p:cNvSpPr/>
          <p:nvPr/>
        </p:nvSpPr>
        <p:spPr>
          <a:xfrm>
            <a:off x="6413500" y="3886200"/>
            <a:ext cx="101600" cy="101600"/>
          </a:xfrm>
          <a:prstGeom prst="ellipse">
            <a:avLst/>
          </a:prstGeom>
          <a:solidFill>
            <a:srgbClr val="E3A008"/>
          </a:solidFill>
          <a:ln>
            <a:noFill/>
          </a:ln>
        </p:spPr>
      </p:sp>
      <p:sp>
        <p:nvSpPr>
          <p:cNvPr id="20" name="b9"/>
          <p:cNvSpPr txBox="1"/>
          <p:nvPr/>
        </p:nvSpPr>
        <p:spPr>
          <a:xfrm>
            <a:off x="6642100" y="3835400"/>
            <a:ext cx="4826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7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风险 04 · 课程评测所用对话不公开</a:t>
            </a:r>
            <a:endParaRPr lang="en-US" sz="1300" noProof="1"/>
          </a:p>
        </p:txBody>
      </p:sp>
      <p:sp>
        <p:nvSpPr>
          <p:cNvPr id="21" name="b10"/>
          <p:cNvSpPr txBox="1"/>
          <p:nvPr/>
        </p:nvSpPr>
        <p:spPr>
          <a:xfrm>
            <a:off x="6413500" y="4343400"/>
            <a:ext cx="508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影响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：可能出现过拟合诱惑。</a:t>
            </a:r>
            <a:r>
              <a:rPr lang="en-US" sz="11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应对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：严格不使用 gold evidence 与答案，所有规则保持通用。</a:t>
            </a:r>
            <a:endParaRPr lang="en-US" sz="1100" noProof="1"/>
          </a:p>
        </p:txBody>
      </p:sp>
      <p:sp>
        <p:nvSpPr>
          <p:cNvPr id="22" name="conclusion-background"/>
          <p:cNvSpPr/>
          <p:nvPr/>
        </p:nvSpPr>
        <p:spPr>
          <a:xfrm>
            <a:off x="508000" y="5448300"/>
            <a:ext cx="11176000" cy="812800"/>
          </a:xfrm>
          <a:prstGeom prst="rect">
            <a:avLst/>
          </a:prstGeom>
          <a:solidFill>
            <a:srgbClr val="D6F1FF"/>
          </a:solidFill>
          <a:ln>
            <a:noFill/>
          </a:ln>
        </p:spPr>
      </p:sp>
      <p:sp>
        <p:nvSpPr>
          <p:cNvPr id="23" name="conclusion-accent"/>
          <p:cNvSpPr/>
          <p:nvPr/>
        </p:nvSpPr>
        <p:spPr>
          <a:xfrm>
            <a:off x="508000" y="5448300"/>
            <a:ext cx="50800" cy="8128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4" name="b11"/>
          <p:cNvSpPr txBox="1"/>
          <p:nvPr/>
        </p:nvSpPr>
        <p:spPr>
          <a:xfrm>
            <a:off x="736600" y="5638800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203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/>
              </a:rPr>
              <a:t>可行性结论</a:t>
            </a:r>
            <a:endParaRPr lang="en-US" sz="1300" noProof="1"/>
          </a:p>
        </p:txBody>
      </p:sp>
      <p:sp>
        <p:nvSpPr>
          <p:cNvPr id="25" name="b12"/>
          <p:cNvSpPr txBox="1"/>
          <p:nvPr/>
        </p:nvSpPr>
        <p:spPr>
          <a:xfrm>
            <a:off x="2260600" y="5626100"/>
            <a:ext cx="919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820"/>
              </a:lnSpc>
            </a:pP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课题难度适中且边界清晰，所需技术均有成熟方案可参考；团队按模块分工、接口先行、双轮迭代推进，</a:t>
            </a:r>
            <a:r>
              <a:rPr lang="en-US" sz="1100" b="1" noProof="1">
                <a:solidFill>
                  <a:srgbClr val="007ACC"/>
                </a:solidFill>
                <a:latin typeface="Liter" panose="02000503030000020004"/>
                <a:ea typeface="MiSans"/>
              </a:rPr>
              <a:t>能在课程周期内交付可运行系统、结构化记忆 JSON、评测结果与项目报告</a:t>
            </a:r>
            <a:r>
              <a:rPr lang="en-US" sz="1100" noProof="1">
                <a:solidFill>
                  <a:srgbClr val="1A1A1A"/>
                </a:solidFill>
                <a:latin typeface="Liter" panose="02000503030000020004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26" name="page-number"/>
          <p:cNvSpPr txBox="1"/>
          <p:nvPr/>
        </p:nvSpPr>
        <p:spPr>
          <a:xfrm>
            <a:off x="11049000" y="64389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ts val="1190"/>
              </a:lnSpc>
            </a:pPr>
            <a:r>
              <a:rPr lang="en-US" sz="900" noProof="1">
                <a:solidFill>
                  <a:srgbClr val="637784"/>
                </a:solidFill>
                <a:latin typeface="Liter" panose="02000503030000020004"/>
                <a:ea typeface="MiSans"/>
              </a:rPr>
              <a:t>10 / 10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4061</Words>
  <Application>WPS 表格</Application>
  <PresentationFormat/>
  <Paragraphs>337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Liter</vt:lpstr>
      <vt:lpstr>MiSans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Liter</vt:lpstr>
      <vt:lpstr>MiSans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张崇洋</cp:lastModifiedBy>
  <cp:revision>1</cp:revision>
  <dcterms:created xsi:type="dcterms:W3CDTF">2026-10-08T05:22:39Z</dcterms:created>
  <dcterms:modified xsi:type="dcterms:W3CDTF">2026-10-08T05:22:39Z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5C789BD5024D468C9F28C76A4EEDD4D3_43</vt:lpwstr>
  </property>
  <property fmtid="{D5CDD505-2E9C-101B-9397-08002B2CF9AE}" pid="4" name="KSOProductBuildVer">
    <vt:lpwstr>2052-12.1.24031.24031</vt:lpwstr>
  </property>
</Properties>
</file>